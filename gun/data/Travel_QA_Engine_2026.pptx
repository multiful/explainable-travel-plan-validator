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9" d="100"/>
          <a:sy n="169" d="100"/>
        </p:scale>
        <p:origin x="19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686645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36576" cy="329184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3" name="Text 1"/>
          <p:cNvSpPr/>
          <p:nvPr/>
        </p:nvSpPr>
        <p:spPr>
          <a:xfrm>
            <a:off x="777240" y="640080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0F2FE"/>
                </a:solidFill>
                <a:latin typeface="Pretendard"/>
                <a:ea typeface="Pretendard"/>
                <a:cs typeface="Pretendard"/>
              </a:rPr>
              <a:t>2026 관광데이터 활용 공모전 · 웹앱개발 부문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관광 일정 QA 엔진</a:t>
            </a:r>
            <a:endParaRPr lang="en-US" sz="5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5" name="Text 3"/>
          <p:cNvSpPr/>
          <p:nvPr/>
        </p:nvSpPr>
        <p:spPr>
          <a:xfrm>
            <a:off x="640080" y="23317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E0F2FE"/>
                </a:solidFill>
                <a:latin typeface="Pretendard"/>
                <a:ea typeface="Pretendard"/>
                <a:cs typeface="Pretendard"/>
              </a:rPr>
              <a:t>Explainable Travel Plan Validator</a:t>
            </a:r>
            <a:endParaRPr lang="en-US" sz="2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6" name="Text 4"/>
          <p:cNvSpPr/>
          <p:nvPr/>
        </p:nvSpPr>
        <p:spPr>
          <a:xfrm>
            <a:off x="640080" y="32461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"우리는 일정을 추천하지 않는다.  그 일정이 가능한지, 좋은지를 증명한다."</a:t>
            </a:r>
            <a:endParaRPr lang="en-US" sz="14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7" name="Text 5"/>
          <p:cNvSpPr/>
          <p:nvPr/>
        </p:nvSpPr>
        <p:spPr>
          <a:xfrm>
            <a:off x="640080" y="4160520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출품  </a:t>
            </a:r>
            <a:r>
              <a:rPr lang="en-US" sz="14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이건상
</a:t>
            </a:r>
            <a:r>
              <a:rPr lang="en-US" sz="11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제출일  </a:t>
            </a:r>
            <a:r>
              <a:rPr lang="en-US" sz="1200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2026.05.02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8" name="Text 6"/>
          <p:cNvSpPr/>
          <p:nvPr/>
        </p:nvSpPr>
        <p:spPr>
          <a:xfrm>
            <a:off x="4572000" y="45262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Python 3.11 · FastAPI · OR-Tools · Claude Sonnet 4.6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635240" y="4777740"/>
            <a:ext cx="118872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800" i="1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[ Brandlogy logo 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1280160"/>
            <a:ext cx="3749039" cy="3108960"/>
          </a:xfrm>
          <a:prstGeom prst="roundRect">
            <a:avLst>
              <a:gd name="adj" fmla="val 8000"/>
            </a:avLst>
          </a:prstGeom>
          <a:noFill/>
          <a:ln w="63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1" name="Connector 10"/>
          <p:cNvCxnSpPr/>
          <p:nvPr/>
        </p:nvCxnSpPr>
        <p:spPr>
          <a:xfrm>
            <a:off x="5166360" y="1691640"/>
            <a:ext cx="3474720" cy="0"/>
          </a:xfrm>
          <a:prstGeom prst="line">
            <a:avLst/>
          </a:prstGeom>
          <a:ln w="5080">
            <a:solidFill>
              <a:srgbClr val="2033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166360" y="2011680"/>
            <a:ext cx="3474720" cy="0"/>
          </a:xfrm>
          <a:prstGeom prst="line">
            <a:avLst/>
          </a:prstGeom>
          <a:ln w="5080">
            <a:solidFill>
              <a:srgbClr val="2033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166360" y="2331720"/>
            <a:ext cx="3474720" cy="0"/>
          </a:xfrm>
          <a:prstGeom prst="line">
            <a:avLst/>
          </a:prstGeom>
          <a:ln w="5080">
            <a:solidFill>
              <a:srgbClr val="2033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166360" y="2651760"/>
            <a:ext cx="3474720" cy="0"/>
          </a:xfrm>
          <a:prstGeom prst="line">
            <a:avLst/>
          </a:prstGeom>
          <a:ln w="5080">
            <a:solidFill>
              <a:srgbClr val="2033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166360" y="2971800"/>
            <a:ext cx="3474720" cy="0"/>
          </a:xfrm>
          <a:prstGeom prst="line">
            <a:avLst/>
          </a:prstGeom>
          <a:ln w="5080">
            <a:solidFill>
              <a:srgbClr val="2033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166360" y="3291840"/>
            <a:ext cx="3474720" cy="0"/>
          </a:xfrm>
          <a:prstGeom prst="line">
            <a:avLst/>
          </a:prstGeom>
          <a:ln w="5080">
            <a:solidFill>
              <a:srgbClr val="2033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166360" y="3611880"/>
            <a:ext cx="3474720" cy="0"/>
          </a:xfrm>
          <a:prstGeom prst="line">
            <a:avLst/>
          </a:prstGeom>
          <a:ln w="5080">
            <a:solidFill>
              <a:srgbClr val="2033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5166360" y="3931920"/>
            <a:ext cx="3474720" cy="0"/>
          </a:xfrm>
          <a:prstGeom prst="line">
            <a:avLst/>
          </a:prstGeom>
          <a:ln w="5080">
            <a:solidFill>
              <a:srgbClr val="2033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5440680" y="1417320"/>
            <a:ext cx="0" cy="2834640"/>
          </a:xfrm>
          <a:prstGeom prst="line">
            <a:avLst/>
          </a:prstGeom>
          <a:ln w="5080">
            <a:solidFill>
              <a:srgbClr val="2033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943600" y="1417320"/>
            <a:ext cx="0" cy="2834640"/>
          </a:xfrm>
          <a:prstGeom prst="line">
            <a:avLst/>
          </a:prstGeom>
          <a:ln w="5080">
            <a:solidFill>
              <a:srgbClr val="2033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6446520" y="1417320"/>
            <a:ext cx="0" cy="2834640"/>
          </a:xfrm>
          <a:prstGeom prst="line">
            <a:avLst/>
          </a:prstGeom>
          <a:ln w="5080">
            <a:solidFill>
              <a:srgbClr val="2033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949440" y="1417320"/>
            <a:ext cx="0" cy="2834640"/>
          </a:xfrm>
          <a:prstGeom prst="line">
            <a:avLst/>
          </a:prstGeom>
          <a:ln w="5080">
            <a:solidFill>
              <a:srgbClr val="2033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452360" y="1417320"/>
            <a:ext cx="0" cy="2834640"/>
          </a:xfrm>
          <a:prstGeom prst="line">
            <a:avLst/>
          </a:prstGeom>
          <a:ln w="5080">
            <a:solidFill>
              <a:srgbClr val="2033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955279" y="1417320"/>
            <a:ext cx="0" cy="2834640"/>
          </a:xfrm>
          <a:prstGeom prst="line">
            <a:avLst/>
          </a:prstGeom>
          <a:ln w="5080">
            <a:solidFill>
              <a:srgbClr val="2033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8458200" y="1417320"/>
            <a:ext cx="0" cy="2834640"/>
          </a:xfrm>
          <a:prstGeom prst="line">
            <a:avLst/>
          </a:prstGeom>
          <a:ln w="5080">
            <a:solidFill>
              <a:srgbClr val="2033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5440680" y="3520440"/>
            <a:ext cx="548640" cy="411480"/>
          </a:xfrm>
          <a:prstGeom prst="line">
            <a:avLst/>
          </a:prstGeom>
          <a:ln w="27940">
            <a:solidFill>
              <a:srgbClr val="16A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989320" y="3520440"/>
            <a:ext cx="502920" cy="228599"/>
          </a:xfrm>
          <a:prstGeom prst="line">
            <a:avLst/>
          </a:prstGeom>
          <a:ln w="27940">
            <a:solidFill>
              <a:srgbClr val="16A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6492240" y="3108960"/>
            <a:ext cx="502920" cy="640079"/>
          </a:xfrm>
          <a:prstGeom prst="line">
            <a:avLst/>
          </a:prstGeom>
          <a:ln w="27940">
            <a:solidFill>
              <a:srgbClr val="16A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6995160" y="3108960"/>
            <a:ext cx="502919" cy="137160"/>
          </a:xfrm>
          <a:prstGeom prst="line">
            <a:avLst/>
          </a:prstGeom>
          <a:ln w="27940">
            <a:solidFill>
              <a:srgbClr val="16A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7498079" y="2606040"/>
            <a:ext cx="457200" cy="640080"/>
          </a:xfrm>
          <a:prstGeom prst="line">
            <a:avLst/>
          </a:prstGeom>
          <a:ln w="27940">
            <a:solidFill>
              <a:srgbClr val="16A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7955279" y="2606040"/>
            <a:ext cx="457201" cy="182880"/>
          </a:xfrm>
          <a:prstGeom prst="line">
            <a:avLst/>
          </a:prstGeom>
          <a:ln w="27940">
            <a:solidFill>
              <a:srgbClr val="16A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5367528" y="3858768"/>
            <a:ext cx="146304" cy="146304"/>
          </a:xfrm>
          <a:prstGeom prst="ellipse">
            <a:avLst/>
          </a:prstGeom>
          <a:solidFill>
            <a:srgbClr val="16A34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5916168" y="3447288"/>
            <a:ext cx="146304" cy="146304"/>
          </a:xfrm>
          <a:prstGeom prst="ellipse">
            <a:avLst/>
          </a:prstGeom>
          <a:solidFill>
            <a:srgbClr val="16A34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6419088" y="3675887"/>
            <a:ext cx="146304" cy="146304"/>
          </a:xfrm>
          <a:prstGeom prst="ellipse">
            <a:avLst/>
          </a:prstGeom>
          <a:solidFill>
            <a:srgbClr val="16A34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6922008" y="3035808"/>
            <a:ext cx="146304" cy="146304"/>
          </a:xfrm>
          <a:prstGeom prst="ellipse">
            <a:avLst/>
          </a:prstGeom>
          <a:solidFill>
            <a:srgbClr val="16A34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7424927" y="3172968"/>
            <a:ext cx="146304" cy="146304"/>
          </a:xfrm>
          <a:prstGeom prst="ellipse">
            <a:avLst/>
          </a:prstGeom>
          <a:solidFill>
            <a:srgbClr val="16A34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7882127" y="2532888"/>
            <a:ext cx="146304" cy="146304"/>
          </a:xfrm>
          <a:prstGeom prst="ellipse">
            <a:avLst/>
          </a:prstGeom>
          <a:solidFill>
            <a:srgbClr val="16A34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8339327" y="2715768"/>
            <a:ext cx="146304" cy="146304"/>
          </a:xfrm>
          <a:prstGeom prst="ellipse">
            <a:avLst/>
          </a:prstGeom>
          <a:solidFill>
            <a:srgbClr val="16A34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6309359" y="1417320"/>
            <a:ext cx="1188720" cy="1188720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6400800" y="1508760"/>
            <a:ext cx="1005840" cy="1005840"/>
          </a:xfrm>
          <a:prstGeom prst="ellipse">
            <a:avLst/>
          </a:prstGeom>
          <a:noFill/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400800" y="1737360"/>
            <a:ext cx="100584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PASS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0" y="2029968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87 / 100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772400" y="1691640"/>
            <a:ext cx="960120" cy="219456"/>
          </a:xfrm>
          <a:prstGeom prst="roundRect">
            <a:avLst>
              <a:gd name="adj" fmla="val 50000"/>
            </a:avLst>
          </a:prstGeom>
          <a:noFill/>
          <a:ln w="762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00" b="1" i="0">
                <a:solidFill>
                  <a:srgbClr val="16A34A"/>
                </a:solidFill>
                <a:latin typeface="Pretendard"/>
                <a:ea typeface="Pretendard"/>
                <a:cs typeface="Pretendard"/>
              </a:rPr>
              <a:t>운영시간 ✓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772400" y="1993392"/>
            <a:ext cx="960120" cy="219456"/>
          </a:xfrm>
          <a:prstGeom prst="roundRect">
            <a:avLst>
              <a:gd name="adj" fmla="val 50000"/>
            </a:avLst>
          </a:prstGeom>
          <a:noFill/>
          <a:ln w="762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00" b="1" i="0">
                <a:solidFill>
                  <a:srgbClr val="16A34A"/>
                </a:solidFill>
                <a:latin typeface="Pretendard"/>
                <a:ea typeface="Pretendard"/>
                <a:cs typeface="Pretendard"/>
              </a:rPr>
              <a:t>이동시간 ✓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772400" y="2286000"/>
            <a:ext cx="960120" cy="219456"/>
          </a:xfrm>
          <a:prstGeom prst="roundRect">
            <a:avLst>
              <a:gd name="adj" fmla="val 50000"/>
            </a:avLst>
          </a:prstGeom>
          <a:noFill/>
          <a:ln w="762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00" b="1" i="0">
                <a:solidFill>
                  <a:srgbClr val="D97706"/>
                </a:solidFill>
                <a:latin typeface="Pretendard"/>
                <a:ea typeface="Pretendard"/>
                <a:cs typeface="Pretendard"/>
              </a:rPr>
              <a:t>테마정합 ▲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166360" y="434340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0" i="1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↑  검증 완료된 일정만 통과시킵니다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" cy="2926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3" name="Text 1"/>
          <p:cNvSpPr/>
          <p:nvPr/>
        </p:nvSpPr>
        <p:spPr>
          <a:xfrm>
            <a:off x="594360" y="38404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CONTENTS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목차</a:t>
            </a:r>
            <a:endParaRPr lang="en-US" sz="28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24358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8개 섹션 · 24장</a:t>
            </a:r>
            <a:endParaRPr lang="en-US" sz="13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6" name="Text 4"/>
          <p:cNvSpPr/>
          <p:nvPr/>
        </p:nvSpPr>
        <p:spPr>
          <a:xfrm>
            <a:off x="548640" y="1783080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01</a:t>
            </a:r>
            <a:endParaRPr lang="en-US" sz="16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7" name="Text 5"/>
          <p:cNvSpPr/>
          <p:nvPr/>
        </p:nvSpPr>
        <p:spPr>
          <a:xfrm>
            <a:off x="1143000" y="178308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문제 정의</a:t>
            </a:r>
            <a:endParaRPr lang="en-US" sz="13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8" name="Text 6"/>
          <p:cNvSpPr/>
          <p:nvPr/>
        </p:nvSpPr>
        <p:spPr>
          <a:xfrm>
            <a:off x="3337560" y="178308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추천은 많지만 검증은 없다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9" name="Text 7"/>
          <p:cNvSpPr/>
          <p:nvPr/>
        </p:nvSpPr>
        <p:spPr>
          <a:xfrm>
            <a:off x="7589520" y="178308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03 — 05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48640" y="2148840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02</a:t>
            </a:r>
            <a:endParaRPr lang="en-US" sz="16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143000" y="214884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솔루션 비전</a:t>
            </a:r>
            <a:endParaRPr lang="en-US" sz="13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337560" y="214884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검증 가능성이 또 하나의 품질이다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589520" y="214884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06 — 07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48640" y="2514600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03</a:t>
            </a:r>
            <a:endParaRPr lang="en-US" sz="16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143000" y="251460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기술적 차별점</a:t>
            </a:r>
            <a:endParaRPr lang="en-US" sz="13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337560" y="251460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VRPTW · DBSCAN · LLM 하이브리드 (5종)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589520" y="251460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08 — 13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548640" y="2880360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04</a:t>
            </a:r>
            <a:endParaRPr lang="en-US" sz="16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143000" y="288036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Risk Score</a:t>
            </a:r>
            <a:endParaRPr lang="en-US" sz="13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3337560" y="288036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8개 패널티 매트릭스 + Hard Fail Cap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7589520" y="288036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14 — 15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548640" y="3246120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05</a:t>
            </a:r>
            <a:endParaRPr lang="en-US" sz="16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143000" y="324612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데이터 자산</a:t>
            </a:r>
            <a:endParaRPr lang="en-US" sz="13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3337560" y="324612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TourAPI 50K POI + 공공 통계 7종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7589520" y="324612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16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548640" y="3611880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06</a:t>
            </a:r>
            <a:endParaRPr lang="en-US" sz="16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1143000" y="361188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검증 결과</a:t>
            </a:r>
            <a:endParaRPr lang="en-US" sz="13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3337560" y="361188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70 일정 · 322 장소 · 매칭률 96%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7589520" y="361188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17 — 20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548640" y="3977640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07</a:t>
            </a:r>
            <a:endParaRPr lang="en-US" sz="16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1143000" y="397764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활용 시나리오 · 로드맵</a:t>
            </a:r>
            <a:endParaRPr lang="en-US" sz="13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3337560" y="397764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B2C · B2B · 공공 + 운영시간 통합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7589520" y="397764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21 — 22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548640" y="4343400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08</a:t>
            </a:r>
            <a:endParaRPr lang="en-US" sz="16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1143000" y="434340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한계 · 강점 · 레퍼런스</a:t>
            </a:r>
            <a:endParaRPr lang="en-US" sz="13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3337560" y="434340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공공 보고서 7종 + 학술 1종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7589520" y="434340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23 — 24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457200" y="4846320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관광 일정 QA 엔진  ·  Explainable Travel Plan Validator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6766560" y="484632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02 / 24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7635240" y="4777740"/>
            <a:ext cx="118872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800" i="1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[ Brandlogy logo 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" cy="2926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3" name="Text 1"/>
          <p:cNvSpPr/>
          <p:nvPr/>
        </p:nvSpPr>
        <p:spPr>
          <a:xfrm>
            <a:off x="594360" y="38404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SECTION 01 · 문제 정의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추천은 풍성하지만, 검증은 비어 있다</a:t>
            </a:r>
            <a:endParaRPr lang="en-US" sz="28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24358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기존 서비스의 사각지대</a:t>
            </a:r>
            <a:endParaRPr lang="en-US" sz="13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3931920" cy="274320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36576" cy="2743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8" name="Text 6"/>
          <p:cNvSpPr/>
          <p:nvPr/>
        </p:nvSpPr>
        <p:spPr>
          <a:xfrm>
            <a:off x="685800" y="19659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국내 여행 시장의 현실</a:t>
            </a:r>
            <a:endParaRPr lang="en-US" sz="13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9" name="Text 7"/>
          <p:cNvSpPr/>
          <p:nvPr/>
        </p:nvSpPr>
        <p:spPr>
          <a:xfrm>
            <a:off x="685800" y="2331720"/>
            <a:ext cx="35661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23.7조 원</a:t>
            </a:r>
            <a:endParaRPr lang="en-US" sz="28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85800" y="2798064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2024 국내 여행 지출 규모 (한국문화관광연구원)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85800" y="3200400"/>
            <a:ext cx="35661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C7293"/>
                </a:solidFill>
                <a:latin typeface="Pretendard"/>
                <a:ea typeface="Pretendard"/>
                <a:cs typeface="Pretendard"/>
              </a:rPr>
              <a:t>1억 5,580만 회</a:t>
            </a:r>
            <a:endParaRPr lang="en-US" sz="26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85800" y="3666744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2024 연간 국내 여행 횟수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85800" y="40690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평균 2.4일</a:t>
            </a:r>
            <a:endParaRPr lang="en-US" sz="18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85800" y="4343400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1회당 여행 일수 (2025 국민여행조사 4Q)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617720" y="1783080"/>
            <a:ext cx="4069080" cy="274320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800600" y="1965960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그러나 사용자가 마주치는 것은</a:t>
            </a:r>
            <a:endParaRPr lang="en-US" sz="13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800600" y="2386584"/>
            <a:ext cx="310896" cy="310896"/>
          </a:xfrm>
          <a:prstGeom prst="ellipse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800600" y="2391156"/>
            <a:ext cx="3108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A</a:t>
            </a:r>
            <a:endParaRPr lang="en-US" sz="13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212080" y="233172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운영시간 충돌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5212080" y="25603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도착했는데 영업 종료 — 동선 재구성 필요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800600" y="2889504"/>
            <a:ext cx="310896" cy="310896"/>
          </a:xfrm>
          <a:prstGeom prst="ellipse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4800600" y="2894076"/>
            <a:ext cx="3108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B</a:t>
            </a:r>
            <a:endParaRPr lang="en-US" sz="13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5212080" y="283464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비현실적 이동시간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5212080" y="30632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지도엔 30분, 실제 출퇴근 시간엔 70분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4800600" y="3392424"/>
            <a:ext cx="310896" cy="310896"/>
          </a:xfrm>
          <a:prstGeom prst="ellipse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4800600" y="3396996"/>
            <a:ext cx="3108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C</a:t>
            </a:r>
            <a:endParaRPr lang="en-US" sz="13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5212080" y="333756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체류시간 추정 불일치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5212080" y="35661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경복궁 30분으로 끊으면 사실상 입장 X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4800600" y="3895344"/>
            <a:ext cx="310896" cy="310896"/>
          </a:xfrm>
          <a:prstGeom prst="ellipse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4800600" y="3899916"/>
            <a:ext cx="3108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D</a:t>
            </a:r>
            <a:endParaRPr lang="en-US" sz="13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5212080" y="38404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테마 불일치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5212080" y="40690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"힐링"인데 일정에 클럽·시장이 끼어 있음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457200" y="46177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결과 : 추천은 "무엇을 갈지" 알려주지만, "실제 갈 수 있는지"를 증명하지 못한다.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457200" y="4846320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관광 일정 QA 엔진  ·  Explainable Travel Plan Validator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6766560" y="484632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03 / 24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7635240" y="4777740"/>
            <a:ext cx="118872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800" i="1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[ Brandlogy logo ]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66928" y="2350008"/>
            <a:ext cx="36576" cy="384048"/>
          </a:xfrm>
          <a:prstGeom prst="rect">
            <a:avLst/>
          </a:prstGeom>
          <a:solidFill>
            <a:srgbClr val="105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566928" y="3218688"/>
            <a:ext cx="36576" cy="384048"/>
          </a:xfrm>
          <a:prstGeom prst="rect">
            <a:avLst/>
          </a:prstGeom>
          <a:solidFill>
            <a:srgbClr val="105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566928" y="4087368"/>
            <a:ext cx="36576" cy="384048"/>
          </a:xfrm>
          <a:prstGeom prst="rect">
            <a:avLst/>
          </a:prstGeom>
          <a:solidFill>
            <a:srgbClr val="105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" cy="2926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3" name="Text 1"/>
          <p:cNvSpPr/>
          <p:nvPr/>
        </p:nvSpPr>
        <p:spPr>
          <a:xfrm>
            <a:off x="594360" y="38404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SECTION 01 · 문제 정의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검증 부재가 만드는 실제 손실</a:t>
            </a:r>
            <a:endParaRPr lang="en-US" sz="28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24358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현장에서 반복되는 동선 실패 패턴</a:t>
            </a:r>
            <a:endParaRPr lang="en-US" sz="13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5120640" cy="77724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36576" cy="77724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8" name="Text 6"/>
          <p:cNvSpPr/>
          <p:nvPr/>
        </p:nvSpPr>
        <p:spPr>
          <a:xfrm>
            <a:off x="640080" y="19202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91C1C"/>
                </a:solidFill>
                <a:latin typeface="Pretendard"/>
                <a:ea typeface="Pretendard"/>
                <a:cs typeface="Pretendard"/>
              </a:rPr>
              <a:t>Case A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9" name="Text 7"/>
          <p:cNvSpPr/>
          <p:nvPr/>
        </p:nvSpPr>
        <p:spPr>
          <a:xfrm>
            <a:off x="1554480" y="192024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"부산 1박2일 추천 코스"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40080" y="215798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광안리(20:00 도착) → 감천문화마을(21:00) → 운영 종료 18:00 → 입장 불가, 일정 30% 폐기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40080" y="2395728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−2시간 + 택시비 ₩28,000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57200" y="2697480"/>
            <a:ext cx="5120640" cy="77724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57200" y="2697480"/>
            <a:ext cx="36576" cy="77724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40080" y="27889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91C1C"/>
                </a:solidFill>
                <a:latin typeface="Pretendard"/>
                <a:ea typeface="Pretendard"/>
                <a:cs typeface="Pretendard"/>
              </a:rPr>
              <a:t>Case B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554480" y="278892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"제주 가족 코스"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40080" y="302666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한라산(09:00 입장) → 동문시장(11:00 도착) — 50km 이동을 30분으로 표기, 실제 90분 소요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40080" y="3264408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−1시간 + 점심 누락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57200" y="3566160"/>
            <a:ext cx="5120640" cy="77724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57200" y="3566160"/>
            <a:ext cx="36576" cy="77724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40080" y="3657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91C1C"/>
                </a:solidFill>
                <a:latin typeface="Pretendard"/>
                <a:ea typeface="Pretendard"/>
                <a:cs typeface="Pretendard"/>
              </a:rPr>
              <a:t>Case C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554480" y="365760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"서울 데이트 힐링"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40080" y="389534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테마는 "힐링"이지만 일정에 클럽·시장 포함 — 분류 정합성 0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40080" y="4133088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사용자 만족도 ↓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5760720" y="1828800"/>
            <a:ext cx="2926080" cy="2560320"/>
          </a:xfrm>
          <a:prstGeom prst="rect">
            <a:avLst/>
          </a:prstGeom>
          <a:solidFill>
            <a:srgbClr val="E0F2FE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5760720" y="1828800"/>
            <a:ext cx="36576" cy="25603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5943600" y="196596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검증 부재의 영향</a:t>
            </a:r>
            <a:endParaRPr lang="en-US" sz="13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5943600" y="2331720"/>
            <a:ext cx="26517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1순위</a:t>
            </a:r>
            <a:endParaRPr lang="en-US" sz="26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5943600" y="2798064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사용자 불편 항목 = 일정·동선 오류</a:t>
            </a:r>
            <a:endParaRPr lang="en-US" sz="1100" dirty="0">
              <a:latin typeface="Pretendard"/>
              <a:ea typeface="Pretendard"/>
              <a:cs typeface="Pretendard"/>
            </a:endParaRPr>
          </a:p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(2025 국민여행조사 4Q)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5943600" y="3246120"/>
            <a:ext cx="26517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C7293"/>
                </a:solidFill>
                <a:latin typeface="Pretendard"/>
                <a:ea typeface="Pretendard"/>
                <a:cs typeface="Pretendard"/>
              </a:rPr>
              <a:t>61.4%</a:t>
            </a:r>
            <a:endParaRPr lang="en-US" sz="24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5943600" y="3712464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여행 후 "다음에 다르게 짤 것" 응답 비율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5943600" y="4023360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−16시간</a:t>
            </a:r>
            <a:endParaRPr lang="en-US" sz="14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5943600" y="4242816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여행당 평균 시간 손실 추정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457200" y="46177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출처  2025년 국민여행조사 3·4분기 결과(잠정치) · 한국관광공사 관광데이터랩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457200" y="4846320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관광 일정 QA 엔진  ·  Explainable Travel Plan Validator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6766560" y="484632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04 / 24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7635240" y="4777740"/>
            <a:ext cx="118872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800" i="1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[ Brandlogy logo ]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554480" y="2542032"/>
            <a:ext cx="3886200" cy="0"/>
          </a:xfrm>
          <a:prstGeom prst="line">
            <a:avLst/>
          </a:prstGeom>
          <a:ln w="1270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1499616" y="2487168"/>
            <a:ext cx="109728" cy="109728"/>
          </a:xfrm>
          <a:prstGeom prst="ellipse">
            <a:avLst/>
          </a:prstGeom>
          <a:solidFill>
            <a:srgbClr val="10579D"/>
          </a:solidFill>
          <a:ln w="101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188719" y="2596896"/>
            <a:ext cx="73152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광안리</a:t>
            </a:r>
          </a:p>
        </p:txBody>
      </p:sp>
      <p:sp>
        <p:nvSpPr>
          <p:cNvPr id="40" name="Oval 39"/>
          <p:cNvSpPr/>
          <p:nvPr/>
        </p:nvSpPr>
        <p:spPr>
          <a:xfrm>
            <a:off x="5385816" y="2487168"/>
            <a:ext cx="109728" cy="109728"/>
          </a:xfrm>
          <a:prstGeom prst="ellipse">
            <a:avLst/>
          </a:prstGeom>
          <a:solidFill>
            <a:srgbClr val="DC2626"/>
          </a:solidFill>
          <a:ln w="101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074920" y="2596896"/>
            <a:ext cx="73152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감천문화마을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303520" y="2386584"/>
            <a:ext cx="27432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DC2626"/>
                </a:solidFill>
                <a:latin typeface="Pretendard"/>
                <a:ea typeface="Pretendard"/>
                <a:cs typeface="Pretendard"/>
              </a:rPr>
              <a:t>✕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1554480" y="3410712"/>
            <a:ext cx="3886200" cy="0"/>
          </a:xfrm>
          <a:prstGeom prst="line">
            <a:avLst/>
          </a:prstGeom>
          <a:ln w="1270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Oval 43"/>
          <p:cNvSpPr/>
          <p:nvPr/>
        </p:nvSpPr>
        <p:spPr>
          <a:xfrm>
            <a:off x="1499616" y="3355848"/>
            <a:ext cx="109728" cy="109728"/>
          </a:xfrm>
          <a:prstGeom prst="ellipse">
            <a:avLst/>
          </a:prstGeom>
          <a:solidFill>
            <a:srgbClr val="10579D"/>
          </a:solidFill>
          <a:ln w="101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1188719" y="3465576"/>
            <a:ext cx="73152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한라산</a:t>
            </a:r>
          </a:p>
        </p:txBody>
      </p:sp>
      <p:sp>
        <p:nvSpPr>
          <p:cNvPr id="46" name="Oval 45"/>
          <p:cNvSpPr/>
          <p:nvPr/>
        </p:nvSpPr>
        <p:spPr>
          <a:xfrm>
            <a:off x="5385816" y="3355848"/>
            <a:ext cx="109728" cy="109728"/>
          </a:xfrm>
          <a:prstGeom prst="ellipse">
            <a:avLst/>
          </a:prstGeom>
          <a:solidFill>
            <a:srgbClr val="DC2626"/>
          </a:solidFill>
          <a:ln w="101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074920" y="3465576"/>
            <a:ext cx="73152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동문시장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303520" y="3255264"/>
            <a:ext cx="27432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DC2626"/>
                </a:solidFill>
                <a:latin typeface="Pretendard"/>
                <a:ea typeface="Pretendard"/>
                <a:cs typeface="Pretendard"/>
              </a:rPr>
              <a:t>✕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1554480" y="4279392"/>
            <a:ext cx="3886200" cy="0"/>
          </a:xfrm>
          <a:prstGeom prst="line">
            <a:avLst/>
          </a:prstGeom>
          <a:ln w="1270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Oval 49"/>
          <p:cNvSpPr/>
          <p:nvPr/>
        </p:nvSpPr>
        <p:spPr>
          <a:xfrm>
            <a:off x="1499616" y="4224528"/>
            <a:ext cx="109728" cy="109728"/>
          </a:xfrm>
          <a:prstGeom prst="ellipse">
            <a:avLst/>
          </a:prstGeom>
          <a:solidFill>
            <a:srgbClr val="10579D"/>
          </a:solidFill>
          <a:ln w="101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1188719" y="4334255"/>
            <a:ext cx="73152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힐링명소</a:t>
            </a:r>
          </a:p>
        </p:txBody>
      </p:sp>
      <p:sp>
        <p:nvSpPr>
          <p:cNvPr id="52" name="Oval 51"/>
          <p:cNvSpPr/>
          <p:nvPr/>
        </p:nvSpPr>
        <p:spPr>
          <a:xfrm>
            <a:off x="3442716" y="4224528"/>
            <a:ext cx="109728" cy="109728"/>
          </a:xfrm>
          <a:prstGeom prst="ellipse">
            <a:avLst/>
          </a:prstGeom>
          <a:solidFill>
            <a:srgbClr val="10579D"/>
          </a:solidFill>
          <a:ln w="101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3131820" y="4334255"/>
            <a:ext cx="73152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클럽</a:t>
            </a:r>
          </a:p>
        </p:txBody>
      </p:sp>
      <p:sp>
        <p:nvSpPr>
          <p:cNvPr id="54" name="Oval 53"/>
          <p:cNvSpPr/>
          <p:nvPr/>
        </p:nvSpPr>
        <p:spPr>
          <a:xfrm>
            <a:off x="5385816" y="4224528"/>
            <a:ext cx="109728" cy="109728"/>
          </a:xfrm>
          <a:prstGeom prst="ellipse">
            <a:avLst/>
          </a:prstGeom>
          <a:solidFill>
            <a:srgbClr val="DC2626"/>
          </a:solidFill>
          <a:ln w="101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074920" y="4334255"/>
            <a:ext cx="73152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시장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303520" y="4123944"/>
            <a:ext cx="27432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DC2626"/>
                </a:solidFill>
                <a:latin typeface="Pretendard"/>
                <a:ea typeface="Pretendard"/>
                <a:cs typeface="Pretendard"/>
              </a:rPr>
              <a:t>✕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" cy="2926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3" name="Text 1"/>
          <p:cNvSpPr/>
          <p:nvPr/>
        </p:nvSpPr>
        <p:spPr>
          <a:xfrm>
            <a:off x="594360" y="38404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SECTION 01 · 문제 정의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기존 솔루션과의 비교</a:t>
            </a:r>
            <a:endParaRPr lang="en-US" sz="28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24358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왜 "검증 레이어"가 비어 있는 시장 공백인가</a:t>
            </a:r>
            <a:endParaRPr lang="en-US" sz="13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1920240" cy="38404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기능 / 카테고리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8" name="Shape 6"/>
          <p:cNvSpPr/>
          <p:nvPr/>
        </p:nvSpPr>
        <p:spPr>
          <a:xfrm>
            <a:off x="2377440" y="1783080"/>
            <a:ext cx="1280160" cy="38404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9" name="Text 7"/>
          <p:cNvSpPr/>
          <p:nvPr/>
        </p:nvSpPr>
        <p:spPr>
          <a:xfrm>
            <a:off x="2377440" y="178308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네이버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657600" y="1783080"/>
            <a:ext cx="1280160" cy="38404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657600" y="178308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카카오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937760" y="1783080"/>
            <a:ext cx="1280160" cy="38404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937760" y="178308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구글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217920" y="1783080"/>
            <a:ext cx="1280160" cy="38404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217920" y="178308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트리플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7498080" y="1783080"/>
            <a:ext cx="1188720" cy="38404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498080" y="178308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본 솔루션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57200" y="2167128"/>
            <a:ext cx="192024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57200" y="216712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POI 추천 / 검색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2377440" y="2167128"/>
            <a:ext cx="128016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2377440" y="216712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●</a:t>
            </a:r>
            <a:endParaRPr lang="en-US" sz="14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3657600" y="2167128"/>
            <a:ext cx="128016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3657600" y="216712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●</a:t>
            </a:r>
            <a:endParaRPr lang="en-US" sz="14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4937760" y="2167128"/>
            <a:ext cx="128016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4937760" y="216712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●</a:t>
            </a:r>
            <a:endParaRPr lang="en-US" sz="14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6217920" y="2167128"/>
            <a:ext cx="128016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217920" y="216712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●</a:t>
            </a:r>
            <a:endParaRPr lang="en-US" sz="14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7498080" y="2167128"/>
            <a:ext cx="118872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7498080" y="216712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○</a:t>
            </a:r>
            <a:endParaRPr lang="en-US" sz="14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457200" y="2551176"/>
            <a:ext cx="19202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457200" y="255117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지도 · 길찾기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2377440" y="2551176"/>
            <a:ext cx="12801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2377440" y="2551176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●</a:t>
            </a:r>
            <a:endParaRPr lang="en-US" sz="14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3657600" y="2551176"/>
            <a:ext cx="12801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3657600" y="2551176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●</a:t>
            </a:r>
            <a:endParaRPr lang="en-US" sz="14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4937760" y="2551176"/>
            <a:ext cx="12801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4937760" y="2551176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●</a:t>
            </a:r>
            <a:endParaRPr lang="en-US" sz="14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6217920" y="2551176"/>
            <a:ext cx="12801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6217920" y="2551176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○</a:t>
            </a:r>
            <a:endParaRPr lang="en-US" sz="14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7498080" y="2551176"/>
            <a:ext cx="11887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7498080" y="2551176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API</a:t>
            </a:r>
            <a:endParaRPr lang="en-US" sz="14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457200" y="2935224"/>
            <a:ext cx="192024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457200" y="293522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운영시간 충돌 검증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2377440" y="2935224"/>
            <a:ext cx="128016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2377440" y="2935224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○</a:t>
            </a:r>
            <a:endParaRPr lang="en-US" sz="14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3657600" y="2935224"/>
            <a:ext cx="128016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3657600" y="2935224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○</a:t>
            </a:r>
            <a:endParaRPr lang="en-US" sz="14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4937760" y="2935224"/>
            <a:ext cx="128016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4937760" y="2935224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○</a:t>
            </a:r>
            <a:endParaRPr lang="en-US" sz="14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6217920" y="2935224"/>
            <a:ext cx="128016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6217920" y="2935224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○</a:t>
            </a:r>
            <a:endParaRPr lang="en-US" sz="14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52" name="Shape 50"/>
          <p:cNvSpPr/>
          <p:nvPr/>
        </p:nvSpPr>
        <p:spPr>
          <a:xfrm>
            <a:off x="7498080" y="2935224"/>
            <a:ext cx="118872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7498080" y="2935224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47857"/>
                </a:solidFill>
                <a:latin typeface="Pretendard"/>
                <a:ea typeface="Pretendard"/>
                <a:cs typeface="Pretendard"/>
              </a:rPr>
              <a:t>●</a:t>
            </a:r>
            <a:endParaRPr lang="en-US" sz="14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54" name="Shape 52"/>
          <p:cNvSpPr/>
          <p:nvPr/>
        </p:nvSpPr>
        <p:spPr>
          <a:xfrm>
            <a:off x="457200" y="3319272"/>
            <a:ext cx="19202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55" name="Text 53"/>
          <p:cNvSpPr/>
          <p:nvPr/>
        </p:nvSpPr>
        <p:spPr>
          <a:xfrm>
            <a:off x="457200" y="331927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이동 vs 관광 비율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56" name="Shape 54"/>
          <p:cNvSpPr/>
          <p:nvPr/>
        </p:nvSpPr>
        <p:spPr>
          <a:xfrm>
            <a:off x="2377440" y="3319272"/>
            <a:ext cx="12801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57" name="Text 55"/>
          <p:cNvSpPr/>
          <p:nvPr/>
        </p:nvSpPr>
        <p:spPr>
          <a:xfrm>
            <a:off x="2377440" y="331927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○</a:t>
            </a:r>
            <a:endParaRPr lang="en-US" sz="14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58" name="Shape 56"/>
          <p:cNvSpPr/>
          <p:nvPr/>
        </p:nvSpPr>
        <p:spPr>
          <a:xfrm>
            <a:off x="3657600" y="3319272"/>
            <a:ext cx="12801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59" name="Text 57"/>
          <p:cNvSpPr/>
          <p:nvPr/>
        </p:nvSpPr>
        <p:spPr>
          <a:xfrm>
            <a:off x="3657600" y="331927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○</a:t>
            </a:r>
            <a:endParaRPr lang="en-US" sz="14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60" name="Shape 58"/>
          <p:cNvSpPr/>
          <p:nvPr/>
        </p:nvSpPr>
        <p:spPr>
          <a:xfrm>
            <a:off x="4937760" y="3319272"/>
            <a:ext cx="12801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61" name="Text 59"/>
          <p:cNvSpPr/>
          <p:nvPr/>
        </p:nvSpPr>
        <p:spPr>
          <a:xfrm>
            <a:off x="4937760" y="331927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○</a:t>
            </a:r>
            <a:endParaRPr lang="en-US" sz="14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62" name="Shape 60"/>
          <p:cNvSpPr/>
          <p:nvPr/>
        </p:nvSpPr>
        <p:spPr>
          <a:xfrm>
            <a:off x="6217920" y="3319272"/>
            <a:ext cx="12801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63" name="Text 61"/>
          <p:cNvSpPr/>
          <p:nvPr/>
        </p:nvSpPr>
        <p:spPr>
          <a:xfrm>
            <a:off x="6217920" y="331927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○</a:t>
            </a:r>
            <a:endParaRPr lang="en-US" sz="14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64" name="Shape 62"/>
          <p:cNvSpPr/>
          <p:nvPr/>
        </p:nvSpPr>
        <p:spPr>
          <a:xfrm>
            <a:off x="7498080" y="3319272"/>
            <a:ext cx="11887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65" name="Text 63"/>
          <p:cNvSpPr/>
          <p:nvPr/>
        </p:nvSpPr>
        <p:spPr>
          <a:xfrm>
            <a:off x="7498080" y="331927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47857"/>
                </a:solidFill>
                <a:latin typeface="Pretendard"/>
                <a:ea typeface="Pretendard"/>
                <a:cs typeface="Pretendard"/>
              </a:rPr>
              <a:t>●</a:t>
            </a:r>
            <a:endParaRPr lang="en-US" sz="14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66" name="Shape 64"/>
          <p:cNvSpPr/>
          <p:nvPr/>
        </p:nvSpPr>
        <p:spPr>
          <a:xfrm>
            <a:off x="457200" y="3703320"/>
            <a:ext cx="192024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67" name="Text 65"/>
          <p:cNvSpPr/>
          <p:nvPr/>
        </p:nvSpPr>
        <p:spPr>
          <a:xfrm>
            <a:off x="457200" y="370332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테마 정합성 (LLM)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68" name="Shape 66"/>
          <p:cNvSpPr/>
          <p:nvPr/>
        </p:nvSpPr>
        <p:spPr>
          <a:xfrm>
            <a:off x="2377440" y="3703320"/>
            <a:ext cx="128016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69" name="Text 67"/>
          <p:cNvSpPr/>
          <p:nvPr/>
        </p:nvSpPr>
        <p:spPr>
          <a:xfrm>
            <a:off x="2377440" y="370332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○</a:t>
            </a:r>
            <a:endParaRPr lang="en-US" sz="14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70" name="Shape 68"/>
          <p:cNvSpPr/>
          <p:nvPr/>
        </p:nvSpPr>
        <p:spPr>
          <a:xfrm>
            <a:off x="3657600" y="3703320"/>
            <a:ext cx="128016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71" name="Text 69"/>
          <p:cNvSpPr/>
          <p:nvPr/>
        </p:nvSpPr>
        <p:spPr>
          <a:xfrm>
            <a:off x="3657600" y="370332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○</a:t>
            </a:r>
            <a:endParaRPr lang="en-US" sz="14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72" name="Shape 70"/>
          <p:cNvSpPr/>
          <p:nvPr/>
        </p:nvSpPr>
        <p:spPr>
          <a:xfrm>
            <a:off x="4937760" y="3703320"/>
            <a:ext cx="128016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73" name="Text 71"/>
          <p:cNvSpPr/>
          <p:nvPr/>
        </p:nvSpPr>
        <p:spPr>
          <a:xfrm>
            <a:off x="4937760" y="370332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○</a:t>
            </a:r>
            <a:endParaRPr lang="en-US" sz="14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74" name="Shape 72"/>
          <p:cNvSpPr/>
          <p:nvPr/>
        </p:nvSpPr>
        <p:spPr>
          <a:xfrm>
            <a:off x="6217920" y="3703320"/>
            <a:ext cx="128016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75" name="Text 73"/>
          <p:cNvSpPr/>
          <p:nvPr/>
        </p:nvSpPr>
        <p:spPr>
          <a:xfrm>
            <a:off x="6217920" y="370332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○</a:t>
            </a:r>
            <a:endParaRPr lang="en-US" sz="14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76" name="Shape 74"/>
          <p:cNvSpPr/>
          <p:nvPr/>
        </p:nvSpPr>
        <p:spPr>
          <a:xfrm>
            <a:off x="7498080" y="3703320"/>
            <a:ext cx="118872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77" name="Text 75"/>
          <p:cNvSpPr/>
          <p:nvPr/>
        </p:nvSpPr>
        <p:spPr>
          <a:xfrm>
            <a:off x="7498080" y="370332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47857"/>
                </a:solidFill>
                <a:latin typeface="Pretendard"/>
                <a:ea typeface="Pretendard"/>
                <a:cs typeface="Pretendard"/>
              </a:rPr>
              <a:t>●</a:t>
            </a:r>
            <a:endParaRPr lang="en-US" sz="14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78" name="Shape 76"/>
          <p:cNvSpPr/>
          <p:nvPr/>
        </p:nvSpPr>
        <p:spPr>
          <a:xfrm>
            <a:off x="457200" y="4087368"/>
            <a:ext cx="19202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79" name="Text 77"/>
          <p:cNvSpPr/>
          <p:nvPr/>
        </p:nvSpPr>
        <p:spPr>
          <a:xfrm>
            <a:off x="457200" y="408736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일자별 동선 밀집도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80" name="Shape 78"/>
          <p:cNvSpPr/>
          <p:nvPr/>
        </p:nvSpPr>
        <p:spPr>
          <a:xfrm>
            <a:off x="2377440" y="4087368"/>
            <a:ext cx="12801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81" name="Text 79"/>
          <p:cNvSpPr/>
          <p:nvPr/>
        </p:nvSpPr>
        <p:spPr>
          <a:xfrm>
            <a:off x="2377440" y="408736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○</a:t>
            </a:r>
            <a:endParaRPr lang="en-US" sz="14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82" name="Shape 80"/>
          <p:cNvSpPr/>
          <p:nvPr/>
        </p:nvSpPr>
        <p:spPr>
          <a:xfrm>
            <a:off x="3657600" y="4087368"/>
            <a:ext cx="12801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83" name="Text 81"/>
          <p:cNvSpPr/>
          <p:nvPr/>
        </p:nvSpPr>
        <p:spPr>
          <a:xfrm>
            <a:off x="3657600" y="408736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○</a:t>
            </a:r>
            <a:endParaRPr lang="en-US" sz="14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84" name="Shape 82"/>
          <p:cNvSpPr/>
          <p:nvPr/>
        </p:nvSpPr>
        <p:spPr>
          <a:xfrm>
            <a:off x="4937760" y="4087368"/>
            <a:ext cx="12801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85" name="Text 83"/>
          <p:cNvSpPr/>
          <p:nvPr/>
        </p:nvSpPr>
        <p:spPr>
          <a:xfrm>
            <a:off x="4937760" y="408736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○</a:t>
            </a:r>
            <a:endParaRPr lang="en-US" sz="14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86" name="Shape 84"/>
          <p:cNvSpPr/>
          <p:nvPr/>
        </p:nvSpPr>
        <p:spPr>
          <a:xfrm>
            <a:off x="6217920" y="4087368"/>
            <a:ext cx="12801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87" name="Text 85"/>
          <p:cNvSpPr/>
          <p:nvPr/>
        </p:nvSpPr>
        <p:spPr>
          <a:xfrm>
            <a:off x="6217920" y="408736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○</a:t>
            </a:r>
            <a:endParaRPr lang="en-US" sz="14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88" name="Shape 86"/>
          <p:cNvSpPr/>
          <p:nvPr/>
        </p:nvSpPr>
        <p:spPr>
          <a:xfrm>
            <a:off x="7498080" y="4087368"/>
            <a:ext cx="11887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89" name="Text 87"/>
          <p:cNvSpPr/>
          <p:nvPr/>
        </p:nvSpPr>
        <p:spPr>
          <a:xfrm>
            <a:off x="7498080" y="408736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47857"/>
                </a:solidFill>
                <a:latin typeface="Pretendard"/>
                <a:ea typeface="Pretendard"/>
                <a:cs typeface="Pretendard"/>
              </a:rPr>
              <a:t>●</a:t>
            </a:r>
            <a:endParaRPr lang="en-US" sz="14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90" name="Shape 88"/>
          <p:cNvSpPr/>
          <p:nvPr/>
        </p:nvSpPr>
        <p:spPr>
          <a:xfrm>
            <a:off x="457200" y="4471416"/>
            <a:ext cx="192024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91" name="Text 89"/>
          <p:cNvSpPr/>
          <p:nvPr/>
        </p:nvSpPr>
        <p:spPr>
          <a:xfrm>
            <a:off x="457200" y="447141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근거 기반 설명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92" name="Shape 90"/>
          <p:cNvSpPr/>
          <p:nvPr/>
        </p:nvSpPr>
        <p:spPr>
          <a:xfrm>
            <a:off x="2377440" y="4471416"/>
            <a:ext cx="128016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93" name="Text 91"/>
          <p:cNvSpPr/>
          <p:nvPr/>
        </p:nvSpPr>
        <p:spPr>
          <a:xfrm>
            <a:off x="2377440" y="4471416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○</a:t>
            </a:r>
            <a:endParaRPr lang="en-US" sz="14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94" name="Shape 92"/>
          <p:cNvSpPr/>
          <p:nvPr/>
        </p:nvSpPr>
        <p:spPr>
          <a:xfrm>
            <a:off x="3657600" y="4471416"/>
            <a:ext cx="128016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95" name="Text 93"/>
          <p:cNvSpPr/>
          <p:nvPr/>
        </p:nvSpPr>
        <p:spPr>
          <a:xfrm>
            <a:off x="3657600" y="4471416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○</a:t>
            </a:r>
            <a:endParaRPr lang="en-US" sz="14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96" name="Shape 94"/>
          <p:cNvSpPr/>
          <p:nvPr/>
        </p:nvSpPr>
        <p:spPr>
          <a:xfrm>
            <a:off x="4937760" y="4471416"/>
            <a:ext cx="128016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97" name="Text 95"/>
          <p:cNvSpPr/>
          <p:nvPr/>
        </p:nvSpPr>
        <p:spPr>
          <a:xfrm>
            <a:off x="4937760" y="4471416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○</a:t>
            </a:r>
            <a:endParaRPr lang="en-US" sz="14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98" name="Shape 96"/>
          <p:cNvSpPr/>
          <p:nvPr/>
        </p:nvSpPr>
        <p:spPr>
          <a:xfrm>
            <a:off x="6217920" y="4471416"/>
            <a:ext cx="128016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99" name="Text 97"/>
          <p:cNvSpPr/>
          <p:nvPr/>
        </p:nvSpPr>
        <p:spPr>
          <a:xfrm>
            <a:off x="6217920" y="4471416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○</a:t>
            </a:r>
            <a:endParaRPr lang="en-US" sz="14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00" name="Shape 98"/>
          <p:cNvSpPr/>
          <p:nvPr/>
        </p:nvSpPr>
        <p:spPr>
          <a:xfrm>
            <a:off x="7498080" y="4471416"/>
            <a:ext cx="118872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101" name="Text 99"/>
          <p:cNvSpPr/>
          <p:nvPr/>
        </p:nvSpPr>
        <p:spPr>
          <a:xfrm>
            <a:off x="7498080" y="4471416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47857"/>
                </a:solidFill>
                <a:latin typeface="Pretendard"/>
                <a:ea typeface="Pretendard"/>
                <a:cs typeface="Pretendard"/>
              </a:rPr>
              <a:t>●</a:t>
            </a:r>
            <a:endParaRPr lang="en-US" sz="1400" dirty="0">
              <a:latin typeface="Pretendard"/>
              <a:ea typeface="Pretendard"/>
              <a:cs typeface="Pretendar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" cy="2926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3" name="Text 1"/>
          <p:cNvSpPr/>
          <p:nvPr/>
        </p:nvSpPr>
        <p:spPr>
          <a:xfrm>
            <a:off x="594360" y="38404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SECTION 02 · 솔루션 비전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검증 가능성, 또 하나의 품질</a:t>
            </a:r>
            <a:endParaRPr lang="en-US" sz="28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24358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Hybrid Travel Plan QA Engine</a:t>
            </a:r>
            <a:endParaRPr lang="en-US" sz="13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"실행 가능한가?"</a:t>
            </a:r>
            <a:endParaRPr lang="en-US" sz="26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7" name="Text 5"/>
          <p:cNvSpPr/>
          <p:nvPr/>
        </p:nvSpPr>
        <p:spPr>
          <a:xfrm>
            <a:off x="457200" y="233172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운영시간 · 이동시간 · 체류시간 · Depot 제약을 OR-Tools VRPTW로 결정적 판정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8" name="Text 6"/>
          <p:cNvSpPr/>
          <p:nvPr/>
        </p:nvSpPr>
        <p:spPr>
          <a:xfrm>
            <a:off x="457200" y="29260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"얼마나 좋은 일정인가?"</a:t>
            </a:r>
            <a:endParaRPr lang="en-US" sz="26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9" name="Text 7"/>
          <p:cNvSpPr/>
          <p:nvPr/>
        </p:nvSpPr>
        <p:spPr>
          <a:xfrm>
            <a:off x="457200" y="347472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이동 비율 · 동선 밀집도(M1—M4) · 테마 정합성 · 혼잡도 4종 패널티로 0–100 점수화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57200" y="40690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7293"/>
                </a:solidFill>
                <a:latin typeface="Pretendard"/>
                <a:ea typeface="Pretendard"/>
                <a:cs typeface="Pretendard"/>
              </a:rPr>
              <a:t>"왜 그렇게 판정했는가?"</a:t>
            </a:r>
            <a:endParaRPr lang="en-US" sz="26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532120" y="1783080"/>
            <a:ext cx="3154680" cy="2834640"/>
          </a:xfrm>
          <a:prstGeom prst="rect">
            <a:avLst/>
          </a:prstGeom>
          <a:solidFill>
            <a:srgbClr val="111827"/>
          </a:solidFill>
          <a:ln w="9525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715000" y="1920240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E0F2FE"/>
                </a:solidFill>
                <a:latin typeface="Pretendard"/>
                <a:ea typeface="Pretendard"/>
                <a:cs typeface="Pretendard"/>
              </a:rPr>
              <a:t>3-Layer Engine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715000" y="224028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VRPTW</a:t>
            </a:r>
            <a:endParaRPr lang="en-US" sz="2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715000" y="260604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Hard Fail · Warning 결정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715000" y="292608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Scoring 4종</a:t>
            </a:r>
            <a:endParaRPr lang="en-US" sz="2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715000" y="329184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Travel · Cluster · Theme · Congestion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5715000" y="361188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Claude LLM</a:t>
            </a:r>
            <a:endParaRPr lang="en-US" sz="2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5715000" y="397764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Fact–Rule–Risk–Suggestion 설명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57200" y="4846320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관광 일정 QA 엔진  ·  Explainable Travel Plan Validator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766560" y="484632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06 / 24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635240" y="4777740"/>
            <a:ext cx="118872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800" i="1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[ Brandlogy logo 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" cy="2926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3" name="Text 1"/>
          <p:cNvSpPr/>
          <p:nvPr/>
        </p:nvSpPr>
        <p:spPr>
          <a:xfrm>
            <a:off x="594360" y="38404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SECTION 02 · 솔루션 비전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End-to-End 파이프라인</a:t>
            </a:r>
            <a:endParaRPr lang="en-US" sz="28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24358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사용자 일정 입력 → 검증 → Risk Score + 설명까지</a:t>
            </a:r>
            <a:endParaRPr lang="en-US" sz="13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1554480" cy="109728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36576" cy="10972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8" name="Text 6"/>
          <p:cNvSpPr/>
          <p:nvPr/>
        </p:nvSpPr>
        <p:spPr>
          <a:xfrm>
            <a:off x="548640" y="1920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Pretendard"/>
                <a:ea typeface="Pretendard"/>
                <a:cs typeface="Pretendard"/>
              </a:rPr>
              <a:t>1. Input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9" name="Text 7"/>
          <p:cNvSpPr/>
          <p:nvPr/>
        </p:nvSpPr>
        <p:spPr>
          <a:xfrm>
            <a:off x="548640" y="224028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POI 이름 + 일자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0" name="Text 8"/>
          <p:cNvSpPr/>
          <p:nvPr/>
        </p:nvSpPr>
        <p:spPr>
          <a:xfrm>
            <a:off x="2011680" y="224028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→</a:t>
            </a:r>
            <a:endParaRPr lang="en-US" sz="14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2194560" y="1828800"/>
            <a:ext cx="1554480" cy="109728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2194560" y="1828800"/>
            <a:ext cx="36576" cy="10972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2286000" y="1920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Pretendard"/>
                <a:ea typeface="Pretendard"/>
                <a:cs typeface="Pretendard"/>
              </a:rPr>
              <a:t>2. Resolve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2286000" y="224028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TourAPI / Kakao 매칭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749040" y="224028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→</a:t>
            </a:r>
            <a:endParaRPr lang="en-US" sz="14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3931920" y="1828800"/>
            <a:ext cx="1554480" cy="109728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3931920" y="1828800"/>
            <a:ext cx="36576" cy="10972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023360" y="1920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3. Matrix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023360" y="224028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Kakao Mobility 이동시간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5486400" y="224028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→</a:t>
            </a:r>
            <a:endParaRPr lang="en-US" sz="14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5669280" y="1828800"/>
            <a:ext cx="1554480" cy="109728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5669280" y="1828800"/>
            <a:ext cx="36576" cy="10972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5760720" y="1920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4. Validate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5760720" y="224028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VRPTW 결정 (Hard/Warn)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7223760" y="224028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→</a:t>
            </a:r>
            <a:endParaRPr lang="en-US" sz="14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7406640" y="1828800"/>
            <a:ext cx="1554480" cy="109728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7406640" y="1828800"/>
            <a:ext cx="36576" cy="109728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7498080" y="1920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5. Score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7498080" y="224028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4 패널티 + Risk 0–100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457200" y="3246120"/>
            <a:ext cx="4023360" cy="141732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457200" y="3246120"/>
            <a:ext cx="36576" cy="141732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640080" y="33375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47857"/>
                </a:solidFill>
                <a:latin typeface="Pretendard"/>
                <a:ea typeface="Pretendard"/>
                <a:cs typeface="Pretendard"/>
              </a:rPr>
              <a:t>출력 ① — Final Risk Score</a:t>
            </a:r>
            <a:endParaRPr lang="en-US" sz="13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640080" y="3630168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• 0–100 점수 (PASS ≥ 60)</a:t>
            </a:r>
            <a:endParaRPr lang="en-US" sz="1100" dirty="0">
              <a:latin typeface="Pretendard"/>
              <a:ea typeface="Pretendard"/>
              <a:cs typeface="Pretendard"/>
            </a:endParaRPr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• Hard Fail Cap → 자동 ≤ 59</a:t>
            </a:r>
            <a:endParaRPr lang="en-US" sz="1100" dirty="0">
              <a:latin typeface="Pretendard"/>
              <a:ea typeface="Pretendard"/>
              <a:cs typeface="Pretendard"/>
            </a:endParaRPr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• 일별 누적 + 전체 합산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4663440" y="3246120"/>
            <a:ext cx="4023360" cy="141732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4663440" y="3246120"/>
            <a:ext cx="36576" cy="14173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4846320" y="33375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출력 ② — Evidence-based 설명</a:t>
            </a:r>
            <a:endParaRPr lang="en-US" sz="13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4846320" y="3630168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• Fact / Rule / Risk / Suggestion 4-튜플</a:t>
            </a:r>
            <a:endParaRPr lang="en-US" sz="1100" dirty="0">
              <a:latin typeface="Pretendard"/>
              <a:ea typeface="Pretendard"/>
              <a:cs typeface="Pretendard"/>
            </a:endParaRPr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• Claude Sonnet 4.6 + prompt caching</a:t>
            </a:r>
            <a:endParaRPr lang="en-US" sz="1100" dirty="0">
              <a:latin typeface="Pretendard"/>
              <a:ea typeface="Pretendard"/>
              <a:cs typeface="Pretendard"/>
            </a:endParaRPr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• JSON 강제 스키마 — 후처리 친화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457200" y="4846320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관광 일정 QA 엔진  ·  Explainable Travel Plan Validator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6766560" y="484632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07 / 24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7635240" y="4777740"/>
            <a:ext cx="118872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800" i="1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[ Brandlogy logo 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" cy="2926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3" name="Text 1"/>
          <p:cNvSpPr/>
          <p:nvPr/>
        </p:nvSpPr>
        <p:spPr>
          <a:xfrm>
            <a:off x="594360" y="38404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SECTION 03 · 기술적 차별점 — 1 / 5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VRPTW 엔진 — 일정을 "라우팅 문제"로 환원</a:t>
            </a:r>
            <a:endParaRPr lang="en-US" sz="28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24358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Vehicle Routing Problem with Time Windows</a:t>
            </a:r>
            <a:endParaRPr lang="en-US" sz="13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4114800" cy="278892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7" name="Text 5"/>
          <p:cNvSpPr/>
          <p:nvPr/>
        </p:nvSpPr>
        <p:spPr>
          <a:xfrm>
            <a:off x="640080" y="18745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문제 정의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8" name="Text 6"/>
          <p:cNvSpPr/>
          <p:nvPr/>
        </p:nvSpPr>
        <p:spPr>
          <a:xfrm>
            <a:off x="640080" y="219456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"하루 일정 = N개 정점 + 시간 창(time window) + 이동시간 행렬을 가진 단일-차량 경로 문제"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9" name="Text 7"/>
          <p:cNvSpPr/>
          <p:nvPr/>
        </p:nvSpPr>
        <p:spPr>
          <a:xfrm>
            <a:off x="640080" y="301752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입력 변수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40080" y="3291840"/>
            <a:ext cx="3749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•  open · close </a:t>
            </a:r>
            <a:r>
              <a:rPr lang="en-US" sz="10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각 POI 영업시간
</a:t>
            </a:r>
            <a:r>
              <a:rPr lang="en-US" sz="1100" b="1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•  dwell </a:t>
            </a:r>
            <a:r>
              <a:rPr lang="en-US" sz="10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권장 체류시간 (5단계 폴백)
</a:t>
            </a:r>
            <a:r>
              <a:rPr lang="en-US" sz="1100" b="1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•  T(i,j) </a:t>
            </a:r>
            <a:r>
              <a:rPr lang="en-US" sz="10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Kakao Mobility 실측 행렬
</a:t>
            </a:r>
            <a:r>
              <a:rPr lang="en-US" sz="1100" b="1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•  depot </a:t>
            </a:r>
            <a:r>
              <a:rPr lang="en-US" sz="10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숙소 (1박 이상 일정 한정)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754880" y="1783080"/>
            <a:ext cx="3931920" cy="2788920"/>
          </a:xfrm>
          <a:prstGeom prst="rect">
            <a:avLst/>
          </a:prstGeom>
          <a:solidFill>
            <a:srgbClr val="111827"/>
          </a:solidFill>
          <a:ln w="9525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937760" y="187452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0F2FE"/>
                </a:solidFill>
                <a:latin typeface="Pretendard"/>
                <a:ea typeface="Pretendard"/>
                <a:cs typeface="Pretendard"/>
              </a:rPr>
              <a:t>Solver  (Google OR-Tools)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57200" y="46177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Foundational Reference   </a:t>
            </a:r>
            <a:r>
              <a:rPr lang="en-US" sz="10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Solomon, M.M. (1987). "Algorithms for the Vehicle Routing and Scheduling Problems with Time Window Constraints."  </a:t>
            </a:r>
            <a:r>
              <a:rPr lang="en-US" sz="1000" i="1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Operations Research, 35(2): 254–265.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57200" y="4846320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관광 일정 QA 엔진  ·  Explainable Travel Plan Validator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766560" y="484632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08 / 24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635240" y="4777740"/>
            <a:ext cx="118872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800" i="1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[ Brandlogy logo ]</a:t>
            </a:r>
          </a:p>
        </p:txBody>
      </p:sp>
      <p:cxnSp>
        <p:nvCxnSpPr>
          <p:cNvPr id="18" name="Connector 17"/>
          <p:cNvCxnSpPr/>
          <p:nvPr/>
        </p:nvCxnSpPr>
        <p:spPr>
          <a:xfrm flipV="1">
            <a:off x="5349240" y="2331720"/>
            <a:ext cx="914400" cy="411480"/>
          </a:xfrm>
          <a:prstGeom prst="line">
            <a:avLst/>
          </a:prstGeom>
          <a:ln w="19050">
            <a:solidFill>
              <a:srgbClr val="1057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263640" y="2331720"/>
            <a:ext cx="1005840" cy="502920"/>
          </a:xfrm>
          <a:prstGeom prst="line">
            <a:avLst/>
          </a:prstGeom>
          <a:ln w="19050">
            <a:solidFill>
              <a:srgbClr val="1057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7269480" y="2606040"/>
            <a:ext cx="822960" cy="228600"/>
          </a:xfrm>
          <a:prstGeom prst="line">
            <a:avLst/>
          </a:prstGeom>
          <a:ln w="19050">
            <a:solidFill>
              <a:srgbClr val="1057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6583680" y="2606040"/>
            <a:ext cx="1508760" cy="731520"/>
          </a:xfrm>
          <a:prstGeom prst="line">
            <a:avLst/>
          </a:prstGeom>
          <a:ln w="19050">
            <a:solidFill>
              <a:srgbClr val="1057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349240" y="2743200"/>
            <a:ext cx="1920240" cy="91440"/>
          </a:xfrm>
          <a:prstGeom prst="line">
            <a:avLst/>
          </a:prstGeom>
          <a:ln w="6350">
            <a:solidFill>
              <a:srgbClr val="D1D5D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5349240" y="2606040"/>
            <a:ext cx="2743200" cy="137160"/>
          </a:xfrm>
          <a:prstGeom prst="line">
            <a:avLst/>
          </a:prstGeom>
          <a:ln w="6350">
            <a:solidFill>
              <a:srgbClr val="D1D5D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263640" y="2331720"/>
            <a:ext cx="1828800" cy="274320"/>
          </a:xfrm>
          <a:prstGeom prst="line">
            <a:avLst/>
          </a:prstGeom>
          <a:ln w="6350">
            <a:solidFill>
              <a:srgbClr val="D1D5D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6263640" y="2331720"/>
            <a:ext cx="320040" cy="1005840"/>
          </a:xfrm>
          <a:prstGeom prst="line">
            <a:avLst/>
          </a:prstGeom>
          <a:ln w="6350">
            <a:solidFill>
              <a:srgbClr val="D1D5D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6583680" y="2834640"/>
            <a:ext cx="685800" cy="502920"/>
          </a:xfrm>
          <a:prstGeom prst="line">
            <a:avLst/>
          </a:prstGeom>
          <a:ln w="6350">
            <a:solidFill>
              <a:srgbClr val="D1D5D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5202936" y="2596896"/>
            <a:ext cx="292608" cy="292608"/>
          </a:xfrm>
          <a:prstGeom prst="ellipse">
            <a:avLst/>
          </a:prstGeom>
          <a:solidFill>
            <a:srgbClr val="10579D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202936" y="2651760"/>
            <a:ext cx="292608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A</a:t>
            </a:r>
          </a:p>
        </p:txBody>
      </p:sp>
      <p:sp>
        <p:nvSpPr>
          <p:cNvPr id="29" name="Oval 28"/>
          <p:cNvSpPr/>
          <p:nvPr/>
        </p:nvSpPr>
        <p:spPr>
          <a:xfrm>
            <a:off x="6117336" y="2185415"/>
            <a:ext cx="292608" cy="292608"/>
          </a:xfrm>
          <a:prstGeom prst="ellipse">
            <a:avLst/>
          </a:prstGeom>
          <a:solidFill>
            <a:srgbClr val="10579D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117336" y="2240279"/>
            <a:ext cx="292608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B</a:t>
            </a:r>
          </a:p>
        </p:txBody>
      </p:sp>
      <p:sp>
        <p:nvSpPr>
          <p:cNvPr id="31" name="Oval 30"/>
          <p:cNvSpPr/>
          <p:nvPr/>
        </p:nvSpPr>
        <p:spPr>
          <a:xfrm>
            <a:off x="7123176" y="2688336"/>
            <a:ext cx="292608" cy="292608"/>
          </a:xfrm>
          <a:prstGeom prst="ellipse">
            <a:avLst/>
          </a:prstGeom>
          <a:solidFill>
            <a:srgbClr val="10579D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123176" y="2743200"/>
            <a:ext cx="292608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C</a:t>
            </a:r>
          </a:p>
        </p:txBody>
      </p:sp>
      <p:sp>
        <p:nvSpPr>
          <p:cNvPr id="33" name="Oval 32"/>
          <p:cNvSpPr/>
          <p:nvPr/>
        </p:nvSpPr>
        <p:spPr>
          <a:xfrm>
            <a:off x="7946136" y="2459736"/>
            <a:ext cx="292608" cy="292608"/>
          </a:xfrm>
          <a:prstGeom prst="ellipse">
            <a:avLst/>
          </a:prstGeom>
          <a:solidFill>
            <a:srgbClr val="10579D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946136" y="2514600"/>
            <a:ext cx="292608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D</a:t>
            </a:r>
          </a:p>
        </p:txBody>
      </p:sp>
      <p:sp>
        <p:nvSpPr>
          <p:cNvPr id="35" name="Oval 34"/>
          <p:cNvSpPr/>
          <p:nvPr/>
        </p:nvSpPr>
        <p:spPr>
          <a:xfrm>
            <a:off x="6437376" y="3191256"/>
            <a:ext cx="292608" cy="292608"/>
          </a:xfrm>
          <a:prstGeom prst="ellipse">
            <a:avLst/>
          </a:prstGeom>
          <a:solidFill>
            <a:srgbClr val="10579D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437376" y="3246120"/>
            <a:ext cx="292608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37760" y="3703320"/>
            <a:ext cx="361188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0" i="1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정점 = POI    엣지 = Kakao 이동시간    실선 = 결정된 경로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74920" y="3950208"/>
            <a:ext cx="3337560" cy="164592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5241798" y="3968496"/>
            <a:ext cx="433882" cy="128016"/>
          </a:xfrm>
          <a:prstGeom prst="rect">
            <a:avLst/>
          </a:prstGeom>
          <a:solidFill>
            <a:srgbClr val="105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5809183" y="3968496"/>
            <a:ext cx="333756" cy="128016"/>
          </a:xfrm>
          <a:prstGeom prst="rect">
            <a:avLst/>
          </a:prstGeom>
          <a:solidFill>
            <a:srgbClr val="105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6409944" y="3968496"/>
            <a:ext cx="267004" cy="128016"/>
          </a:xfrm>
          <a:prstGeom prst="rect">
            <a:avLst/>
          </a:prstGeom>
          <a:solidFill>
            <a:srgbClr val="105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7010704" y="3968496"/>
            <a:ext cx="667512" cy="128016"/>
          </a:xfrm>
          <a:prstGeom prst="rect">
            <a:avLst/>
          </a:prstGeom>
          <a:solidFill>
            <a:srgbClr val="105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7911846" y="3968496"/>
            <a:ext cx="333755" cy="128016"/>
          </a:xfrm>
          <a:prstGeom prst="rect">
            <a:avLst/>
          </a:prstGeom>
          <a:solidFill>
            <a:srgbClr val="105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937760" y="4133088"/>
            <a:ext cx="361188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0" i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각 POI의 영업시간 = time window 제약    06:00 ────────────── 22:00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" cy="2926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3" name="Text 1"/>
          <p:cNvSpPr/>
          <p:nvPr/>
        </p:nvSpPr>
        <p:spPr>
          <a:xfrm>
            <a:off x="594360" y="38404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SECTION 03 · 기술적 차별점 — 1 / 5 · DEPOT 제약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다일 일정의 "숙소 닻" 제약</a:t>
            </a:r>
            <a:endParaRPr lang="en-US" sz="28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24358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Depot Constraint — 1일차 종료 / 마지막 날 시작 = 숙소</a:t>
            </a:r>
            <a:endParaRPr lang="en-US" sz="13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8229600" cy="54864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36576" cy="548640"/>
          </a:xfrm>
          <a:prstGeom prst="rect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8" name="Text 6"/>
          <p:cNvSpPr/>
          <p:nvPr/>
        </p:nvSpPr>
        <p:spPr>
          <a:xfrm>
            <a:off x="640080" y="190195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당일치기 (1day)</a:t>
            </a:r>
            <a:endParaRPr lang="en-US" sz="13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9" name="Text 7"/>
          <p:cNvSpPr/>
          <p:nvPr/>
        </p:nvSpPr>
        <p:spPr>
          <a:xfrm>
            <a:off x="2560320" y="1901952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시작: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0" name="Text 8"/>
          <p:cNvSpPr/>
          <p:nvPr/>
        </p:nvSpPr>
        <p:spPr>
          <a:xfrm>
            <a:off x="2971800" y="1901952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자유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434840" y="1901952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종료: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846320" y="190195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자유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400800" y="1901952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Depot 제약 면제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57200" y="2423160"/>
            <a:ext cx="8229600" cy="54864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57200" y="2423160"/>
            <a:ext cx="36576" cy="5486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40080" y="254203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1일차</a:t>
            </a:r>
            <a:endParaRPr lang="en-US" sz="13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2560320" y="2542032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시작: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2971800" y="2542032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자유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434840" y="2542032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종료: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846320" y="254203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Pretendard"/>
                <a:ea typeface="Pretendard"/>
                <a:cs typeface="Pretendard"/>
              </a:rPr>
              <a:t>🏨 숙소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400800" y="2542032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1일차 → 마지막 정점 = 숙소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57200" y="3063240"/>
            <a:ext cx="8229600" cy="54864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457200" y="3063240"/>
            <a:ext cx="36576" cy="5486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40080" y="318211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중간 일자 (2 ~ N-1일)</a:t>
            </a:r>
            <a:endParaRPr lang="en-US" sz="13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2560320" y="3182112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시작: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2971800" y="3182112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🏨 숙소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4434840" y="3182112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종료: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4846320" y="318211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🏨 숙소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6400800" y="3182112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양쪽 모두 숙소 강제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457200" y="3703320"/>
            <a:ext cx="8229600" cy="54864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457200" y="3703320"/>
            <a:ext cx="36576" cy="5486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640080" y="382219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마지막 일</a:t>
            </a:r>
            <a:endParaRPr lang="en-US" sz="13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2560320" y="3822192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시작: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2971800" y="3822192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🏨 숙소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4434840" y="3822192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종료: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4846320" y="382219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자유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6400800" y="3822192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마지막 날 → 첫 정점 = 숙소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457200" y="45720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91C1C"/>
                </a:solidFill>
                <a:latin typeface="Pretendard"/>
                <a:ea typeface="Pretendard"/>
                <a:cs typeface="Pretendard"/>
              </a:rPr>
              <a:t>위반 시  </a:t>
            </a:r>
            <a:r>
              <a:rPr lang="en-US" sz="10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rule = depot_constraint, risk = CRITICAL → Hard Fail Cap 적용으로 final_risk_score ≤ 59 처리.  </a:t>
            </a:r>
            <a:r>
              <a:rPr lang="en-US" sz="900" i="1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(코드 참고:  src/validation/vrptw_engine.py:_check_depot_constraints)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457200" y="4846320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관광 일정 QA 엔진  ·  Explainable Travel Plan Validator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6766560" y="484632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09 / 24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7635240" y="4777740"/>
            <a:ext cx="118872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800" i="1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[ Brandlogy logo 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" cy="2926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3" name="Text 1"/>
          <p:cNvSpPr/>
          <p:nvPr/>
        </p:nvSpPr>
        <p:spPr>
          <a:xfrm>
            <a:off x="594360" y="38404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SECTION 03 · 기술적 차별점 — 2 / 5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8개 패널티 매트릭스</a:t>
            </a:r>
            <a:endParaRPr lang="en-US" sz="28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24358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Hard Fail vs Warning vs Score Penalty 명시 분류</a:t>
            </a:r>
            <a:endParaRPr lang="en-US" sz="13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1828800" cy="29260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요구사항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8" name="Shape 6"/>
          <p:cNvSpPr/>
          <p:nvPr/>
        </p:nvSpPr>
        <p:spPr>
          <a:xfrm>
            <a:off x="2286000" y="1783080"/>
            <a:ext cx="1737360" cy="29260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9" name="Text 7"/>
          <p:cNvSpPr/>
          <p:nvPr/>
        </p:nvSpPr>
        <p:spPr>
          <a:xfrm>
            <a:off x="2286000" y="178308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구현 모듈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023360" y="1783080"/>
            <a:ext cx="1188720" cy="29260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023360" y="178308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Hard Fail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212080" y="1783080"/>
            <a:ext cx="1188720" cy="29260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212080" y="178308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Warning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400800" y="1783080"/>
            <a:ext cx="1188720" cy="29260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400800" y="178308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Penalty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7589520" y="1783080"/>
            <a:ext cx="1097280" cy="29260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589520" y="178308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구현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57200" y="2075688"/>
            <a:ext cx="1828800" cy="292608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57200" y="207568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① 영업시간 준수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2286000" y="2075688"/>
            <a:ext cx="1737360" cy="292608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2286000" y="207568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C7293"/>
                </a:solidFill>
                <a:latin typeface="Pretendard"/>
                <a:ea typeface="Pretendard"/>
                <a:cs typeface="Pretendard"/>
              </a:rPr>
              <a:t>vrptw_engine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023360" y="2075688"/>
            <a:ext cx="1188720" cy="292608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4023360" y="207568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91C1C"/>
                </a:solidFill>
                <a:latin typeface="Pretendard"/>
                <a:ea typeface="Pretendard"/>
                <a:cs typeface="Pretendard"/>
              </a:rPr>
              <a:t>●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5212080" y="2075688"/>
            <a:ext cx="1188720" cy="292608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5212080" y="207568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—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6400800" y="2075688"/>
            <a:ext cx="1188720" cy="292608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400800" y="207568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—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7589520" y="2075688"/>
            <a:ext cx="1097280" cy="292608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7589520" y="207568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47857"/>
                </a:solidFill>
                <a:latin typeface="Pretendard"/>
                <a:ea typeface="Pretendard"/>
                <a:cs typeface="Pretendard"/>
              </a:rPr>
              <a:t>✓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457200" y="2368296"/>
            <a:ext cx="182880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457200" y="236829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② 이동시간 현실성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2286000" y="2368296"/>
            <a:ext cx="173736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2286000" y="2368296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C7293"/>
                </a:solidFill>
                <a:latin typeface="Pretendard"/>
                <a:ea typeface="Pretendard"/>
                <a:cs typeface="Pretendard"/>
              </a:rPr>
              <a:t>kakao_matrix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4023360" y="2368296"/>
            <a:ext cx="118872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4023360" y="2368296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—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5212080" y="2368296"/>
            <a:ext cx="118872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5212080" y="2368296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91C1C"/>
                </a:solidFill>
                <a:latin typeface="Pretendard"/>
                <a:ea typeface="Pretendard"/>
                <a:cs typeface="Pretendard"/>
              </a:rPr>
              <a:t>●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6400800" y="2368296"/>
            <a:ext cx="118872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6400800" y="2368296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—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7589520" y="2368296"/>
            <a:ext cx="109728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7589520" y="2368296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47857"/>
                </a:solidFill>
                <a:latin typeface="Pretendard"/>
                <a:ea typeface="Pretendard"/>
                <a:cs typeface="Pretendard"/>
              </a:rPr>
              <a:t>✓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457200" y="2660904"/>
            <a:ext cx="1828800" cy="292608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457200" y="266090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③ 권장 체류시간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2286000" y="2660904"/>
            <a:ext cx="1737360" cy="292608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2286000" y="2660904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C7293"/>
                </a:solidFill>
                <a:latin typeface="Pretendard"/>
                <a:ea typeface="Pretendard"/>
                <a:cs typeface="Pretendard"/>
              </a:rPr>
              <a:t>data/dwell_db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4023360" y="2660904"/>
            <a:ext cx="1188720" cy="292608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4023360" y="2660904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—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5212080" y="2660904"/>
            <a:ext cx="1188720" cy="292608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5212080" y="2660904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91C1C"/>
                </a:solidFill>
                <a:latin typeface="Pretendard"/>
                <a:ea typeface="Pretendard"/>
                <a:cs typeface="Pretendard"/>
              </a:rPr>
              <a:t>●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6400800" y="2660904"/>
            <a:ext cx="1188720" cy="292608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6400800" y="2660904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—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52" name="Shape 50"/>
          <p:cNvSpPr/>
          <p:nvPr/>
        </p:nvSpPr>
        <p:spPr>
          <a:xfrm>
            <a:off x="7589520" y="2660904"/>
            <a:ext cx="1097280" cy="292608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7589520" y="266090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47857"/>
                </a:solidFill>
                <a:latin typeface="Pretendard"/>
                <a:ea typeface="Pretendard"/>
                <a:cs typeface="Pretendard"/>
              </a:rPr>
              <a:t>✓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54" name="Shape 52"/>
          <p:cNvSpPr/>
          <p:nvPr/>
        </p:nvSpPr>
        <p:spPr>
          <a:xfrm>
            <a:off x="457200" y="2953512"/>
            <a:ext cx="182880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55" name="Text 53"/>
          <p:cNvSpPr/>
          <p:nvPr/>
        </p:nvSpPr>
        <p:spPr>
          <a:xfrm>
            <a:off x="457200" y="295351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④ 이동 vs 관광 비율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56" name="Shape 54"/>
          <p:cNvSpPr/>
          <p:nvPr/>
        </p:nvSpPr>
        <p:spPr>
          <a:xfrm>
            <a:off x="2286000" y="2953512"/>
            <a:ext cx="173736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57" name="Text 55"/>
          <p:cNvSpPr/>
          <p:nvPr/>
        </p:nvSpPr>
        <p:spPr>
          <a:xfrm>
            <a:off x="2286000" y="295351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C7293"/>
                </a:solidFill>
                <a:latin typeface="Pretendard"/>
                <a:ea typeface="Pretendard"/>
                <a:cs typeface="Pretendard"/>
              </a:rPr>
              <a:t>scoring/travel_ratio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58" name="Shape 56"/>
          <p:cNvSpPr/>
          <p:nvPr/>
        </p:nvSpPr>
        <p:spPr>
          <a:xfrm>
            <a:off x="4023360" y="2953512"/>
            <a:ext cx="118872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59" name="Text 57"/>
          <p:cNvSpPr/>
          <p:nvPr/>
        </p:nvSpPr>
        <p:spPr>
          <a:xfrm>
            <a:off x="4023360" y="295351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—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60" name="Shape 58"/>
          <p:cNvSpPr/>
          <p:nvPr/>
        </p:nvSpPr>
        <p:spPr>
          <a:xfrm>
            <a:off x="5212080" y="2953512"/>
            <a:ext cx="118872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61" name="Text 59"/>
          <p:cNvSpPr/>
          <p:nvPr/>
        </p:nvSpPr>
        <p:spPr>
          <a:xfrm>
            <a:off x="5212080" y="295351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—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62" name="Shape 60"/>
          <p:cNvSpPr/>
          <p:nvPr/>
        </p:nvSpPr>
        <p:spPr>
          <a:xfrm>
            <a:off x="6400800" y="2953512"/>
            <a:ext cx="118872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63" name="Text 61"/>
          <p:cNvSpPr/>
          <p:nvPr/>
        </p:nvSpPr>
        <p:spPr>
          <a:xfrm>
            <a:off x="6400800" y="295351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▲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64" name="Shape 62"/>
          <p:cNvSpPr/>
          <p:nvPr/>
        </p:nvSpPr>
        <p:spPr>
          <a:xfrm>
            <a:off x="7589520" y="2953512"/>
            <a:ext cx="109728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65" name="Text 63"/>
          <p:cNvSpPr/>
          <p:nvPr/>
        </p:nvSpPr>
        <p:spPr>
          <a:xfrm>
            <a:off x="7589520" y="295351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47857"/>
                </a:solidFill>
                <a:latin typeface="Pretendard"/>
                <a:ea typeface="Pretendard"/>
                <a:cs typeface="Pretendard"/>
              </a:rPr>
              <a:t>✓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66" name="Shape 64"/>
          <p:cNvSpPr/>
          <p:nvPr/>
        </p:nvSpPr>
        <p:spPr>
          <a:xfrm>
            <a:off x="457200" y="3246120"/>
            <a:ext cx="1828800" cy="292608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67" name="Text 65"/>
          <p:cNvSpPr/>
          <p:nvPr/>
        </p:nvSpPr>
        <p:spPr>
          <a:xfrm>
            <a:off x="457200" y="32461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⑤ 일별 동선 밀집도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68" name="Shape 66"/>
          <p:cNvSpPr/>
          <p:nvPr/>
        </p:nvSpPr>
        <p:spPr>
          <a:xfrm>
            <a:off x="2286000" y="3246120"/>
            <a:ext cx="1737360" cy="292608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69" name="Text 67"/>
          <p:cNvSpPr/>
          <p:nvPr/>
        </p:nvSpPr>
        <p:spPr>
          <a:xfrm>
            <a:off x="2286000" y="324612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C7293"/>
                </a:solidFill>
                <a:latin typeface="Pretendard"/>
                <a:ea typeface="Pretendard"/>
                <a:cs typeface="Pretendard"/>
              </a:rPr>
              <a:t>scoring/cluster_dispersion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70" name="Shape 68"/>
          <p:cNvSpPr/>
          <p:nvPr/>
        </p:nvSpPr>
        <p:spPr>
          <a:xfrm>
            <a:off x="4023360" y="3246120"/>
            <a:ext cx="1188720" cy="292608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71" name="Text 69"/>
          <p:cNvSpPr/>
          <p:nvPr/>
        </p:nvSpPr>
        <p:spPr>
          <a:xfrm>
            <a:off x="4023360" y="324612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—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72" name="Shape 70"/>
          <p:cNvSpPr/>
          <p:nvPr/>
        </p:nvSpPr>
        <p:spPr>
          <a:xfrm>
            <a:off x="5212080" y="3246120"/>
            <a:ext cx="1188720" cy="292608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73" name="Text 71"/>
          <p:cNvSpPr/>
          <p:nvPr/>
        </p:nvSpPr>
        <p:spPr>
          <a:xfrm>
            <a:off x="5212080" y="324612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—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74" name="Shape 72"/>
          <p:cNvSpPr/>
          <p:nvPr/>
        </p:nvSpPr>
        <p:spPr>
          <a:xfrm>
            <a:off x="6400800" y="3246120"/>
            <a:ext cx="1188720" cy="292608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75" name="Text 73"/>
          <p:cNvSpPr/>
          <p:nvPr/>
        </p:nvSpPr>
        <p:spPr>
          <a:xfrm>
            <a:off x="6400800" y="324612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▲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76" name="Shape 74"/>
          <p:cNvSpPr/>
          <p:nvPr/>
        </p:nvSpPr>
        <p:spPr>
          <a:xfrm>
            <a:off x="7589520" y="3246120"/>
            <a:ext cx="1097280" cy="292608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77" name="Text 75"/>
          <p:cNvSpPr/>
          <p:nvPr/>
        </p:nvSpPr>
        <p:spPr>
          <a:xfrm>
            <a:off x="7589520" y="324612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47857"/>
                </a:solidFill>
                <a:latin typeface="Pretendard"/>
                <a:ea typeface="Pretendard"/>
                <a:cs typeface="Pretendard"/>
              </a:rPr>
              <a:t>✓ M1–M4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78" name="Shape 76"/>
          <p:cNvSpPr/>
          <p:nvPr/>
        </p:nvSpPr>
        <p:spPr>
          <a:xfrm>
            <a:off x="457200" y="3538728"/>
            <a:ext cx="182880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79" name="Text 77"/>
          <p:cNvSpPr/>
          <p:nvPr/>
        </p:nvSpPr>
        <p:spPr>
          <a:xfrm>
            <a:off x="457200" y="353872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⑥ 테마 정합성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80" name="Shape 78"/>
          <p:cNvSpPr/>
          <p:nvPr/>
        </p:nvSpPr>
        <p:spPr>
          <a:xfrm>
            <a:off x="2286000" y="3538728"/>
            <a:ext cx="173736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81" name="Text 79"/>
          <p:cNvSpPr/>
          <p:nvPr/>
        </p:nvSpPr>
        <p:spPr>
          <a:xfrm>
            <a:off x="2286000" y="353872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C7293"/>
                </a:solidFill>
                <a:latin typeface="Pretendard"/>
                <a:ea typeface="Pretendard"/>
                <a:cs typeface="Pretendard"/>
              </a:rPr>
              <a:t>scoring/theme_alignment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82" name="Shape 80"/>
          <p:cNvSpPr/>
          <p:nvPr/>
        </p:nvSpPr>
        <p:spPr>
          <a:xfrm>
            <a:off x="4023360" y="3538728"/>
            <a:ext cx="118872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83" name="Text 81"/>
          <p:cNvSpPr/>
          <p:nvPr/>
        </p:nvSpPr>
        <p:spPr>
          <a:xfrm>
            <a:off x="4023360" y="353872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—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84" name="Shape 82"/>
          <p:cNvSpPr/>
          <p:nvPr/>
        </p:nvSpPr>
        <p:spPr>
          <a:xfrm>
            <a:off x="5212080" y="3538728"/>
            <a:ext cx="118872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85" name="Text 83"/>
          <p:cNvSpPr/>
          <p:nvPr/>
        </p:nvSpPr>
        <p:spPr>
          <a:xfrm>
            <a:off x="5212080" y="353872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—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86" name="Shape 84"/>
          <p:cNvSpPr/>
          <p:nvPr/>
        </p:nvSpPr>
        <p:spPr>
          <a:xfrm>
            <a:off x="6400800" y="3538728"/>
            <a:ext cx="118872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87" name="Text 85"/>
          <p:cNvSpPr/>
          <p:nvPr/>
        </p:nvSpPr>
        <p:spPr>
          <a:xfrm>
            <a:off x="6400800" y="353872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▲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88" name="Shape 86"/>
          <p:cNvSpPr/>
          <p:nvPr/>
        </p:nvSpPr>
        <p:spPr>
          <a:xfrm>
            <a:off x="7589520" y="3538728"/>
            <a:ext cx="109728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89" name="Text 87"/>
          <p:cNvSpPr/>
          <p:nvPr/>
        </p:nvSpPr>
        <p:spPr>
          <a:xfrm>
            <a:off x="7589520" y="353872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47857"/>
                </a:solidFill>
                <a:latin typeface="Pretendard"/>
                <a:ea typeface="Pretendard"/>
                <a:cs typeface="Pretendard"/>
              </a:rPr>
              <a:t>✓ LLM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90" name="Shape 88"/>
          <p:cNvSpPr/>
          <p:nvPr/>
        </p:nvSpPr>
        <p:spPr>
          <a:xfrm>
            <a:off x="457200" y="3831336"/>
            <a:ext cx="1828800" cy="292608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91" name="Text 89"/>
          <p:cNvSpPr/>
          <p:nvPr/>
        </p:nvSpPr>
        <p:spPr>
          <a:xfrm>
            <a:off x="457200" y="383133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⑦ 혼잡도 — 서울 실시간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92" name="Shape 90"/>
          <p:cNvSpPr/>
          <p:nvPr/>
        </p:nvSpPr>
        <p:spPr>
          <a:xfrm>
            <a:off x="2286000" y="3831336"/>
            <a:ext cx="1737360" cy="292608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93" name="Text 91"/>
          <p:cNvSpPr/>
          <p:nvPr/>
        </p:nvSpPr>
        <p:spPr>
          <a:xfrm>
            <a:off x="2286000" y="3831336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C7293"/>
                </a:solidFill>
                <a:latin typeface="Pretendard"/>
                <a:ea typeface="Pretendard"/>
                <a:cs typeface="Pretendard"/>
              </a:rPr>
              <a:t>data/seoul_citydata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94" name="Shape 92"/>
          <p:cNvSpPr/>
          <p:nvPr/>
        </p:nvSpPr>
        <p:spPr>
          <a:xfrm>
            <a:off x="4023360" y="3831336"/>
            <a:ext cx="1188720" cy="292608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95" name="Text 93"/>
          <p:cNvSpPr/>
          <p:nvPr/>
        </p:nvSpPr>
        <p:spPr>
          <a:xfrm>
            <a:off x="4023360" y="3831336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—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96" name="Shape 94"/>
          <p:cNvSpPr/>
          <p:nvPr/>
        </p:nvSpPr>
        <p:spPr>
          <a:xfrm>
            <a:off x="5212080" y="3831336"/>
            <a:ext cx="1188720" cy="292608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97" name="Text 95"/>
          <p:cNvSpPr/>
          <p:nvPr/>
        </p:nvSpPr>
        <p:spPr>
          <a:xfrm>
            <a:off x="5212080" y="3831336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—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98" name="Shape 96"/>
          <p:cNvSpPr/>
          <p:nvPr/>
        </p:nvSpPr>
        <p:spPr>
          <a:xfrm>
            <a:off x="6400800" y="3831336"/>
            <a:ext cx="1188720" cy="292608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99" name="Text 97"/>
          <p:cNvSpPr/>
          <p:nvPr/>
        </p:nvSpPr>
        <p:spPr>
          <a:xfrm>
            <a:off x="6400800" y="3831336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▲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00" name="Shape 98"/>
          <p:cNvSpPr/>
          <p:nvPr/>
        </p:nvSpPr>
        <p:spPr>
          <a:xfrm>
            <a:off x="7589520" y="3831336"/>
            <a:ext cx="1097280" cy="292608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101" name="Text 99"/>
          <p:cNvSpPr/>
          <p:nvPr/>
        </p:nvSpPr>
        <p:spPr>
          <a:xfrm>
            <a:off x="7589520" y="3831336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47857"/>
                </a:solidFill>
                <a:latin typeface="Pretendard"/>
                <a:ea typeface="Pretendard"/>
                <a:cs typeface="Pretendard"/>
              </a:rPr>
              <a:t>✓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02" name="Shape 100"/>
          <p:cNvSpPr/>
          <p:nvPr/>
        </p:nvSpPr>
        <p:spPr>
          <a:xfrm>
            <a:off x="457200" y="4123944"/>
            <a:ext cx="182880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103" name="Text 101"/>
          <p:cNvSpPr/>
          <p:nvPr/>
        </p:nvSpPr>
        <p:spPr>
          <a:xfrm>
            <a:off x="457200" y="412394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⑧ 혼잡도 — 전국 계절성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04" name="Shape 102"/>
          <p:cNvSpPr/>
          <p:nvPr/>
        </p:nvSpPr>
        <p:spPr>
          <a:xfrm>
            <a:off x="2286000" y="4123944"/>
            <a:ext cx="173736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105" name="Text 103"/>
          <p:cNvSpPr/>
          <p:nvPr/>
        </p:nvSpPr>
        <p:spPr>
          <a:xfrm>
            <a:off x="2286000" y="4123944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C7293"/>
                </a:solidFill>
                <a:latin typeface="Pretendard"/>
                <a:ea typeface="Pretendard"/>
                <a:cs typeface="Pretendard"/>
              </a:rPr>
              <a:t>scoring/congestion_engine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06" name="Shape 104"/>
          <p:cNvSpPr/>
          <p:nvPr/>
        </p:nvSpPr>
        <p:spPr>
          <a:xfrm>
            <a:off x="4023360" y="4123944"/>
            <a:ext cx="118872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107" name="Text 105"/>
          <p:cNvSpPr/>
          <p:nvPr/>
        </p:nvSpPr>
        <p:spPr>
          <a:xfrm>
            <a:off x="4023360" y="4123944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—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08" name="Shape 106"/>
          <p:cNvSpPr/>
          <p:nvPr/>
        </p:nvSpPr>
        <p:spPr>
          <a:xfrm>
            <a:off x="5212080" y="4123944"/>
            <a:ext cx="118872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109" name="Text 107"/>
          <p:cNvSpPr/>
          <p:nvPr/>
        </p:nvSpPr>
        <p:spPr>
          <a:xfrm>
            <a:off x="5212080" y="4123944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—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10" name="Shape 108"/>
          <p:cNvSpPr/>
          <p:nvPr/>
        </p:nvSpPr>
        <p:spPr>
          <a:xfrm>
            <a:off x="6400800" y="4123944"/>
            <a:ext cx="118872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111" name="Text 109"/>
          <p:cNvSpPr/>
          <p:nvPr/>
        </p:nvSpPr>
        <p:spPr>
          <a:xfrm>
            <a:off x="6400800" y="4123944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▲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12" name="Shape 110"/>
          <p:cNvSpPr/>
          <p:nvPr/>
        </p:nvSpPr>
        <p:spPr>
          <a:xfrm>
            <a:off x="7589520" y="4123944"/>
            <a:ext cx="109728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113" name="Text 111"/>
          <p:cNvSpPr/>
          <p:nvPr/>
        </p:nvSpPr>
        <p:spPr>
          <a:xfrm>
            <a:off x="7589520" y="412394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47857"/>
                </a:solidFill>
                <a:latin typeface="Pretendard"/>
                <a:ea typeface="Pretendard"/>
                <a:cs typeface="Pretendard"/>
              </a:rPr>
              <a:t>✓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14" name="Text 112"/>
          <p:cNvSpPr/>
          <p:nvPr/>
        </p:nvSpPr>
        <p:spPr>
          <a:xfrm>
            <a:off x="457200" y="459943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91C1C"/>
                </a:solidFill>
                <a:latin typeface="Pretendard"/>
                <a:ea typeface="Pretendard"/>
                <a:cs typeface="Pretendard"/>
              </a:rPr>
              <a:t>●  </a:t>
            </a:r>
            <a:r>
              <a:rPr lang="en-US" sz="10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Hard Fail (final ≤ 59)     </a:t>
            </a:r>
            <a:r>
              <a:rPr lang="en-US" sz="1000" b="1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▲  </a:t>
            </a:r>
            <a:r>
              <a:rPr lang="en-US" sz="10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Score Penalty (감점)     </a:t>
            </a:r>
            <a:r>
              <a:rPr lang="en-US" sz="10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—   해당 없음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15" name="Text 113"/>
          <p:cNvSpPr/>
          <p:nvPr/>
        </p:nvSpPr>
        <p:spPr>
          <a:xfrm>
            <a:off x="457200" y="4846320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관광 일정 QA 엔진  ·  Explainable Travel Plan Validator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16" name="Text 114"/>
          <p:cNvSpPr/>
          <p:nvPr/>
        </p:nvSpPr>
        <p:spPr>
          <a:xfrm>
            <a:off x="6766560" y="484632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10 / 24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17" name="TextBox 116"/>
          <p:cNvSpPr txBox="1"/>
          <p:nvPr/>
        </p:nvSpPr>
        <p:spPr>
          <a:xfrm>
            <a:off x="7635240" y="4777740"/>
            <a:ext cx="118872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800" i="1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[ Brandlogy logo 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" cy="2926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3" name="Text 1"/>
          <p:cNvSpPr/>
          <p:nvPr/>
        </p:nvSpPr>
        <p:spPr>
          <a:xfrm>
            <a:off x="594360" y="38404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SECTION 03 · 기술적 차별점 — 3 / 5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역방향 이동 · 지오 백트래킹 탐지</a:t>
            </a:r>
            <a:endParaRPr lang="en-US" sz="28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24358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DBSCAN(eps = 2 km, haversine) 기반 동선 응집도 평가</a:t>
            </a:r>
            <a:endParaRPr lang="en-US" sz="13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4114800" cy="137160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36576" cy="13716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8" name="Text 6"/>
          <p:cNvSpPr/>
          <p:nvPr/>
        </p:nvSpPr>
        <p:spPr>
          <a:xfrm>
            <a:off x="640080" y="18745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일별(per-day) 4 metric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9" name="Text 7"/>
          <p:cNvSpPr/>
          <p:nvPr/>
        </p:nvSpPr>
        <p:spPr>
          <a:xfrm>
            <a:off x="640080" y="2176272"/>
            <a:ext cx="3749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M1  </a:t>
            </a:r>
            <a:r>
              <a:rPr lang="en-US" sz="10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시군구 전환 횟수
</a:t>
            </a:r>
            <a:r>
              <a:rPr lang="en-US" sz="11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M2  </a:t>
            </a:r>
            <a:r>
              <a:rPr lang="en-US" sz="10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최대 두 장소 간 직선거리
</a:t>
            </a:r>
            <a:r>
              <a:rPr lang="en-US" sz="11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M3  </a:t>
            </a:r>
            <a:r>
              <a:rPr lang="en-US" sz="10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시군구 재방문 (행정 단위)
</a:t>
            </a:r>
            <a:r>
              <a:rPr lang="en-US" sz="11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M4  </a:t>
            </a:r>
            <a:r>
              <a:rPr lang="en-US" sz="10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DBSCAN 클러스터 역행 (좌표 기반)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663440" y="1783080"/>
            <a:ext cx="4023360" cy="1371600"/>
          </a:xfrm>
          <a:prstGeom prst="rect">
            <a:avLst/>
          </a:prstGeom>
          <a:solidFill>
            <a:srgbClr val="E0F2FE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663440" y="1783080"/>
            <a:ext cx="36576" cy="13716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846320" y="1874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예시 — 시군구가 다른 두 장소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57200" y="3246120"/>
            <a:ext cx="8229600" cy="141732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40080" y="33375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탐지 메커니즘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40080" y="3611880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1.  </a:t>
            </a:r>
            <a:r>
              <a:rPr lang="en-US" sz="11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전체 정점을 </a:t>
            </a:r>
            <a:r>
              <a:rPr lang="en-US" sz="11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haversine 거리 + DBSCAN(eps = 2 km, min_samples = 2) </a:t>
            </a:r>
            <a:r>
              <a:rPr lang="en-US" sz="11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로 클러스터링
</a:t>
            </a:r>
            <a:r>
              <a:rPr lang="en-US" sz="1100" b="1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2.  </a:t>
            </a:r>
            <a:r>
              <a:rPr lang="en-US" sz="11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방문 순서 따라 클러스터 라벨 시퀀스 추출 → 동일 라벨 </a:t>
            </a:r>
            <a:r>
              <a:rPr lang="en-US" sz="11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재출현(A → B → A)</a:t>
            </a:r>
            <a:r>
              <a:rPr lang="en-US" sz="11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 카운트 = M4
</a:t>
            </a:r>
            <a:r>
              <a:rPr lang="en-US" sz="1100" b="1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3.  </a:t>
            </a:r>
            <a:r>
              <a:rPr lang="en-US" sz="11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M3(시군구 재방문)와 </a:t>
            </a:r>
            <a:r>
              <a:rPr lang="en-US" sz="11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중복 제거</a:t>
            </a:r>
            <a:r>
              <a:rPr lang="en-US" sz="11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:  </a:t>
            </a:r>
            <a:r>
              <a:rPr lang="en-US" sz="1100" b="1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net_M4 = max(0, M4 − M3)</a:t>
            </a:r>
            <a:r>
              <a:rPr lang="en-US" sz="11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 — 같은 사건 이중 카운트 방지
</a:t>
            </a:r>
            <a:r>
              <a:rPr lang="en-US" sz="1100" b="1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4.  </a:t>
            </a:r>
            <a:r>
              <a:rPr lang="en-US" sz="11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행정 단위(M3)는 "강북·강남"이 인접해도 다른 시군구로 셈 → 좌표 기반 M4가 </a:t>
            </a:r>
            <a:r>
              <a:rPr lang="en-US" sz="11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오탐 보정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57200" y="4846320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관광 일정 QA 엔진  ·  Explainable Travel Plan Validator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766560" y="484632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11 / 24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635240" y="4777740"/>
            <a:ext cx="118872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800" i="1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[ Brandlogy logo ]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937760" y="2212848"/>
            <a:ext cx="1691640" cy="868680"/>
          </a:xfrm>
          <a:prstGeom prst="rect">
            <a:avLst/>
          </a:prstGeom>
          <a:solidFill>
            <a:srgbClr val="F4F5F7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983480" y="2240280"/>
            <a:ext cx="160020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1" i="0">
                <a:solidFill>
                  <a:srgbClr val="16A34A"/>
                </a:solidFill>
                <a:latin typeface="Pretendard"/>
                <a:ea typeface="Pretendard"/>
                <a:cs typeface="Pretendard"/>
              </a:rPr>
              <a:t>Case ✓ 효율적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257800" y="2834640"/>
            <a:ext cx="1005840" cy="0"/>
          </a:xfrm>
          <a:prstGeom prst="line">
            <a:avLst/>
          </a:prstGeom>
          <a:ln w="22860">
            <a:solidFill>
              <a:srgbClr val="16A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5184648" y="2761488"/>
            <a:ext cx="146304" cy="146304"/>
          </a:xfrm>
          <a:prstGeom prst="ellipse">
            <a:avLst/>
          </a:prstGeom>
          <a:solidFill>
            <a:srgbClr val="16A34A"/>
          </a:solidFill>
          <a:ln w="101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190488" y="2761488"/>
            <a:ext cx="146304" cy="146304"/>
          </a:xfrm>
          <a:prstGeom prst="ellipse">
            <a:avLst/>
          </a:prstGeom>
          <a:solidFill>
            <a:srgbClr val="16A34A"/>
          </a:solidFill>
          <a:ln w="101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166360" y="2907792"/>
            <a:ext cx="27432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00" b="1" i="0">
                <a:solidFill>
                  <a:srgbClr val="2E3338"/>
                </a:solidFill>
                <a:latin typeface="Pretendard"/>
                <a:ea typeface="Pretendard"/>
                <a:cs typeface="Pretendard"/>
              </a:rPr>
              <a:t>P₁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72200" y="2907792"/>
            <a:ext cx="27432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00" b="1" i="0">
                <a:solidFill>
                  <a:srgbClr val="2E3338"/>
                </a:solidFill>
                <a:latin typeface="Pretendard"/>
                <a:ea typeface="Pretendard"/>
                <a:cs typeface="Pretendard"/>
              </a:rPr>
              <a:t>P₂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766560" y="2212848"/>
            <a:ext cx="1691640" cy="868680"/>
          </a:xfrm>
          <a:prstGeom prst="rect">
            <a:avLst/>
          </a:prstGeom>
          <a:solidFill>
            <a:srgbClr val="F4F5F7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812280" y="2240280"/>
            <a:ext cx="160020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1" i="0">
                <a:solidFill>
                  <a:srgbClr val="DC2626"/>
                </a:solidFill>
                <a:latin typeface="Pretendard"/>
                <a:ea typeface="Pretendard"/>
                <a:cs typeface="Pretendard"/>
              </a:rPr>
              <a:t>Case ✗ 역행</a:t>
            </a:r>
          </a:p>
        </p:txBody>
      </p:sp>
      <p:cxnSp>
        <p:nvCxnSpPr>
          <p:cNvPr id="29" name="Connector 28"/>
          <p:cNvCxnSpPr/>
          <p:nvPr/>
        </p:nvCxnSpPr>
        <p:spPr>
          <a:xfrm flipV="1">
            <a:off x="7086600" y="2606040"/>
            <a:ext cx="1005840" cy="228600"/>
          </a:xfrm>
          <a:prstGeom prst="line">
            <a:avLst/>
          </a:prstGeom>
          <a:ln w="22860">
            <a:solidFill>
              <a:srgbClr val="DC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>
            <a:off x="7543800" y="2606040"/>
            <a:ext cx="548640" cy="320040"/>
          </a:xfrm>
          <a:prstGeom prst="line">
            <a:avLst/>
          </a:prstGeom>
          <a:ln w="22860">
            <a:solidFill>
              <a:srgbClr val="DC262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7013448" y="2761488"/>
            <a:ext cx="146304" cy="146304"/>
          </a:xfrm>
          <a:prstGeom prst="ellipse">
            <a:avLst/>
          </a:prstGeom>
          <a:solidFill>
            <a:srgbClr val="DC2626"/>
          </a:solidFill>
          <a:ln w="101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8019288" y="2532888"/>
            <a:ext cx="146304" cy="146304"/>
          </a:xfrm>
          <a:prstGeom prst="ellipse">
            <a:avLst/>
          </a:prstGeom>
          <a:solidFill>
            <a:srgbClr val="DC2626"/>
          </a:solidFill>
          <a:ln w="101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995160" y="2907792"/>
            <a:ext cx="27432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00" b="1" i="0">
                <a:solidFill>
                  <a:srgbClr val="2E3338"/>
                </a:solidFill>
                <a:latin typeface="Pretendard"/>
                <a:ea typeface="Pretendard"/>
                <a:cs typeface="Pretendard"/>
              </a:rPr>
              <a:t>P₁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01000" y="2423160"/>
            <a:ext cx="27432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00" b="1" i="0">
                <a:solidFill>
                  <a:srgbClr val="2E3338"/>
                </a:solidFill>
                <a:latin typeface="Pretendard"/>
                <a:ea typeface="Pretendard"/>
                <a:cs typeface="Pretendard"/>
              </a:rPr>
              <a:t>P₂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46320" y="3337560"/>
            <a:ext cx="365760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 i="0">
                <a:solidFill>
                  <a:srgbClr val="2E3338"/>
                </a:solidFill>
                <a:latin typeface="Pretendard"/>
                <a:ea typeface="Pretendard"/>
                <a:cs typeface="Pretendard"/>
              </a:rPr>
              <a:t>DBSCAN(eps=2km, min_samples=2)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846320" y="3584448"/>
            <a:ext cx="3657600" cy="1005840"/>
          </a:xfrm>
          <a:prstGeom prst="rect">
            <a:avLst/>
          </a:prstGeom>
          <a:solidFill>
            <a:srgbClr val="F4F5F7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5257800" y="3566159"/>
            <a:ext cx="822960" cy="822960"/>
          </a:xfrm>
          <a:prstGeom prst="ellipse">
            <a:avLst/>
          </a:prstGeom>
          <a:noFill/>
          <a:ln w="12700">
            <a:solidFill>
              <a:srgbClr val="1057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7114031" y="3776472"/>
            <a:ext cx="768096" cy="768096"/>
          </a:xfrm>
          <a:prstGeom prst="ellipse">
            <a:avLst/>
          </a:prstGeom>
          <a:noFill/>
          <a:ln w="12700">
            <a:solidFill>
              <a:srgbClr val="1057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5431536" y="3767327"/>
            <a:ext cx="146304" cy="146304"/>
          </a:xfrm>
          <a:prstGeom prst="ellipse">
            <a:avLst/>
          </a:prstGeom>
          <a:solidFill>
            <a:srgbClr val="10579D"/>
          </a:solidFill>
          <a:ln w="101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413248" y="3749039"/>
            <a:ext cx="18288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41" name="Oval 40"/>
          <p:cNvSpPr/>
          <p:nvPr/>
        </p:nvSpPr>
        <p:spPr>
          <a:xfrm>
            <a:off x="5687568" y="3858768"/>
            <a:ext cx="146304" cy="146304"/>
          </a:xfrm>
          <a:prstGeom prst="ellipse">
            <a:avLst/>
          </a:prstGeom>
          <a:solidFill>
            <a:srgbClr val="10579D"/>
          </a:solidFill>
          <a:ln w="101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669280" y="3840480"/>
            <a:ext cx="18288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43" name="Oval 42"/>
          <p:cNvSpPr/>
          <p:nvPr/>
        </p:nvSpPr>
        <p:spPr>
          <a:xfrm>
            <a:off x="5550408" y="4069079"/>
            <a:ext cx="146304" cy="146304"/>
          </a:xfrm>
          <a:prstGeom prst="ellipse">
            <a:avLst/>
          </a:prstGeom>
          <a:solidFill>
            <a:srgbClr val="10579D"/>
          </a:solidFill>
          <a:ln w="101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532120" y="4050791"/>
            <a:ext cx="18288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45" name="Oval 44"/>
          <p:cNvSpPr/>
          <p:nvPr/>
        </p:nvSpPr>
        <p:spPr>
          <a:xfrm>
            <a:off x="7333488" y="4133087"/>
            <a:ext cx="146304" cy="146304"/>
          </a:xfrm>
          <a:prstGeom prst="ellipse">
            <a:avLst/>
          </a:prstGeom>
          <a:solidFill>
            <a:srgbClr val="10579D"/>
          </a:solidFill>
          <a:ln w="101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315200" y="4114800"/>
            <a:ext cx="18288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47" name="Oval 46"/>
          <p:cNvSpPr/>
          <p:nvPr/>
        </p:nvSpPr>
        <p:spPr>
          <a:xfrm>
            <a:off x="7562088" y="3995928"/>
            <a:ext cx="146304" cy="146304"/>
          </a:xfrm>
          <a:prstGeom prst="ellipse">
            <a:avLst/>
          </a:prstGeom>
          <a:solidFill>
            <a:srgbClr val="10579D"/>
          </a:solidFill>
          <a:ln w="101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7543800" y="3977640"/>
            <a:ext cx="18288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5504688" y="3840479"/>
            <a:ext cx="256032" cy="91441"/>
          </a:xfrm>
          <a:prstGeom prst="line">
            <a:avLst/>
          </a:prstGeom>
          <a:ln w="12700">
            <a:solidFill>
              <a:srgbClr val="16A34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H="1">
            <a:off x="5623560" y="3931920"/>
            <a:ext cx="137160" cy="210311"/>
          </a:xfrm>
          <a:prstGeom prst="line">
            <a:avLst/>
          </a:prstGeom>
          <a:ln w="12700">
            <a:solidFill>
              <a:srgbClr val="16A34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5623560" y="4142231"/>
            <a:ext cx="1783080" cy="64009"/>
          </a:xfrm>
          <a:prstGeom prst="line">
            <a:avLst/>
          </a:prstGeom>
          <a:ln w="12700">
            <a:solidFill>
              <a:srgbClr val="16A34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7406640" y="4069080"/>
            <a:ext cx="228600" cy="137160"/>
          </a:xfrm>
          <a:prstGeom prst="line">
            <a:avLst/>
          </a:prstGeom>
          <a:ln w="12700">
            <a:solidFill>
              <a:srgbClr val="16A34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H="1" flipV="1">
            <a:off x="5760720" y="3931920"/>
            <a:ext cx="1874520" cy="137160"/>
          </a:xfrm>
          <a:prstGeom prst="line">
            <a:avLst/>
          </a:prstGeom>
          <a:ln w="12700">
            <a:solidFill>
              <a:srgbClr val="DC262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4846320" y="4498848"/>
            <a:ext cx="365760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00" b="0" i="1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초록 = 효율 동선  ·  빨강(점선) = 클러스터 역행 → M4 패널티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" cy="2926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3" name="Text 1"/>
          <p:cNvSpPr/>
          <p:nvPr/>
        </p:nvSpPr>
        <p:spPr>
          <a:xfrm>
            <a:off x="594360" y="38404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SECTION 03 · 기술적 차별점 — 4 / 5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실시간 혼잡도 엔진</a:t>
            </a:r>
            <a:endParaRPr lang="en-US" sz="28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24358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서울 도시데이터 + 전국 계절성 폴백</a:t>
            </a:r>
            <a:endParaRPr lang="en-US" sz="13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4114800" cy="278892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36576" cy="2788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8" name="Text 6"/>
          <p:cNvSpPr/>
          <p:nvPr/>
        </p:nvSpPr>
        <p:spPr>
          <a:xfrm>
            <a:off x="640080" y="18745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Layer 1 · 실시간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663440" y="1783080"/>
            <a:ext cx="4023360" cy="278892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663440" y="1783080"/>
            <a:ext cx="36576" cy="27889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846320" y="1874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Pretendard"/>
                <a:ea typeface="Pretendard"/>
                <a:cs typeface="Pretendard"/>
              </a:rPr>
              <a:t>Layer 2 · 폴백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57200" y="4846320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관광 일정 QA 엔진  ·  Explainable Travel Plan Validator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766560" y="484632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12 / 24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635240" y="4777740"/>
            <a:ext cx="118872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800" i="1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[ Brandlogy logo ]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2697480"/>
            <a:ext cx="3749039" cy="1783080"/>
          </a:xfrm>
          <a:prstGeom prst="rect">
            <a:avLst/>
          </a:prstGeom>
          <a:solidFill>
            <a:srgbClr val="F4F5F7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77240" y="2743200"/>
            <a:ext cx="347472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1" i="0">
                <a:solidFill>
                  <a:srgbClr val="2E3338"/>
                </a:solidFill>
                <a:latin typeface="Pretendard"/>
                <a:ea typeface="Pretendard"/>
                <a:cs typeface="Pretendard"/>
              </a:rPr>
              <a:t>Seoul · 5분 단위 116개 관광지 인구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51560" y="3108960"/>
            <a:ext cx="2926080" cy="100584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2" name="Connector 21"/>
          <p:cNvCxnSpPr/>
          <p:nvPr/>
        </p:nvCxnSpPr>
        <p:spPr>
          <a:xfrm>
            <a:off x="1097280" y="3611880"/>
            <a:ext cx="2834640" cy="45720"/>
          </a:xfrm>
          <a:prstGeom prst="line">
            <a:avLst/>
          </a:prstGeom>
          <a:ln w="31750">
            <a:solidFill>
              <a:srgbClr val="CCE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1640119" y="3236065"/>
            <a:ext cx="73152" cy="73152"/>
          </a:xfrm>
          <a:prstGeom prst="ellipse">
            <a:avLst/>
          </a:prstGeom>
          <a:solidFill>
            <a:srgbClr val="16A34A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1411766" y="3470266"/>
            <a:ext cx="73152" cy="73152"/>
          </a:xfrm>
          <a:prstGeom prst="ellipse">
            <a:avLst/>
          </a:prstGeom>
          <a:solidFill>
            <a:srgbClr val="D97706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1778789" y="3256450"/>
            <a:ext cx="73152" cy="73152"/>
          </a:xfrm>
          <a:prstGeom prst="ellipse">
            <a:avLst/>
          </a:prstGeom>
          <a:solidFill>
            <a:srgbClr val="10579D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1305651" y="3299804"/>
            <a:ext cx="73152" cy="73152"/>
          </a:xfrm>
          <a:prstGeom prst="ellipse">
            <a:avLst/>
          </a:prstGeom>
          <a:solidFill>
            <a:srgbClr val="10579D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1303862" y="3293286"/>
            <a:ext cx="73152" cy="73152"/>
          </a:xfrm>
          <a:prstGeom prst="ellipse">
            <a:avLst/>
          </a:prstGeom>
          <a:solidFill>
            <a:srgbClr val="10579D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2136920" y="3254677"/>
            <a:ext cx="73152" cy="73152"/>
          </a:xfrm>
          <a:prstGeom prst="ellipse">
            <a:avLst/>
          </a:prstGeom>
          <a:solidFill>
            <a:srgbClr val="10579D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2282029" y="3184251"/>
            <a:ext cx="73152" cy="73152"/>
          </a:xfrm>
          <a:prstGeom prst="ellipse">
            <a:avLst/>
          </a:prstGeom>
          <a:solidFill>
            <a:srgbClr val="D97706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2220971" y="3294117"/>
            <a:ext cx="73152" cy="73152"/>
          </a:xfrm>
          <a:prstGeom prst="ellipse">
            <a:avLst/>
          </a:prstGeom>
          <a:solidFill>
            <a:srgbClr val="16A34A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2363109" y="3292913"/>
            <a:ext cx="73152" cy="73152"/>
          </a:xfrm>
          <a:prstGeom prst="ellipse">
            <a:avLst/>
          </a:prstGeom>
          <a:solidFill>
            <a:srgbClr val="16A34A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1891006" y="3461093"/>
            <a:ext cx="73152" cy="73152"/>
          </a:xfrm>
          <a:prstGeom prst="ellipse">
            <a:avLst/>
          </a:prstGeom>
          <a:solidFill>
            <a:srgbClr val="10579D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2280766" y="3422328"/>
            <a:ext cx="73152" cy="73152"/>
          </a:xfrm>
          <a:prstGeom prst="ellipse">
            <a:avLst/>
          </a:prstGeom>
          <a:solidFill>
            <a:srgbClr val="10579D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2371834" y="3306719"/>
            <a:ext cx="73152" cy="73152"/>
          </a:xfrm>
          <a:prstGeom prst="ellipse">
            <a:avLst/>
          </a:prstGeom>
          <a:solidFill>
            <a:srgbClr val="10579D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2933068" y="3431438"/>
            <a:ext cx="73152" cy="73152"/>
          </a:xfrm>
          <a:prstGeom prst="ellipse">
            <a:avLst/>
          </a:prstGeom>
          <a:solidFill>
            <a:srgbClr val="DC2626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2794782" y="3459765"/>
            <a:ext cx="73152" cy="73152"/>
          </a:xfrm>
          <a:prstGeom prst="ellipse">
            <a:avLst/>
          </a:prstGeom>
          <a:solidFill>
            <a:srgbClr val="16A34A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2603058" y="3323093"/>
            <a:ext cx="73152" cy="73152"/>
          </a:xfrm>
          <a:prstGeom prst="ellipse">
            <a:avLst/>
          </a:prstGeom>
          <a:solidFill>
            <a:srgbClr val="16A34A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2605742" y="3261080"/>
            <a:ext cx="73152" cy="73152"/>
          </a:xfrm>
          <a:prstGeom prst="ellipse">
            <a:avLst/>
          </a:prstGeom>
          <a:solidFill>
            <a:srgbClr val="16A34A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2826785" y="3347928"/>
            <a:ext cx="73152" cy="73152"/>
          </a:xfrm>
          <a:prstGeom prst="ellipse">
            <a:avLst/>
          </a:prstGeom>
          <a:solidFill>
            <a:srgbClr val="10579D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2592967" y="3315716"/>
            <a:ext cx="73152" cy="73152"/>
          </a:xfrm>
          <a:prstGeom prst="ellipse">
            <a:avLst/>
          </a:prstGeom>
          <a:solidFill>
            <a:srgbClr val="DC2626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3473642" y="3519788"/>
            <a:ext cx="73152" cy="73152"/>
          </a:xfrm>
          <a:prstGeom prst="ellipse">
            <a:avLst/>
          </a:prstGeom>
          <a:solidFill>
            <a:srgbClr val="16A34A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3518132" y="3373061"/>
            <a:ext cx="73152" cy="73152"/>
          </a:xfrm>
          <a:prstGeom prst="ellipse">
            <a:avLst/>
          </a:prstGeom>
          <a:solidFill>
            <a:srgbClr val="10579D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3660996" y="3529949"/>
            <a:ext cx="73152" cy="73152"/>
          </a:xfrm>
          <a:prstGeom prst="ellipse">
            <a:avLst/>
          </a:prstGeom>
          <a:solidFill>
            <a:srgbClr val="10579D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3493710" y="3596725"/>
            <a:ext cx="73152" cy="73152"/>
          </a:xfrm>
          <a:prstGeom prst="ellipse">
            <a:avLst/>
          </a:prstGeom>
          <a:solidFill>
            <a:srgbClr val="D97706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1597848" y="3604158"/>
            <a:ext cx="73152" cy="73152"/>
          </a:xfrm>
          <a:prstGeom prst="ellipse">
            <a:avLst/>
          </a:prstGeom>
          <a:solidFill>
            <a:srgbClr val="16A34A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1619077" y="3663044"/>
            <a:ext cx="73152" cy="73152"/>
          </a:xfrm>
          <a:prstGeom prst="ellipse">
            <a:avLst/>
          </a:prstGeom>
          <a:solidFill>
            <a:srgbClr val="DC2626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1952994" y="3697178"/>
            <a:ext cx="73152" cy="73152"/>
          </a:xfrm>
          <a:prstGeom prst="ellipse">
            <a:avLst/>
          </a:prstGeom>
          <a:solidFill>
            <a:srgbClr val="D97706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1689243" y="3894646"/>
            <a:ext cx="73152" cy="73152"/>
          </a:xfrm>
          <a:prstGeom prst="ellipse">
            <a:avLst/>
          </a:prstGeom>
          <a:solidFill>
            <a:srgbClr val="10579D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2349027" y="3720497"/>
            <a:ext cx="73152" cy="73152"/>
          </a:xfrm>
          <a:prstGeom prst="ellipse">
            <a:avLst/>
          </a:prstGeom>
          <a:solidFill>
            <a:srgbClr val="10579D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Oval 49"/>
          <p:cNvSpPr/>
          <p:nvPr/>
        </p:nvSpPr>
        <p:spPr>
          <a:xfrm>
            <a:off x="2347854" y="3831748"/>
            <a:ext cx="73152" cy="73152"/>
          </a:xfrm>
          <a:prstGeom prst="ellipse">
            <a:avLst/>
          </a:prstGeom>
          <a:solidFill>
            <a:srgbClr val="DC2626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2422831" y="3711508"/>
            <a:ext cx="73152" cy="73152"/>
          </a:xfrm>
          <a:prstGeom prst="ellipse">
            <a:avLst/>
          </a:prstGeom>
          <a:solidFill>
            <a:srgbClr val="DC2626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Oval 51"/>
          <p:cNvSpPr/>
          <p:nvPr/>
        </p:nvSpPr>
        <p:spPr>
          <a:xfrm>
            <a:off x="2483250" y="3669237"/>
            <a:ext cx="73152" cy="73152"/>
          </a:xfrm>
          <a:prstGeom prst="ellipse">
            <a:avLst/>
          </a:prstGeom>
          <a:solidFill>
            <a:srgbClr val="16A34A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2263861" y="3845857"/>
            <a:ext cx="73152" cy="73152"/>
          </a:xfrm>
          <a:prstGeom prst="ellipse">
            <a:avLst/>
          </a:prstGeom>
          <a:solidFill>
            <a:srgbClr val="D97706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Oval 53"/>
          <p:cNvSpPr/>
          <p:nvPr/>
        </p:nvSpPr>
        <p:spPr>
          <a:xfrm>
            <a:off x="3258277" y="3614504"/>
            <a:ext cx="73152" cy="73152"/>
          </a:xfrm>
          <a:prstGeom prst="ellipse">
            <a:avLst/>
          </a:prstGeom>
          <a:solidFill>
            <a:srgbClr val="10579D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Oval 54"/>
          <p:cNvSpPr/>
          <p:nvPr/>
        </p:nvSpPr>
        <p:spPr>
          <a:xfrm>
            <a:off x="3573176" y="3767767"/>
            <a:ext cx="73152" cy="73152"/>
          </a:xfrm>
          <a:prstGeom prst="ellipse">
            <a:avLst/>
          </a:prstGeom>
          <a:solidFill>
            <a:srgbClr val="DC2626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Oval 55"/>
          <p:cNvSpPr/>
          <p:nvPr/>
        </p:nvSpPr>
        <p:spPr>
          <a:xfrm>
            <a:off x="3498922" y="3597371"/>
            <a:ext cx="73152" cy="73152"/>
          </a:xfrm>
          <a:prstGeom prst="ellipse">
            <a:avLst/>
          </a:prstGeom>
          <a:solidFill>
            <a:srgbClr val="D97706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Oval 56"/>
          <p:cNvSpPr/>
          <p:nvPr/>
        </p:nvSpPr>
        <p:spPr>
          <a:xfrm>
            <a:off x="3400677" y="3770354"/>
            <a:ext cx="73152" cy="73152"/>
          </a:xfrm>
          <a:prstGeom prst="ellipse">
            <a:avLst/>
          </a:prstGeom>
          <a:solidFill>
            <a:srgbClr val="16A34A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Oval 57"/>
          <p:cNvSpPr/>
          <p:nvPr/>
        </p:nvSpPr>
        <p:spPr>
          <a:xfrm>
            <a:off x="731519" y="4178808"/>
            <a:ext cx="91440" cy="91440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850392" y="4133088"/>
            <a:ext cx="77724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0" i="0">
                <a:solidFill>
                  <a:srgbClr val="2E3338"/>
                </a:solidFill>
                <a:latin typeface="Pretendard"/>
                <a:ea typeface="Pretendard"/>
                <a:cs typeface="Pretendard"/>
              </a:rPr>
              <a:t>여유</a:t>
            </a:r>
          </a:p>
        </p:txBody>
      </p:sp>
      <p:sp>
        <p:nvSpPr>
          <p:cNvPr id="60" name="Oval 59"/>
          <p:cNvSpPr/>
          <p:nvPr/>
        </p:nvSpPr>
        <p:spPr>
          <a:xfrm>
            <a:off x="1645920" y="4178808"/>
            <a:ext cx="91440" cy="91440"/>
          </a:xfrm>
          <a:prstGeom prst="ellipse">
            <a:avLst/>
          </a:prstGeom>
          <a:solidFill>
            <a:srgbClr val="105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1764792" y="4133088"/>
            <a:ext cx="77724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0" i="0">
                <a:solidFill>
                  <a:srgbClr val="2E3338"/>
                </a:solidFill>
                <a:latin typeface="Pretendard"/>
                <a:ea typeface="Pretendard"/>
                <a:cs typeface="Pretendard"/>
              </a:rPr>
              <a:t>보통</a:t>
            </a:r>
          </a:p>
        </p:txBody>
      </p:sp>
      <p:sp>
        <p:nvSpPr>
          <p:cNvPr id="62" name="Oval 61"/>
          <p:cNvSpPr/>
          <p:nvPr/>
        </p:nvSpPr>
        <p:spPr>
          <a:xfrm>
            <a:off x="2560320" y="4178808"/>
            <a:ext cx="91440" cy="91440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2679192" y="4133088"/>
            <a:ext cx="77724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0" i="0">
                <a:solidFill>
                  <a:srgbClr val="2E3338"/>
                </a:solidFill>
                <a:latin typeface="Pretendard"/>
                <a:ea typeface="Pretendard"/>
                <a:cs typeface="Pretendard"/>
              </a:rPr>
              <a:t>약간 붐빔</a:t>
            </a:r>
          </a:p>
        </p:txBody>
      </p:sp>
      <p:sp>
        <p:nvSpPr>
          <p:cNvPr id="64" name="Oval 63"/>
          <p:cNvSpPr/>
          <p:nvPr/>
        </p:nvSpPr>
        <p:spPr>
          <a:xfrm>
            <a:off x="3474720" y="4178808"/>
            <a:ext cx="91440" cy="91440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3593592" y="4133088"/>
            <a:ext cx="77724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0" i="0">
                <a:solidFill>
                  <a:srgbClr val="2E3338"/>
                </a:solidFill>
                <a:latin typeface="Pretendard"/>
                <a:ea typeface="Pretendard"/>
                <a:cs typeface="Pretendard"/>
              </a:rPr>
              <a:t>붐빔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4846320" y="2788920"/>
            <a:ext cx="3657600" cy="594360"/>
          </a:xfrm>
          <a:prstGeom prst="roundRect">
            <a:avLst>
              <a:gd name="adj" fmla="val 8000"/>
            </a:avLst>
          </a:prstGeom>
          <a:solidFill>
            <a:srgbClr val="105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4983480" y="2834640"/>
            <a:ext cx="338328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Layer 1 · 서울 도시데이터 API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983480" y="3072384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5분 갱신  ·  CONGEST_LVL 4단계  ·  서울 116 POI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6675120" y="3456432"/>
            <a:ext cx="0" cy="246888"/>
          </a:xfrm>
          <a:prstGeom prst="line">
            <a:avLst/>
          </a:prstGeom>
          <a:ln w="15240">
            <a:solidFill>
              <a:srgbClr val="6B728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4846320" y="3474720"/>
            <a:ext cx="178308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750" b="0" i="1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▽ API 미제공 시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4846320" y="3749039"/>
            <a:ext cx="365760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057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4983480" y="3794760"/>
            <a:ext cx="338328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10579D"/>
                </a:solidFill>
                <a:latin typeface="Pretendard"/>
                <a:ea typeface="Pretendard"/>
                <a:cs typeface="Pretendard"/>
              </a:rPr>
              <a:t>Layer 2 · 전국 계절성 폴백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983480" y="4041648"/>
            <a:ext cx="338328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2E3338"/>
                </a:solidFill>
                <a:latin typeface="Pretendard"/>
                <a:ea typeface="Pretendard"/>
                <a:cs typeface="Pretendard"/>
              </a:rPr>
              <a:t>통계월보(202602) 시군구 × 월 가중치  ·  성수기/주말/비수기 보정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" cy="2926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3" name="Text 1"/>
          <p:cNvSpPr/>
          <p:nvPr/>
        </p:nvSpPr>
        <p:spPr>
          <a:xfrm>
            <a:off x="594360" y="38404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SECTION 03 · 기술적 차별점 — 5 / 5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Evidence-based 설명 엔진</a:t>
            </a:r>
            <a:endParaRPr lang="en-US" sz="28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24358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Claude Sonnet 4.6 · 구조화 4-튜플 · JSON 강제 스키마</a:t>
            </a:r>
            <a:endParaRPr lang="en-US" sz="13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4114800" cy="1554480"/>
          </a:xfrm>
          <a:prstGeom prst="rect">
            <a:avLst/>
          </a:prstGeom>
          <a:solidFill>
            <a:srgbClr val="111827"/>
          </a:solidFill>
          <a:ln w="9525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7" name="Text 5"/>
          <p:cNvSpPr/>
          <p:nvPr/>
        </p:nvSpPr>
        <p:spPr>
          <a:xfrm>
            <a:off x="640080" y="18745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0F2FE"/>
                </a:solidFill>
                <a:latin typeface="Pretendard"/>
                <a:ea typeface="Pretendard"/>
                <a:cs typeface="Pretendard"/>
              </a:rPr>
              <a:t>Output 스키마 — 4-Tuple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8" name="Text 6"/>
          <p:cNvSpPr/>
          <p:nvPr/>
        </p:nvSpPr>
        <p:spPr>
          <a:xfrm>
            <a:off x="640080" y="219456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fact         </a:t>
            </a:r>
            <a:r>
              <a:rPr lang="en-US" sz="10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관측된 사실 (시간/거리/매칭)
</a:t>
            </a:r>
            <a:r>
              <a:rPr lang="en-US" sz="11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rule         </a:t>
            </a:r>
            <a:r>
              <a:rPr lang="en-US" sz="10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위반된 규칙 ID (time_window_inf 등)
</a:t>
            </a:r>
            <a:r>
              <a:rPr lang="en-US" sz="11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risk         </a:t>
            </a:r>
            <a:r>
              <a:rPr lang="en-US" sz="10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CRITICAL · WARNING · INFO
</a:t>
            </a:r>
            <a:r>
              <a:rPr lang="en-US" sz="11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suggestion   </a:t>
            </a:r>
            <a:r>
              <a:rPr lang="en-US" sz="10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사용자 행동 가능한 수정 제안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57200" y="3429000"/>
            <a:ext cx="4114800" cy="128016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57200" y="3429000"/>
            <a:ext cx="36576" cy="12801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40080" y="352044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작동 메커니즘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40080" y="379476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100"/>
              </a:spcAft>
              <a:buNone/>
            </a:pPr>
            <a:r>
              <a:rPr lang="en-US" sz="10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1.  Validation 결과 + POI 메타 → </a:t>
            </a:r>
            <a:r>
              <a:rPr lang="en-US" sz="1000" b="1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system prompt(cached)
</a:t>
            </a:r>
            <a:r>
              <a:rPr lang="en-US" sz="10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2.  </a:t>
            </a:r>
            <a:r>
              <a:rPr lang="en-US" sz="10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tool_use 강제 호출</a:t>
            </a:r>
            <a:r>
              <a:rPr lang="en-US" sz="10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 — JSON 스키마 위반 자동 거절
3.  </a:t>
            </a:r>
            <a:r>
              <a:rPr lang="en-US" sz="10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Repair 2-pass</a:t>
            </a:r>
            <a:r>
              <a:rPr lang="en-US" sz="10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 — 1차: 진단, 2차: 수정안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663440" y="1783080"/>
            <a:ext cx="4023360" cy="292608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846320" y="1874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실제 출력 예시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846320" y="2194560"/>
            <a:ext cx="36576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{
</a:t>
            </a:r>
            <a:r>
              <a:rPr lang="en-US" sz="1000" b="1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  "fact": </a:t>
            </a:r>
            <a:r>
              <a:rPr lang="en-US" sz="10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"감천문화마을 도착 21:10이나 운영 종료 18:00. 입장 불가.",
</a:t>
            </a:r>
            <a:r>
              <a:rPr lang="en-US" sz="1000" b="1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  "rule": </a:t>
            </a:r>
            <a:r>
              <a:rPr lang="en-US" sz="10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"time_window_infeasibility",
</a:t>
            </a:r>
            <a:r>
              <a:rPr lang="en-US" sz="1000" b="1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  "risk": </a:t>
            </a:r>
            <a:r>
              <a:rPr lang="en-US" sz="1000" b="1" dirty="0">
                <a:solidFill>
                  <a:srgbClr val="B91C1C"/>
                </a:solidFill>
                <a:latin typeface="Pretendard"/>
                <a:ea typeface="Pretendard"/>
                <a:cs typeface="Pretendard"/>
              </a:rPr>
              <a:t>"CRITICAL",
</a:t>
            </a:r>
            <a:r>
              <a:rPr lang="en-US" sz="1000" b="1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  "suggestion": </a:t>
            </a:r>
            <a:r>
              <a:rPr lang="en-US" sz="10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"광안리 → 감천 순서를 뒤집고 감천 14:00 도착으로 조정."
</a:t>
            </a:r>
            <a:r>
              <a:rPr lang="en-US" sz="10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}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57200" y="46177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LLM 환각(hallucination) 방지 — 모든 fact는 검증 엔진의 수치만 인용, 자유 텍스트 생성 금지.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57200" y="4846320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관광 일정 QA 엔진  ·  Explainable Travel Plan Validator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766560" y="484632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13 / 24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635240" y="4777740"/>
            <a:ext cx="118872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800" i="1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[ Brandlogy logo ]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640080" y="3511296"/>
            <a:ext cx="4206240" cy="694943"/>
          </a:xfrm>
          <a:prstGeom prst="rect">
            <a:avLst/>
          </a:prstGeom>
          <a:solidFill>
            <a:srgbClr val="FDE7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40080" y="3163824"/>
            <a:ext cx="4206240" cy="347471"/>
          </a:xfrm>
          <a:prstGeom prst="rect">
            <a:avLst/>
          </a:prstGeom>
          <a:solidFill>
            <a:srgbClr val="FEF3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40080" y="2468879"/>
            <a:ext cx="4206240" cy="694944"/>
          </a:xfrm>
          <a:prstGeom prst="rect">
            <a:avLst/>
          </a:prstGeom>
          <a:solidFill>
            <a:srgbClr val="E8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Shape 0"/>
          <p:cNvSpPr/>
          <p:nvPr/>
        </p:nvSpPr>
        <p:spPr>
          <a:xfrm>
            <a:off x="457200" y="384048"/>
            <a:ext cx="36576" cy="2926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3" name="Text 1"/>
          <p:cNvSpPr/>
          <p:nvPr/>
        </p:nvSpPr>
        <p:spPr>
          <a:xfrm>
            <a:off x="594360" y="38404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SECTION 04 · RISK SCORE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Final Risk Score 산정 공식</a:t>
            </a:r>
            <a:endParaRPr lang="en-US" sz="28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24358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100 시작 → 위반/패널티 차감 → Hard Fail Cap</a:t>
            </a:r>
            <a:endParaRPr lang="en-US" sz="13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4572000" cy="2834640"/>
          </a:xfrm>
          <a:prstGeom prst="rect">
            <a:avLst/>
          </a:prstGeom>
          <a:solidFill>
            <a:srgbClr val="111827"/>
          </a:solidFill>
          <a:ln w="9525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7" name="Text 5"/>
          <p:cNvSpPr/>
          <p:nvPr/>
        </p:nvSpPr>
        <p:spPr>
          <a:xfrm>
            <a:off x="640080" y="18745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0F2FE"/>
                </a:solidFill>
                <a:latin typeface="Pretendard"/>
                <a:ea typeface="Pretendard"/>
                <a:cs typeface="Pretendard"/>
              </a:rPr>
              <a:t>산정 절차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120640" y="1783080"/>
            <a:ext cx="3566160" cy="132588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120640" y="1783080"/>
            <a:ext cx="36576" cy="132588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303520" y="18745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47857"/>
                </a:solidFill>
                <a:latin typeface="Pretendard"/>
                <a:ea typeface="Pretendard"/>
                <a:cs typeface="Pretendard"/>
              </a:rPr>
              <a:t>등급 컷오프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303520" y="219456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47857"/>
                </a:solidFill>
                <a:latin typeface="Pretendard"/>
                <a:ea typeface="Pretendard"/>
                <a:cs typeface="Pretendard"/>
              </a:rPr>
              <a:t>PASS    </a:t>
            </a:r>
            <a:r>
              <a:rPr lang="en-US" sz="11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≥ 60   추천 가능
</a:t>
            </a:r>
            <a:r>
              <a:rPr lang="en-US" sz="1100" b="1" dirty="0">
                <a:solidFill>
                  <a:srgbClr val="D97706"/>
                </a:solidFill>
                <a:latin typeface="Pretendard"/>
                <a:ea typeface="Pretendard"/>
                <a:cs typeface="Pretendard"/>
              </a:rPr>
              <a:t>REVIEW  </a:t>
            </a:r>
            <a:r>
              <a:rPr lang="en-US" sz="11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40–59  수정 필요
</a:t>
            </a:r>
            <a:r>
              <a:rPr lang="en-US" sz="1100" b="1" dirty="0">
                <a:solidFill>
                  <a:srgbClr val="B91C1C"/>
                </a:solidFill>
                <a:latin typeface="Pretendard"/>
                <a:ea typeface="Pretendard"/>
                <a:cs typeface="Pretendard"/>
              </a:rPr>
              <a:t>FAIL    </a:t>
            </a:r>
            <a:r>
              <a:rPr lang="en-US" sz="11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&lt; 40   재구성 권고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120640" y="3200400"/>
            <a:ext cx="3566160" cy="141732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120640" y="3200400"/>
            <a:ext cx="36576" cy="141732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303520" y="32918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91C1C"/>
                </a:solidFill>
                <a:latin typeface="Pretendard"/>
                <a:ea typeface="Pretendard"/>
                <a:cs typeface="Pretendard"/>
              </a:rPr>
              <a:t>Hard Fail Cap 의 의미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303520" y="3611880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"실행 불가능한 일정"에 60점 이상이 부여될 수 없도록 시스템적으로 봉쇄. 운영시간 충돌·Depot 위반 등 결정적 결함은 자동으로 PASS 임계 미만으로 끌어내림.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57200" y="4846320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관광 일정 QA 엔진  ·  Explainable Travel Plan Validator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766560" y="484632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14 / 24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635240" y="4777740"/>
            <a:ext cx="118872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800" i="1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[ Brandlogy logo ]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40080" y="4206240"/>
            <a:ext cx="4206240" cy="0"/>
          </a:xfrm>
          <a:prstGeom prst="line">
            <a:avLst/>
          </a:prstGeom>
          <a:ln w="635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206240" y="2724912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700" b="1" i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PASS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06240" y="3246120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700" b="1" i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REVIEW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06240" y="3767328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700" b="1" i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FAIL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45236" y="2468879"/>
            <a:ext cx="390579" cy="1737360"/>
          </a:xfrm>
          <a:prstGeom prst="rect">
            <a:avLst/>
          </a:prstGeom>
          <a:solidFill>
            <a:srgbClr val="2E3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99515" y="2304287"/>
            <a:ext cx="482019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i="0">
                <a:solidFill>
                  <a:srgbClr val="0F1419"/>
                </a:solidFill>
                <a:latin typeface="Pretendard"/>
                <a:ea typeface="Pretendard"/>
                <a:cs typeface="Pretendard"/>
              </a:rPr>
              <a:t>100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6" y="4251959"/>
            <a:ext cx="573459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Start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346127" y="2468879"/>
            <a:ext cx="390579" cy="173735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300407" y="2304287"/>
            <a:ext cx="482019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1" i="0">
                <a:solidFill>
                  <a:srgbClr val="DC2626"/>
                </a:solidFill>
                <a:latin typeface="Pretendard"/>
                <a:ea typeface="Pretendard"/>
                <a:cs typeface="Pretendard"/>
              </a:rPr>
              <a:t>−10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736706" y="2642615"/>
            <a:ext cx="210312" cy="0"/>
          </a:xfrm>
          <a:prstGeom prst="line">
            <a:avLst/>
          </a:prstGeom>
          <a:ln w="5080">
            <a:solidFill>
              <a:srgbClr val="9CA3A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1254687" y="4251959"/>
            <a:ext cx="573459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VRPTW
WARN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947018" y="2642615"/>
            <a:ext cx="390579" cy="277977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901298" y="2478023"/>
            <a:ext cx="482019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1" i="0">
                <a:solidFill>
                  <a:srgbClr val="D97706"/>
                </a:solidFill>
                <a:latin typeface="Pretendard"/>
                <a:ea typeface="Pretendard"/>
                <a:cs typeface="Pretendard"/>
              </a:rPr>
              <a:t>−16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2337598" y="2920593"/>
            <a:ext cx="210312" cy="0"/>
          </a:xfrm>
          <a:prstGeom prst="line">
            <a:avLst/>
          </a:prstGeom>
          <a:ln w="5080">
            <a:solidFill>
              <a:srgbClr val="9CA3A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1855578" y="4251959"/>
            <a:ext cx="573459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Travel
Ratio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547910" y="2920593"/>
            <a:ext cx="390579" cy="208483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2502190" y="2756001"/>
            <a:ext cx="482019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1" i="0">
                <a:solidFill>
                  <a:srgbClr val="D97706"/>
                </a:solidFill>
                <a:latin typeface="Pretendard"/>
                <a:ea typeface="Pretendard"/>
                <a:cs typeface="Pretendard"/>
              </a:rPr>
              <a:t>−12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2938489" y="3129076"/>
            <a:ext cx="210312" cy="0"/>
          </a:xfrm>
          <a:prstGeom prst="line">
            <a:avLst/>
          </a:prstGeom>
          <a:ln w="5080">
            <a:solidFill>
              <a:srgbClr val="9CA3A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2456470" y="4251959"/>
            <a:ext cx="573459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Cluster
M3+M4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148801" y="3129076"/>
            <a:ext cx="390579" cy="138988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103081" y="2964484"/>
            <a:ext cx="482019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1" i="0">
                <a:solidFill>
                  <a:srgbClr val="D97706"/>
                </a:solidFill>
                <a:latin typeface="Pretendard"/>
                <a:ea typeface="Pretendard"/>
                <a:cs typeface="Pretendard"/>
              </a:rPr>
              <a:t>−8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3539381" y="3268065"/>
            <a:ext cx="210312" cy="0"/>
          </a:xfrm>
          <a:prstGeom prst="line">
            <a:avLst/>
          </a:prstGeom>
          <a:ln w="5080">
            <a:solidFill>
              <a:srgbClr val="9CA3A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3057361" y="4251959"/>
            <a:ext cx="573459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Theme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749693" y="3268065"/>
            <a:ext cx="390579" cy="121615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3703973" y="3103473"/>
            <a:ext cx="482019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1" i="0">
                <a:solidFill>
                  <a:srgbClr val="D97706"/>
                </a:solidFill>
                <a:latin typeface="Pretendard"/>
                <a:ea typeface="Pretendard"/>
                <a:cs typeface="Pretendard"/>
              </a:rPr>
              <a:t>−7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4140272" y="3389680"/>
            <a:ext cx="210312" cy="0"/>
          </a:xfrm>
          <a:prstGeom prst="line">
            <a:avLst/>
          </a:prstGeom>
          <a:ln w="5080">
            <a:solidFill>
              <a:srgbClr val="9CA3A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3658253" y="4251959"/>
            <a:ext cx="573459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Congest.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350584" y="3389680"/>
            <a:ext cx="390579" cy="816559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4304864" y="3225088"/>
            <a:ext cx="482019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i="0">
                <a:solidFill>
                  <a:srgbClr val="16A34A"/>
                </a:solidFill>
                <a:latin typeface="Pretendard"/>
                <a:ea typeface="Pretendard"/>
                <a:cs typeface="Pretendard"/>
              </a:rPr>
              <a:t>47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59144" y="4251959"/>
            <a:ext cx="573459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Final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0080" y="4572000"/>
            <a:ext cx="420624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0" i="1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예시 — 100점에서 각 패널티 차감 → Final 47 (REVIEW)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" cy="2926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3" name="Text 1"/>
          <p:cNvSpPr/>
          <p:nvPr/>
        </p:nvSpPr>
        <p:spPr>
          <a:xfrm>
            <a:off x="594360" y="38404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SECTION 05 · 데이터 자산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검증의 토대 — 데이터 자산</a:t>
            </a:r>
            <a:endParaRPr lang="en-US" sz="28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24358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공공 API 3종 + 자체 구축 자산 4종</a:t>
            </a:r>
            <a:endParaRPr lang="en-US" sz="13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1920240" cy="118872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36576" cy="11887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8" name="Text 6"/>
          <p:cNvSpPr/>
          <p:nvPr/>
        </p:nvSpPr>
        <p:spPr>
          <a:xfrm>
            <a:off x="640080" y="1920240"/>
            <a:ext cx="16916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50,234</a:t>
            </a:r>
            <a:endParaRPr lang="en-US" sz="26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9" name="Text 7"/>
          <p:cNvSpPr/>
          <p:nvPr/>
        </p:nvSpPr>
        <p:spPr>
          <a:xfrm>
            <a:off x="640080" y="244144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TourAPI 수집 POI 수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560320" y="1783080"/>
            <a:ext cx="1920240" cy="118872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2560320" y="1783080"/>
            <a:ext cx="36576" cy="11887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2743200" y="1920240"/>
            <a:ext cx="16916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C7293"/>
                </a:solidFill>
                <a:latin typeface="Pretendard"/>
                <a:ea typeface="Pretendard"/>
                <a:cs typeface="Pretendard"/>
              </a:rPr>
              <a:t>8 종</a:t>
            </a:r>
            <a:endParaRPr lang="en-US" sz="26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2743200" y="244144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ContentTypeId 전 카테고리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663440" y="1783080"/>
            <a:ext cx="1920240" cy="118872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663440" y="1783080"/>
            <a:ext cx="36576" cy="11887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846320" y="1920240"/>
            <a:ext cx="16916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322</a:t>
            </a:r>
            <a:endParaRPr lang="en-US" sz="26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846320" y="244144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검증 완료 장소 (큐레이션 70 일정)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766560" y="1783080"/>
            <a:ext cx="1920240" cy="118872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766560" y="1783080"/>
            <a:ext cx="36576" cy="118872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949440" y="1920240"/>
            <a:ext cx="16916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47857"/>
                </a:solidFill>
                <a:latin typeface="Pretendard"/>
                <a:ea typeface="Pretendard"/>
                <a:cs typeface="Pretendard"/>
              </a:rPr>
              <a:t>70+</a:t>
            </a:r>
            <a:endParaRPr lang="en-US" sz="26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949440" y="244144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큐레이션 일정 — 17 시도 모두 포함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57200" y="3108960"/>
            <a:ext cx="4114800" cy="150876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4663440" y="3108960"/>
            <a:ext cx="4023360" cy="150876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457200" y="4846320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관광 일정 QA 엔진  ·  Explainable Travel Plan Validator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6766560" y="484632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15 / 24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635240" y="4777740"/>
            <a:ext cx="118872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800" i="1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[ Brandlogy logo ]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3246120"/>
            <a:ext cx="3749039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 i="0">
                <a:solidFill>
                  <a:srgbClr val="2E3338"/>
                </a:solidFill>
                <a:latin typeface="Pretendard"/>
                <a:ea typeface="Pretendard"/>
                <a:cs typeface="Pretendard"/>
              </a:rPr>
              <a:t>TourAPI 50,234 POI · ContentTypeId 8 카테고리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" y="3520440"/>
            <a:ext cx="1343367" cy="320040"/>
          </a:xfrm>
          <a:prstGeom prst="rect">
            <a:avLst/>
          </a:prstGeom>
          <a:solidFill>
            <a:srgbClr val="10579D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1983447" y="3520440"/>
            <a:ext cx="597052" cy="320040"/>
          </a:xfrm>
          <a:prstGeom prst="rect">
            <a:avLst/>
          </a:prstGeom>
          <a:solidFill>
            <a:srgbClr val="4284C1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2580499" y="3520440"/>
            <a:ext cx="410473" cy="320040"/>
          </a:xfrm>
          <a:prstGeom prst="rect">
            <a:avLst/>
          </a:prstGeom>
          <a:solidFill>
            <a:srgbClr val="6BA6D8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2990973" y="3520440"/>
            <a:ext cx="89557" cy="320040"/>
          </a:xfrm>
          <a:prstGeom prst="rect">
            <a:avLst/>
          </a:prstGeom>
          <a:solidFill>
            <a:srgbClr val="94C4E8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3080530" y="3520440"/>
            <a:ext cx="313452" cy="320040"/>
          </a:xfrm>
          <a:prstGeom prst="rect">
            <a:avLst/>
          </a:prstGeom>
          <a:solidFill>
            <a:srgbClr val="D97706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3393983" y="3520440"/>
            <a:ext cx="582125" cy="320040"/>
          </a:xfrm>
          <a:prstGeom prst="rect">
            <a:avLst/>
          </a:prstGeom>
          <a:solidFill>
            <a:srgbClr val="E8A04A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3976109" y="3520440"/>
            <a:ext cx="201505" cy="320040"/>
          </a:xfrm>
          <a:prstGeom prst="rect">
            <a:avLst/>
          </a:prstGeom>
          <a:solidFill>
            <a:srgbClr val="16A34A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4177614" y="3520440"/>
            <a:ext cx="211505" cy="320040"/>
          </a:xfrm>
          <a:prstGeom prst="rect">
            <a:avLst/>
          </a:prstGeom>
          <a:solidFill>
            <a:srgbClr val="6FC483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640080" y="3950208"/>
            <a:ext cx="91440" cy="91440"/>
          </a:xfrm>
          <a:prstGeom prst="ellipse">
            <a:avLst/>
          </a:prstGeom>
          <a:solidFill>
            <a:srgbClr val="105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58952" y="3931920"/>
            <a:ext cx="868680" cy="1463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650" b="0" i="0">
                <a:solidFill>
                  <a:srgbClr val="2E3338"/>
                </a:solidFill>
                <a:latin typeface="Pretendard"/>
                <a:ea typeface="Pretendard"/>
                <a:cs typeface="Pretendard"/>
              </a:rPr>
              <a:t>관광지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508760" y="3931920"/>
            <a:ext cx="868680" cy="1463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650" b="0" i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35%</a:t>
            </a:r>
          </a:p>
        </p:txBody>
      </p:sp>
      <p:sp>
        <p:nvSpPr>
          <p:cNvPr id="43" name="Oval 42"/>
          <p:cNvSpPr/>
          <p:nvPr/>
        </p:nvSpPr>
        <p:spPr>
          <a:xfrm>
            <a:off x="2514600" y="3950208"/>
            <a:ext cx="91440" cy="91440"/>
          </a:xfrm>
          <a:prstGeom prst="ellipse">
            <a:avLst/>
          </a:prstGeom>
          <a:solidFill>
            <a:srgbClr val="4284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2633472" y="3931920"/>
            <a:ext cx="868680" cy="1463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650" b="0" i="0">
                <a:solidFill>
                  <a:srgbClr val="2E3338"/>
                </a:solidFill>
                <a:latin typeface="Pretendard"/>
                <a:ea typeface="Pretendard"/>
                <a:cs typeface="Pretendard"/>
              </a:rPr>
              <a:t>문화시설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83280" y="3931920"/>
            <a:ext cx="868680" cy="1463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650" b="0" i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15%</a:t>
            </a:r>
          </a:p>
        </p:txBody>
      </p:sp>
      <p:sp>
        <p:nvSpPr>
          <p:cNvPr id="46" name="Oval 45"/>
          <p:cNvSpPr/>
          <p:nvPr/>
        </p:nvSpPr>
        <p:spPr>
          <a:xfrm>
            <a:off x="640080" y="4114800"/>
            <a:ext cx="91440" cy="91440"/>
          </a:xfrm>
          <a:prstGeom prst="ellipse">
            <a:avLst/>
          </a:prstGeom>
          <a:solidFill>
            <a:srgbClr val="6BA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758952" y="4096511"/>
            <a:ext cx="868680" cy="1463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650" b="0" i="0">
                <a:solidFill>
                  <a:srgbClr val="2E3338"/>
                </a:solidFill>
                <a:latin typeface="Pretendard"/>
                <a:ea typeface="Pretendard"/>
                <a:cs typeface="Pretendard"/>
              </a:rPr>
              <a:t>축제·공연·행사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508760" y="4096511"/>
            <a:ext cx="868680" cy="1463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650" b="0" i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10%</a:t>
            </a:r>
          </a:p>
        </p:txBody>
      </p:sp>
      <p:sp>
        <p:nvSpPr>
          <p:cNvPr id="49" name="Oval 48"/>
          <p:cNvSpPr/>
          <p:nvPr/>
        </p:nvSpPr>
        <p:spPr>
          <a:xfrm>
            <a:off x="2514600" y="4114800"/>
            <a:ext cx="91440" cy="91440"/>
          </a:xfrm>
          <a:prstGeom prst="ellipse">
            <a:avLst/>
          </a:prstGeom>
          <a:solidFill>
            <a:srgbClr val="94C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2633472" y="4096511"/>
            <a:ext cx="868680" cy="1463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650" b="0" i="0">
                <a:solidFill>
                  <a:srgbClr val="2E3338"/>
                </a:solidFill>
                <a:latin typeface="Pretendard"/>
                <a:ea typeface="Pretendard"/>
                <a:cs typeface="Pretendard"/>
              </a:rPr>
              <a:t>여행코스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80" y="4096511"/>
            <a:ext cx="868680" cy="1463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650" b="0" i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2%</a:t>
            </a:r>
          </a:p>
        </p:txBody>
      </p:sp>
      <p:sp>
        <p:nvSpPr>
          <p:cNvPr id="52" name="Oval 51"/>
          <p:cNvSpPr/>
          <p:nvPr/>
        </p:nvSpPr>
        <p:spPr>
          <a:xfrm>
            <a:off x="640080" y="4279392"/>
            <a:ext cx="91440" cy="91440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758952" y="4261104"/>
            <a:ext cx="868680" cy="1463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650" b="0" i="0">
                <a:solidFill>
                  <a:srgbClr val="2E3338"/>
                </a:solidFill>
                <a:latin typeface="Pretendard"/>
                <a:ea typeface="Pretendard"/>
                <a:cs typeface="Pretendard"/>
              </a:rPr>
              <a:t>레포츠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508760" y="4261104"/>
            <a:ext cx="868680" cy="1463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650" b="0" i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8%</a:t>
            </a:r>
          </a:p>
        </p:txBody>
      </p:sp>
      <p:sp>
        <p:nvSpPr>
          <p:cNvPr id="55" name="Oval 54"/>
          <p:cNvSpPr/>
          <p:nvPr/>
        </p:nvSpPr>
        <p:spPr>
          <a:xfrm>
            <a:off x="2514600" y="4279392"/>
            <a:ext cx="91440" cy="91440"/>
          </a:xfrm>
          <a:prstGeom prst="ellipse">
            <a:avLst/>
          </a:prstGeom>
          <a:solidFill>
            <a:srgbClr val="E8A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2633472" y="4261104"/>
            <a:ext cx="868680" cy="1463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650" b="0" i="0">
                <a:solidFill>
                  <a:srgbClr val="2E3338"/>
                </a:solidFill>
                <a:latin typeface="Pretendard"/>
                <a:ea typeface="Pretendard"/>
                <a:cs typeface="Pretendard"/>
              </a:rPr>
              <a:t>숙박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383280" y="4261104"/>
            <a:ext cx="868680" cy="1463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650" b="0" i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15%</a:t>
            </a:r>
          </a:p>
        </p:txBody>
      </p:sp>
      <p:sp>
        <p:nvSpPr>
          <p:cNvPr id="58" name="Oval 57"/>
          <p:cNvSpPr/>
          <p:nvPr/>
        </p:nvSpPr>
        <p:spPr>
          <a:xfrm>
            <a:off x="640080" y="4443984"/>
            <a:ext cx="91440" cy="91440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758952" y="4425696"/>
            <a:ext cx="868680" cy="1463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650" b="0" i="0">
                <a:solidFill>
                  <a:srgbClr val="2E3338"/>
                </a:solidFill>
                <a:latin typeface="Pretendard"/>
                <a:ea typeface="Pretendard"/>
                <a:cs typeface="Pretendard"/>
              </a:rPr>
              <a:t>쇼핑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508760" y="4425696"/>
            <a:ext cx="868680" cy="1463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650" b="0" i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5%</a:t>
            </a:r>
          </a:p>
        </p:txBody>
      </p:sp>
      <p:sp>
        <p:nvSpPr>
          <p:cNvPr id="61" name="Oval 60"/>
          <p:cNvSpPr/>
          <p:nvPr/>
        </p:nvSpPr>
        <p:spPr>
          <a:xfrm>
            <a:off x="2514600" y="4443984"/>
            <a:ext cx="91440" cy="91440"/>
          </a:xfrm>
          <a:prstGeom prst="ellipse">
            <a:avLst/>
          </a:prstGeom>
          <a:solidFill>
            <a:srgbClr val="6FC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2633472" y="4425696"/>
            <a:ext cx="868680" cy="1463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650" b="0" i="0">
                <a:solidFill>
                  <a:srgbClr val="2E3338"/>
                </a:solidFill>
                <a:latin typeface="Pretendard"/>
                <a:ea typeface="Pretendard"/>
                <a:cs typeface="Pretendard"/>
              </a:rPr>
              <a:t>음식점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383280" y="4425696"/>
            <a:ext cx="868680" cy="1463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650" b="0" i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5%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663440" y="3246120"/>
            <a:ext cx="402336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 i="0">
                <a:solidFill>
                  <a:srgbClr val="2E3338"/>
                </a:solidFill>
                <a:latin typeface="Pretendard"/>
                <a:ea typeface="Pretendard"/>
                <a:cs typeface="Pretendard"/>
              </a:rPr>
              <a:t>큐레이션 70 일정 · 17개 시도 모두 포함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663440" y="3520440"/>
            <a:ext cx="4023360" cy="1097280"/>
          </a:xfrm>
          <a:prstGeom prst="rect">
            <a:avLst/>
          </a:prstGeom>
          <a:solidFill>
            <a:srgbClr val="F4F5F7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Oval 65"/>
          <p:cNvSpPr/>
          <p:nvPr/>
        </p:nvSpPr>
        <p:spPr>
          <a:xfrm>
            <a:off x="6437376" y="3831336"/>
            <a:ext cx="109728" cy="109728"/>
          </a:xfrm>
          <a:prstGeom prst="ellipse">
            <a:avLst/>
          </a:prstGeom>
          <a:solidFill>
            <a:srgbClr val="10579D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6217920" y="3931920"/>
            <a:ext cx="548640" cy="1280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550" b="0" i="0">
                <a:solidFill>
                  <a:srgbClr val="2E3338"/>
                </a:solidFill>
                <a:latin typeface="Pretendard"/>
                <a:ea typeface="Pretendard"/>
                <a:cs typeface="Pretendard"/>
              </a:rPr>
              <a:t>서울</a:t>
            </a:r>
          </a:p>
        </p:txBody>
      </p:sp>
      <p:sp>
        <p:nvSpPr>
          <p:cNvPr id="68" name="Oval 67"/>
          <p:cNvSpPr/>
          <p:nvPr/>
        </p:nvSpPr>
        <p:spPr>
          <a:xfrm>
            <a:off x="6108192" y="3849624"/>
            <a:ext cx="109728" cy="109728"/>
          </a:xfrm>
          <a:prstGeom prst="ellipse">
            <a:avLst/>
          </a:prstGeom>
          <a:solidFill>
            <a:srgbClr val="10579D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5888736" y="3950208"/>
            <a:ext cx="548640" cy="1280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550" b="0" i="0">
                <a:solidFill>
                  <a:srgbClr val="2E3338"/>
                </a:solidFill>
                <a:latin typeface="Pretendard"/>
                <a:ea typeface="Pretendard"/>
                <a:cs typeface="Pretendard"/>
              </a:rPr>
              <a:t>인천</a:t>
            </a:r>
          </a:p>
        </p:txBody>
      </p:sp>
      <p:sp>
        <p:nvSpPr>
          <p:cNvPr id="70" name="Oval 69"/>
          <p:cNvSpPr/>
          <p:nvPr/>
        </p:nvSpPr>
        <p:spPr>
          <a:xfrm>
            <a:off x="6620256" y="3785616"/>
            <a:ext cx="109728" cy="109728"/>
          </a:xfrm>
          <a:prstGeom prst="ellipse">
            <a:avLst/>
          </a:prstGeom>
          <a:solidFill>
            <a:srgbClr val="10579D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6400800" y="3886200"/>
            <a:ext cx="548640" cy="1280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550" b="0" i="0">
                <a:solidFill>
                  <a:srgbClr val="2E3338"/>
                </a:solidFill>
                <a:latin typeface="Pretendard"/>
                <a:ea typeface="Pretendard"/>
                <a:cs typeface="Pretendard"/>
              </a:rPr>
              <a:t>경기</a:t>
            </a:r>
          </a:p>
        </p:txBody>
      </p:sp>
      <p:sp>
        <p:nvSpPr>
          <p:cNvPr id="72" name="Oval 71"/>
          <p:cNvSpPr/>
          <p:nvPr/>
        </p:nvSpPr>
        <p:spPr>
          <a:xfrm>
            <a:off x="7168896" y="3721608"/>
            <a:ext cx="109728" cy="109728"/>
          </a:xfrm>
          <a:prstGeom prst="ellipse">
            <a:avLst/>
          </a:prstGeom>
          <a:solidFill>
            <a:srgbClr val="10579D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6949440" y="3822191"/>
            <a:ext cx="548640" cy="1280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550" b="0" i="0">
                <a:solidFill>
                  <a:srgbClr val="2E3338"/>
                </a:solidFill>
                <a:latin typeface="Pretendard"/>
                <a:ea typeface="Pretendard"/>
                <a:cs typeface="Pretendard"/>
              </a:rPr>
              <a:t>강원</a:t>
            </a:r>
          </a:p>
        </p:txBody>
      </p:sp>
      <p:sp>
        <p:nvSpPr>
          <p:cNvPr id="74" name="Oval 73"/>
          <p:cNvSpPr/>
          <p:nvPr/>
        </p:nvSpPr>
        <p:spPr>
          <a:xfrm>
            <a:off x="6254496" y="4014216"/>
            <a:ext cx="109728" cy="109728"/>
          </a:xfrm>
          <a:prstGeom prst="ellipse">
            <a:avLst/>
          </a:prstGeom>
          <a:solidFill>
            <a:srgbClr val="10579D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6035040" y="4114800"/>
            <a:ext cx="548640" cy="1280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550" b="0" i="0">
                <a:solidFill>
                  <a:srgbClr val="2E3338"/>
                </a:solidFill>
                <a:latin typeface="Pretendard"/>
                <a:ea typeface="Pretendard"/>
                <a:cs typeface="Pretendard"/>
              </a:rPr>
              <a:t>충남</a:t>
            </a:r>
          </a:p>
        </p:txBody>
      </p:sp>
      <p:sp>
        <p:nvSpPr>
          <p:cNvPr id="76" name="Oval 75"/>
          <p:cNvSpPr/>
          <p:nvPr/>
        </p:nvSpPr>
        <p:spPr>
          <a:xfrm>
            <a:off x="6803136" y="3968496"/>
            <a:ext cx="109728" cy="109728"/>
          </a:xfrm>
          <a:prstGeom prst="ellipse">
            <a:avLst/>
          </a:prstGeom>
          <a:solidFill>
            <a:srgbClr val="10579D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6583680" y="4069080"/>
            <a:ext cx="548640" cy="1280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550" b="0" i="0">
                <a:solidFill>
                  <a:srgbClr val="2E3338"/>
                </a:solidFill>
                <a:latin typeface="Pretendard"/>
                <a:ea typeface="Pretendard"/>
                <a:cs typeface="Pretendard"/>
              </a:rPr>
              <a:t>충북</a:t>
            </a:r>
          </a:p>
        </p:txBody>
      </p:sp>
      <p:sp>
        <p:nvSpPr>
          <p:cNvPr id="78" name="Oval 77"/>
          <p:cNvSpPr/>
          <p:nvPr/>
        </p:nvSpPr>
        <p:spPr>
          <a:xfrm>
            <a:off x="6620256" y="4059936"/>
            <a:ext cx="109728" cy="109728"/>
          </a:xfrm>
          <a:prstGeom prst="ellipse">
            <a:avLst/>
          </a:prstGeom>
          <a:solidFill>
            <a:srgbClr val="10579D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6400800" y="4160520"/>
            <a:ext cx="548640" cy="1280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550" b="0" i="0">
                <a:solidFill>
                  <a:srgbClr val="2E3338"/>
                </a:solidFill>
                <a:latin typeface="Pretendard"/>
                <a:ea typeface="Pretendard"/>
                <a:cs typeface="Pretendard"/>
              </a:rPr>
              <a:t>대전</a:t>
            </a:r>
          </a:p>
        </p:txBody>
      </p:sp>
      <p:sp>
        <p:nvSpPr>
          <p:cNvPr id="80" name="Oval 79"/>
          <p:cNvSpPr/>
          <p:nvPr/>
        </p:nvSpPr>
        <p:spPr>
          <a:xfrm>
            <a:off x="6547104" y="4014216"/>
            <a:ext cx="109728" cy="109728"/>
          </a:xfrm>
          <a:prstGeom prst="ellipse">
            <a:avLst/>
          </a:prstGeom>
          <a:solidFill>
            <a:srgbClr val="10579D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6327648" y="4114800"/>
            <a:ext cx="548640" cy="1280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550" b="0" i="0">
                <a:solidFill>
                  <a:srgbClr val="2E3338"/>
                </a:solidFill>
                <a:latin typeface="Pretendard"/>
                <a:ea typeface="Pretendard"/>
                <a:cs typeface="Pretendard"/>
              </a:rPr>
              <a:t>세종</a:t>
            </a:r>
          </a:p>
        </p:txBody>
      </p:sp>
      <p:sp>
        <p:nvSpPr>
          <p:cNvPr id="82" name="Oval 81"/>
          <p:cNvSpPr/>
          <p:nvPr/>
        </p:nvSpPr>
        <p:spPr>
          <a:xfrm>
            <a:off x="6327648" y="4151376"/>
            <a:ext cx="109728" cy="109728"/>
          </a:xfrm>
          <a:prstGeom prst="ellipse">
            <a:avLst/>
          </a:prstGeom>
          <a:solidFill>
            <a:srgbClr val="10579D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6108192" y="4251960"/>
            <a:ext cx="548640" cy="1280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550" b="0" i="0">
                <a:solidFill>
                  <a:srgbClr val="2E3338"/>
                </a:solidFill>
                <a:latin typeface="Pretendard"/>
                <a:ea typeface="Pretendard"/>
                <a:cs typeface="Pretendard"/>
              </a:rPr>
              <a:t>전북</a:t>
            </a:r>
          </a:p>
        </p:txBody>
      </p:sp>
      <p:sp>
        <p:nvSpPr>
          <p:cNvPr id="84" name="Oval 83"/>
          <p:cNvSpPr/>
          <p:nvPr/>
        </p:nvSpPr>
        <p:spPr>
          <a:xfrm>
            <a:off x="6181344" y="4288536"/>
            <a:ext cx="109728" cy="109728"/>
          </a:xfrm>
          <a:prstGeom prst="ellipse">
            <a:avLst/>
          </a:prstGeom>
          <a:solidFill>
            <a:srgbClr val="10579D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5961888" y="4389120"/>
            <a:ext cx="548640" cy="1280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550" b="0" i="0">
                <a:solidFill>
                  <a:srgbClr val="2E3338"/>
                </a:solidFill>
                <a:latin typeface="Pretendard"/>
                <a:ea typeface="Pretendard"/>
                <a:cs typeface="Pretendard"/>
              </a:rPr>
              <a:t>전남</a:t>
            </a:r>
          </a:p>
        </p:txBody>
      </p:sp>
      <p:sp>
        <p:nvSpPr>
          <p:cNvPr id="86" name="Oval 85"/>
          <p:cNvSpPr/>
          <p:nvPr/>
        </p:nvSpPr>
        <p:spPr>
          <a:xfrm>
            <a:off x="6254496" y="4242816"/>
            <a:ext cx="109728" cy="109728"/>
          </a:xfrm>
          <a:prstGeom prst="ellipse">
            <a:avLst/>
          </a:prstGeom>
          <a:solidFill>
            <a:srgbClr val="10579D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6035040" y="4343400"/>
            <a:ext cx="548640" cy="1280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550" b="0" i="0">
                <a:solidFill>
                  <a:srgbClr val="2E3338"/>
                </a:solidFill>
                <a:latin typeface="Pretendard"/>
                <a:ea typeface="Pretendard"/>
                <a:cs typeface="Pretendard"/>
              </a:rPr>
              <a:t>광주</a:t>
            </a:r>
          </a:p>
        </p:txBody>
      </p:sp>
      <p:sp>
        <p:nvSpPr>
          <p:cNvPr id="88" name="Oval 87"/>
          <p:cNvSpPr/>
          <p:nvPr/>
        </p:nvSpPr>
        <p:spPr>
          <a:xfrm>
            <a:off x="7168896" y="3968496"/>
            <a:ext cx="109728" cy="109728"/>
          </a:xfrm>
          <a:prstGeom prst="ellipse">
            <a:avLst/>
          </a:prstGeom>
          <a:solidFill>
            <a:srgbClr val="10579D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6949440" y="4069080"/>
            <a:ext cx="548640" cy="1280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550" b="0" i="0">
                <a:solidFill>
                  <a:srgbClr val="2E3338"/>
                </a:solidFill>
                <a:latin typeface="Pretendard"/>
                <a:ea typeface="Pretendard"/>
                <a:cs typeface="Pretendard"/>
              </a:rPr>
              <a:t>경북</a:t>
            </a:r>
          </a:p>
        </p:txBody>
      </p:sp>
      <p:sp>
        <p:nvSpPr>
          <p:cNvPr id="90" name="Oval 89"/>
          <p:cNvSpPr/>
          <p:nvPr/>
        </p:nvSpPr>
        <p:spPr>
          <a:xfrm>
            <a:off x="6986016" y="4197096"/>
            <a:ext cx="109728" cy="109728"/>
          </a:xfrm>
          <a:prstGeom prst="ellipse">
            <a:avLst/>
          </a:prstGeom>
          <a:solidFill>
            <a:srgbClr val="10579D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6766559" y="4297680"/>
            <a:ext cx="548640" cy="1280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550" b="0" i="0">
                <a:solidFill>
                  <a:srgbClr val="2E3338"/>
                </a:solidFill>
                <a:latin typeface="Pretendard"/>
                <a:ea typeface="Pretendard"/>
                <a:cs typeface="Pretendard"/>
              </a:rPr>
              <a:t>경남</a:t>
            </a:r>
          </a:p>
        </p:txBody>
      </p:sp>
      <p:sp>
        <p:nvSpPr>
          <p:cNvPr id="92" name="Oval 91"/>
          <p:cNvSpPr/>
          <p:nvPr/>
        </p:nvSpPr>
        <p:spPr>
          <a:xfrm>
            <a:off x="7059168" y="4059936"/>
            <a:ext cx="109728" cy="109728"/>
          </a:xfrm>
          <a:prstGeom prst="ellipse">
            <a:avLst/>
          </a:prstGeom>
          <a:solidFill>
            <a:srgbClr val="10579D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6839712" y="4160520"/>
            <a:ext cx="548640" cy="1280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550" b="0" i="0">
                <a:solidFill>
                  <a:srgbClr val="2E3338"/>
                </a:solidFill>
                <a:latin typeface="Pretendard"/>
                <a:ea typeface="Pretendard"/>
                <a:cs typeface="Pretendard"/>
              </a:rPr>
              <a:t>대구</a:t>
            </a:r>
          </a:p>
        </p:txBody>
      </p:sp>
      <p:sp>
        <p:nvSpPr>
          <p:cNvPr id="94" name="Oval 93"/>
          <p:cNvSpPr/>
          <p:nvPr/>
        </p:nvSpPr>
        <p:spPr>
          <a:xfrm>
            <a:off x="7424927" y="4270248"/>
            <a:ext cx="109728" cy="109728"/>
          </a:xfrm>
          <a:prstGeom prst="ellipse">
            <a:avLst/>
          </a:prstGeom>
          <a:solidFill>
            <a:srgbClr val="10579D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7205472" y="4370832"/>
            <a:ext cx="548640" cy="1280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550" b="0" i="0">
                <a:solidFill>
                  <a:srgbClr val="2E3338"/>
                </a:solidFill>
                <a:latin typeface="Pretendard"/>
                <a:ea typeface="Pretendard"/>
                <a:cs typeface="Pretendard"/>
              </a:rPr>
              <a:t>부산</a:t>
            </a:r>
          </a:p>
        </p:txBody>
      </p:sp>
      <p:sp>
        <p:nvSpPr>
          <p:cNvPr id="96" name="Oval 95"/>
          <p:cNvSpPr/>
          <p:nvPr/>
        </p:nvSpPr>
        <p:spPr>
          <a:xfrm>
            <a:off x="7644383" y="4151376"/>
            <a:ext cx="109728" cy="109728"/>
          </a:xfrm>
          <a:prstGeom prst="ellipse">
            <a:avLst/>
          </a:prstGeom>
          <a:solidFill>
            <a:srgbClr val="10579D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7424927" y="4251960"/>
            <a:ext cx="548640" cy="1280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550" b="0" i="0">
                <a:solidFill>
                  <a:srgbClr val="2E3338"/>
                </a:solidFill>
                <a:latin typeface="Pretendard"/>
                <a:ea typeface="Pretendard"/>
                <a:cs typeface="Pretendard"/>
              </a:rPr>
              <a:t>울산</a:t>
            </a:r>
          </a:p>
        </p:txBody>
      </p:sp>
      <p:sp>
        <p:nvSpPr>
          <p:cNvPr id="98" name="Oval 97"/>
          <p:cNvSpPr/>
          <p:nvPr/>
        </p:nvSpPr>
        <p:spPr>
          <a:xfrm>
            <a:off x="5888736" y="4425696"/>
            <a:ext cx="109728" cy="109728"/>
          </a:xfrm>
          <a:prstGeom prst="ellipse">
            <a:avLst/>
          </a:prstGeom>
          <a:solidFill>
            <a:srgbClr val="10579D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5669280" y="4526280"/>
            <a:ext cx="548640" cy="1280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550" b="0" i="0">
                <a:solidFill>
                  <a:srgbClr val="2E3338"/>
                </a:solidFill>
                <a:latin typeface="Pretendard"/>
                <a:ea typeface="Pretendard"/>
                <a:cs typeface="Pretendard"/>
              </a:rPr>
              <a:t>제주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" cy="2926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3" name="Text 1"/>
          <p:cNvSpPr/>
          <p:nvPr/>
        </p:nvSpPr>
        <p:spPr>
          <a:xfrm>
            <a:off x="594360" y="38404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SECTION 05 · 데이터 자산 (계속)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정성·정량 검증 외부 레퍼런스</a:t>
            </a:r>
            <a:endParaRPr lang="en-US" sz="28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24358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한국관광공사 관광데이터랩 7종 + 통계월보</a:t>
            </a:r>
            <a:endParaRPr lang="en-US" sz="13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4069080" cy="50292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36576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8" name="Text 6"/>
          <p:cNvSpPr/>
          <p:nvPr/>
        </p:nvSpPr>
        <p:spPr>
          <a:xfrm>
            <a:off x="594360" y="1901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01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9" name="Text 7"/>
          <p:cNvSpPr/>
          <p:nvPr/>
        </p:nvSpPr>
        <p:spPr>
          <a:xfrm>
            <a:off x="960120" y="182880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2025년 국민여행조사 4분기 (잠정)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0" name="Text 8"/>
          <p:cNvSpPr/>
          <p:nvPr/>
        </p:nvSpPr>
        <p:spPr>
          <a:xfrm>
            <a:off x="960120" y="203911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관광공사 관광데이터랩 · 여행 횟수 · 일수 · 동선 불편 응답률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617720" y="1783080"/>
            <a:ext cx="4069080" cy="50292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617720" y="1783080"/>
            <a:ext cx="36576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754880" y="1901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02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120640" y="182880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2025년 국민여행조사 3분기 (잠정)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120640" y="203911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관광공사 관광데이터랩 · 성수기 패턴 · 지역 분포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57200" y="2350008"/>
            <a:ext cx="4069080" cy="50292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57200" y="2350008"/>
            <a:ext cx="36576" cy="5029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594360" y="24688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Pretendard"/>
                <a:ea typeface="Pretendard"/>
                <a:cs typeface="Pretendard"/>
              </a:rPr>
              <a:t>03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960120" y="239572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2025 빅데이터와 함께하는 똑똑한 컨설팅 종합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960120" y="260604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관광공사 · 관광 빅데이터 활용 사례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617720" y="2350008"/>
            <a:ext cx="4069080" cy="50292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617720" y="2350008"/>
            <a:ext cx="36576" cy="5029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4754880" y="24688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Pretendard"/>
                <a:ea typeface="Pretendard"/>
                <a:cs typeface="Pretendard"/>
              </a:rPr>
              <a:t>04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5120640" y="239572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2025 관광자원개발 및 관광투자 동향조사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5120640" y="260604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관광공사 · 권역별 자원 분포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457200" y="2916936"/>
            <a:ext cx="4069080" cy="50292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457200" y="2916936"/>
            <a:ext cx="36576" cy="5029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594360" y="303580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Pretendard"/>
                <a:ea typeface="Pretendard"/>
                <a:cs typeface="Pretendard"/>
              </a:rPr>
              <a:t>05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960120" y="296265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2025 우수웰니스관광지 만족도 및 실태조사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960120" y="317296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관광공사 · 테마 정합성 검증 사례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4617720" y="2916936"/>
            <a:ext cx="4069080" cy="50292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4617720" y="2916936"/>
            <a:ext cx="36576" cy="5029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4754880" y="303580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06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5120640" y="296265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Data&amp;Tourism 43호 — 방한 주요국 한국 여행 분석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5120640" y="317296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관광컨설팅팀 · 외국인 동선 인사이트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457200" y="3483864"/>
            <a:ext cx="8229600" cy="50292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457200" y="3483864"/>
            <a:ext cx="36576" cy="5029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640080" y="36027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07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1097280" y="354787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관광 통계월보 202602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1097280" y="3739896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관광공사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6400800" y="360273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시군구별 월 가중치 (혼잡 폴백)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457200" y="46177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모든 자료는 한국관광공사 관광데이터랩(datalab.visitkorea.or.kr)에서 공식 제공 · 출처 표기 필수.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457200" y="4846320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관광 일정 QA 엔진  ·  Explainable Travel Plan Validator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6766560" y="484632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16 / 24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7635240" y="4777740"/>
            <a:ext cx="118872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800" i="1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[ Brandlogy logo ]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" cy="2926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3" name="Text 1"/>
          <p:cNvSpPr/>
          <p:nvPr/>
        </p:nvSpPr>
        <p:spPr>
          <a:xfrm>
            <a:off x="594360" y="38404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SECTION 06 · 검증 결과 — 1 / 4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End-to-End 파이프라인 실행 결과</a:t>
            </a:r>
            <a:endParaRPr lang="en-US" sz="28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24358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70개 큐레이션 일정 → 322 장소 → 검증 완료</a:t>
            </a:r>
            <a:endParaRPr lang="en-US" sz="13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4114800" cy="278892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7" name="Text 5"/>
          <p:cNvSpPr/>
          <p:nvPr/>
        </p:nvSpPr>
        <p:spPr>
          <a:xfrm>
            <a:off x="640080" y="18745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입력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8" name="Text 6"/>
          <p:cNvSpPr/>
          <p:nvPr/>
        </p:nvSpPr>
        <p:spPr>
          <a:xfrm>
            <a:off x="640080" y="21488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recommendations_input.xlsx</a:t>
            </a:r>
            <a:endParaRPr lang="en-US" sz="16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9" name="Text 7"/>
          <p:cNvSpPr/>
          <p:nvPr/>
        </p:nvSpPr>
        <p:spPr>
          <a:xfrm>
            <a:off x="640080" y="2606040"/>
            <a:ext cx="37490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1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•  17개 시도 모두 포함
•  </a:t>
            </a:r>
            <a:r>
              <a:rPr lang="en-US" sz="11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당일치기 / 1박2일 / 2박3일 </a:t>
            </a:r>
            <a:r>
              <a:rPr lang="en-US" sz="11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혼합
•  카테고리 = 관광지 · 식당 · 카페 · 시장
•  AI001 ~ AI070  연속 plan_id
•  data row 총 322개 (장소 단위)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663440" y="1783080"/>
            <a:ext cx="4023360" cy="2788920"/>
          </a:xfrm>
          <a:prstGeom prst="rect">
            <a:avLst/>
          </a:prstGeom>
          <a:solidFill>
            <a:srgbClr val="111827"/>
          </a:solidFill>
          <a:ln w="9525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846320" y="1874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0F2FE"/>
                </a:solidFill>
                <a:latin typeface="Pretendard"/>
                <a:ea typeface="Pretendard"/>
                <a:cs typeface="Pretendard"/>
              </a:rPr>
              <a:t>처리 단계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846320" y="2212848"/>
            <a:ext cx="310896" cy="310896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846320" y="2217420"/>
            <a:ext cx="3108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  <a:endParaRPr lang="en-US" sz="13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285232" y="219456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POI 매칭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285232" y="237744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TourAPI 정확/부분 매칭 + 시군구 보정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846320" y="2596896"/>
            <a:ext cx="310896" cy="310896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846320" y="2601468"/>
            <a:ext cx="3108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  <a:endParaRPr lang="en-US" sz="13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5285232" y="2578608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체류시간 추정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285232" y="276148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5단계 폴백 → 체류출처 라벨링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846320" y="2980944"/>
            <a:ext cx="310896" cy="310896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846320" y="2985516"/>
            <a:ext cx="3108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  <a:endParaRPr lang="en-US" sz="13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5285232" y="2962656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Kakao 행렬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5285232" y="314553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이동시간 양방향 캐시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4846320" y="3364992"/>
            <a:ext cx="310896" cy="310896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4846320" y="3369564"/>
            <a:ext cx="3108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  <a:endParaRPr lang="en-US" sz="13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5285232" y="3346704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VRPTW 검증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5285232" y="3529584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Hard/Warning 후보 생성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4846320" y="3749040"/>
            <a:ext cx="310896" cy="310896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4846320" y="3753612"/>
            <a:ext cx="3108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  <a:endParaRPr lang="en-US" sz="13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5285232" y="373075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Score 4종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5285232" y="3913632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travel · cluster · theme · congestion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4846320" y="4133088"/>
            <a:ext cx="310896" cy="310896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4846320" y="4137660"/>
            <a:ext cx="3108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6</a:t>
            </a:r>
            <a:endParaRPr lang="en-US" sz="13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5285232" y="411480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Excel 출력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5285232" y="429768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27 컬럼 + risk_score 포함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457200" y="4846320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관광 일정 QA 엔진  ·  Explainable Travel Plan Validator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6766560" y="484632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17 / 24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7635240" y="4777740"/>
            <a:ext cx="118872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800" i="1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[ Brandlogy logo ]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" cy="2926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3" name="Text 1"/>
          <p:cNvSpPr/>
          <p:nvPr/>
        </p:nvSpPr>
        <p:spPr>
          <a:xfrm>
            <a:off x="594360" y="38404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SECTION 06 · 검증 결과 — 2 / 4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POI 매칭 정확도 — 96.0%</a:t>
            </a:r>
            <a:endParaRPr lang="en-US" sz="28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24358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공공 API 단일 소스로 90% 매칭 목표 초과 달성</a:t>
            </a:r>
            <a:endParaRPr lang="en-US" sz="13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6" name="Text 4"/>
          <p:cNvSpPr/>
          <p:nvPr/>
        </p:nvSpPr>
        <p:spPr>
          <a:xfrm>
            <a:off x="365760" y="1874520"/>
            <a:ext cx="49377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600" b="1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96.0%</a:t>
            </a:r>
            <a:endParaRPr lang="en-US" sz="96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7" name="Text 5"/>
          <p:cNvSpPr/>
          <p:nvPr/>
        </p:nvSpPr>
        <p:spPr>
          <a:xfrm>
            <a:off x="457200" y="3520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309 / 322 장소 매칭 성공</a:t>
            </a:r>
            <a:endParaRPr lang="en-US" sz="14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8" name="Text 6"/>
          <p:cNvSpPr/>
          <p:nvPr/>
        </p:nvSpPr>
        <p:spPr>
          <a:xfrm>
            <a:off x="457200" y="3794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실패 13개 = 카페·로컬 식당 (TourAPI 미등록 자영업)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212080" y="1783080"/>
            <a:ext cx="3474720" cy="278892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394960" y="18745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매칭 단계 분포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440680" y="224028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exact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440680" y="2468880"/>
            <a:ext cx="2880360" cy="164592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440680" y="2651760"/>
            <a:ext cx="2880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77.0%   ·   248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440680" y="280720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partial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5440680" y="3035808"/>
            <a:ext cx="475072" cy="16459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440680" y="3218688"/>
            <a:ext cx="2880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12.7%   ·   41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5440680" y="3374136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partial + sigungu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5440680" y="3602736"/>
            <a:ext cx="231925" cy="16459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440680" y="3785616"/>
            <a:ext cx="2880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6.2%   ·   20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5440680" y="394106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not_found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5440680" y="4169664"/>
            <a:ext cx="149629" cy="164592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5440680" y="4352544"/>
            <a:ext cx="2880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4.0%   ·   13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457200" y="45720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실패 케이스도 match_failed.csv로 별도 출력 → 이름 보정 후 재실행 가능 (운영 가능한 매칭률 보정 루프 내장).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457200" y="4846320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관광 일정 QA 엔진  ·  Explainable Travel Plan Validator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766560" y="484632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18 / 24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635240" y="4777740"/>
            <a:ext cx="118872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800" i="1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[ Brandlogy logo ]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" cy="2926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3" name="Text 1"/>
          <p:cNvSpPr/>
          <p:nvPr/>
        </p:nvSpPr>
        <p:spPr>
          <a:xfrm>
            <a:off x="594360" y="38404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SECTION 06 · 검증 결과 — 3 / 4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70 일정 검증 결과 — 등급 분포</a:t>
            </a:r>
            <a:endParaRPr lang="en-US" sz="28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24358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PASS / REVIEW / FAIL — risk_score 0–100 기준</a:t>
            </a:r>
            <a:endParaRPr lang="en-US" sz="13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2697480" cy="201168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36576" cy="201168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8" name="Text 6"/>
          <p:cNvSpPr/>
          <p:nvPr/>
        </p:nvSpPr>
        <p:spPr>
          <a:xfrm>
            <a:off x="640080" y="18745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47857"/>
                </a:solidFill>
                <a:latin typeface="Pretendard"/>
                <a:ea typeface="Pretendard"/>
                <a:cs typeface="Pretendard"/>
              </a:rPr>
              <a:t>PASS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9" name="Text 7"/>
          <p:cNvSpPr/>
          <p:nvPr/>
        </p:nvSpPr>
        <p:spPr>
          <a:xfrm>
            <a:off x="640080" y="2121408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≥ 60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40080" y="237744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047857"/>
                </a:solidFill>
                <a:latin typeface="Pretendard"/>
                <a:ea typeface="Pretendard"/>
                <a:cs typeface="Pretendard"/>
              </a:rPr>
              <a:t>47</a:t>
            </a:r>
            <a:endParaRPr lang="en-US" sz="56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40080" y="320040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67.1%   /   70 일정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40080" y="3456432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추천 가능 — Hard Fail 없음, 패널티 합 −40 이내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3291840" y="1783080"/>
            <a:ext cx="2697480" cy="201168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291840" y="1783080"/>
            <a:ext cx="36576" cy="20116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474720" y="18745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97706"/>
                </a:solidFill>
                <a:latin typeface="Pretendard"/>
                <a:ea typeface="Pretendard"/>
                <a:cs typeface="Pretendard"/>
              </a:rPr>
              <a:t>REVIEW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474720" y="2121408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40 – 59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474720" y="237744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D97706"/>
                </a:solidFill>
                <a:latin typeface="Pretendard"/>
                <a:ea typeface="Pretendard"/>
                <a:cs typeface="Pretendard"/>
              </a:rPr>
              <a:t>18</a:t>
            </a:r>
            <a:endParaRPr lang="en-US" sz="56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3474720" y="320040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25.7%   /   70 일정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3474720" y="3456432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수정 필요 — travel_ratio 또는 cluster M3+M4 발생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126480" y="1783080"/>
            <a:ext cx="2697480" cy="201168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126480" y="1783080"/>
            <a:ext cx="36576" cy="201168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309360" y="18745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91C1C"/>
                </a:solidFill>
                <a:latin typeface="Pretendard"/>
                <a:ea typeface="Pretendard"/>
                <a:cs typeface="Pretendard"/>
              </a:rPr>
              <a:t>FAIL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309360" y="2121408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&lt; 40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309360" y="237744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B91C1C"/>
                </a:solidFill>
                <a:latin typeface="Pretendard"/>
                <a:ea typeface="Pretendard"/>
                <a:cs typeface="Pretendard"/>
              </a:rPr>
              <a:t>5</a:t>
            </a:r>
            <a:endParaRPr lang="en-US" sz="56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309360" y="320040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7.2%   /   70 일정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309360" y="3456432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재구성 권고 — 운영시간 충돌 또는 Depot 위반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457200" y="3931920"/>
            <a:ext cx="8229600" cy="77724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40080" y="402336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패널티 발생 횟수 (70 일정 기준 · 다중 발생 허용)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457200" y="4846320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관광 일정 QA 엔진  ·  Explainable Travel Plan Validator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6766560" y="484632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19 / 24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7635240" y="4777740"/>
            <a:ext cx="118872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800" i="1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[ Brandlogy logo ]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76656" y="4325112"/>
            <a:ext cx="1219200" cy="182880"/>
          </a:xfrm>
          <a:prstGeom prst="roundRect">
            <a:avLst>
              <a:gd name="adj" fmla="val 8000"/>
            </a:avLst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ounded Rectangle 44"/>
          <p:cNvSpPr/>
          <p:nvPr/>
        </p:nvSpPr>
        <p:spPr>
          <a:xfrm>
            <a:off x="676656" y="4325112"/>
            <a:ext cx="1219200" cy="182880"/>
          </a:xfrm>
          <a:prstGeom prst="roundRect">
            <a:avLst>
              <a:gd name="adj" fmla="val 8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30936" y="4526279"/>
            <a:ext cx="1310640" cy="1463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00" b="1" i="0">
                <a:solidFill>
                  <a:srgbClr val="2E3338"/>
                </a:solidFill>
                <a:latin typeface="Pretendard"/>
                <a:ea typeface="Pretendard"/>
                <a:cs typeface="Pretendard"/>
              </a:rPr>
              <a:t>Travel Ratio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0936" y="4526279"/>
            <a:ext cx="1310640" cy="1463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700" b="1" i="0">
                <a:solidFill>
                  <a:srgbClr val="D97706"/>
                </a:solidFill>
                <a:latin typeface="Pretendard"/>
                <a:ea typeface="Pretendard"/>
                <a:cs typeface="Pretendard"/>
              </a:rPr>
              <a:t>21회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987296" y="4325112"/>
            <a:ext cx="1219200" cy="182880"/>
          </a:xfrm>
          <a:prstGeom prst="roundRect">
            <a:avLst>
              <a:gd name="adj" fmla="val 8000"/>
            </a:avLst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1987296" y="4325112"/>
            <a:ext cx="754742" cy="182880"/>
          </a:xfrm>
          <a:prstGeom prst="roundRect">
            <a:avLst>
              <a:gd name="adj" fmla="val 8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1941576" y="4526279"/>
            <a:ext cx="1310640" cy="1463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00" b="1" i="0">
                <a:solidFill>
                  <a:srgbClr val="2E3338"/>
                </a:solidFill>
                <a:latin typeface="Pretendard"/>
                <a:ea typeface="Pretendard"/>
                <a:cs typeface="Pretendard"/>
              </a:rPr>
              <a:t>Cluster M3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941576" y="4526279"/>
            <a:ext cx="1310640" cy="1463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700" b="1" i="0">
                <a:solidFill>
                  <a:srgbClr val="D97706"/>
                </a:solidFill>
                <a:latin typeface="Pretendard"/>
                <a:ea typeface="Pretendard"/>
                <a:cs typeface="Pretendard"/>
              </a:rPr>
              <a:t>13회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297936" y="4325112"/>
            <a:ext cx="1219200" cy="182880"/>
          </a:xfrm>
          <a:prstGeom prst="roundRect">
            <a:avLst>
              <a:gd name="adj" fmla="val 8000"/>
            </a:avLst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3297936" y="4325112"/>
            <a:ext cx="522514" cy="182880"/>
          </a:xfrm>
          <a:prstGeom prst="roundRect">
            <a:avLst>
              <a:gd name="adj" fmla="val 8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3252216" y="4526279"/>
            <a:ext cx="1310640" cy="1463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00" b="1" i="0">
                <a:solidFill>
                  <a:srgbClr val="2E3338"/>
                </a:solidFill>
                <a:latin typeface="Pretendard"/>
                <a:ea typeface="Pretendard"/>
                <a:cs typeface="Pretendard"/>
              </a:rPr>
              <a:t>Cluster M4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252216" y="4526279"/>
            <a:ext cx="1310640" cy="1463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700" b="1" i="0">
                <a:solidFill>
                  <a:srgbClr val="D97706"/>
                </a:solidFill>
                <a:latin typeface="Pretendard"/>
                <a:ea typeface="Pretendard"/>
                <a:cs typeface="Pretendard"/>
              </a:rPr>
              <a:t>9회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608576" y="4325112"/>
            <a:ext cx="1219200" cy="182880"/>
          </a:xfrm>
          <a:prstGeom prst="roundRect">
            <a:avLst>
              <a:gd name="adj" fmla="val 8000"/>
            </a:avLst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4608576" y="4325112"/>
            <a:ext cx="406400" cy="182880"/>
          </a:xfrm>
          <a:prstGeom prst="roundRect">
            <a:avLst>
              <a:gd name="adj" fmla="val 8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4562856" y="4526279"/>
            <a:ext cx="1310640" cy="1463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00" b="1" i="0">
                <a:solidFill>
                  <a:srgbClr val="2E3338"/>
                </a:solidFill>
                <a:latin typeface="Pretendard"/>
                <a:ea typeface="Pretendard"/>
                <a:cs typeface="Pretendard"/>
              </a:rPr>
              <a:t>Theme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562856" y="4526279"/>
            <a:ext cx="1310640" cy="1463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700" b="1" i="0">
                <a:solidFill>
                  <a:srgbClr val="D97706"/>
                </a:solidFill>
                <a:latin typeface="Pretendard"/>
                <a:ea typeface="Pretendard"/>
                <a:cs typeface="Pretendard"/>
              </a:rPr>
              <a:t>7회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919216" y="4325112"/>
            <a:ext cx="1219200" cy="182880"/>
          </a:xfrm>
          <a:prstGeom prst="roundRect">
            <a:avLst>
              <a:gd name="adj" fmla="val 8000"/>
            </a:avLst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5919216" y="4325112"/>
            <a:ext cx="638628" cy="182880"/>
          </a:xfrm>
          <a:prstGeom prst="roundRect">
            <a:avLst>
              <a:gd name="adj" fmla="val 8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873496" y="4526279"/>
            <a:ext cx="1310640" cy="1463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00" b="1" i="0">
                <a:solidFill>
                  <a:srgbClr val="2E3338"/>
                </a:solidFill>
                <a:latin typeface="Pretendard"/>
                <a:ea typeface="Pretendard"/>
                <a:cs typeface="Pretendard"/>
              </a:rPr>
              <a:t>Congestion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873496" y="4526279"/>
            <a:ext cx="1310640" cy="1463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700" b="1" i="0">
                <a:solidFill>
                  <a:srgbClr val="D97706"/>
                </a:solidFill>
                <a:latin typeface="Pretendard"/>
                <a:ea typeface="Pretendard"/>
                <a:cs typeface="Pretendard"/>
              </a:rPr>
              <a:t>11회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7229856" y="4325112"/>
            <a:ext cx="1219200" cy="182880"/>
          </a:xfrm>
          <a:prstGeom prst="roundRect">
            <a:avLst>
              <a:gd name="adj" fmla="val 8000"/>
            </a:avLst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7229856" y="4325112"/>
            <a:ext cx="174171" cy="182880"/>
          </a:xfrm>
          <a:prstGeom prst="roundRect">
            <a:avLst>
              <a:gd name="adj" fmla="val 8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7184136" y="4526279"/>
            <a:ext cx="1310640" cy="1463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00" b="1" i="0">
                <a:solidFill>
                  <a:srgbClr val="2E3338"/>
                </a:solidFill>
                <a:latin typeface="Pretendard"/>
                <a:ea typeface="Pretendard"/>
                <a:cs typeface="Pretendard"/>
              </a:rPr>
              <a:t>Depot 위반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184136" y="4526279"/>
            <a:ext cx="1310640" cy="1463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700" b="1" i="0">
                <a:solidFill>
                  <a:srgbClr val="DC2626"/>
                </a:solidFill>
                <a:latin typeface="Pretendard"/>
                <a:ea typeface="Pretendard"/>
                <a:cs typeface="Pretendard"/>
              </a:rPr>
              <a:t>3회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" cy="2926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3" name="Text 1"/>
          <p:cNvSpPr/>
          <p:nvPr/>
        </p:nvSpPr>
        <p:spPr>
          <a:xfrm>
            <a:off x="594360" y="38404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SECTION 06 · 검증 결과 — 4 / 4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Sample Output — 실제 검증 1행</a:t>
            </a:r>
            <a:endParaRPr lang="en-US" sz="28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24358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AI004 · 부산 1박2일 — risk_score = 47 (REVIEW)</a:t>
            </a:r>
            <a:endParaRPr lang="en-US" sz="13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71" name="Text 169"/>
          <p:cNvSpPr/>
          <p:nvPr/>
        </p:nvSpPr>
        <p:spPr>
          <a:xfrm>
            <a:off x="457200" y="4846320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관광 일정 QA 엔진  ·  Explainable Travel Plan Validator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72" name="Text 170"/>
          <p:cNvSpPr/>
          <p:nvPr/>
        </p:nvSpPr>
        <p:spPr>
          <a:xfrm>
            <a:off x="6766560" y="484632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20 / 24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73" name="TextBox 172"/>
          <p:cNvSpPr txBox="1"/>
          <p:nvPr/>
        </p:nvSpPr>
        <p:spPr>
          <a:xfrm>
            <a:off x="7635240" y="4777740"/>
            <a:ext cx="118872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800" i="1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[ Brandlogy logo ]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502920" y="1783080"/>
            <a:ext cx="8183879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2E3338"/>
                </a:solidFill>
                <a:latin typeface="Pretendard"/>
                <a:ea typeface="Pretendard"/>
                <a:cs typeface="Pretendard"/>
              </a:rPr>
              <a:t>Gantt — 시간 막대 + 패널티 발생 지점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502920" y="2103120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 i="0">
                <a:solidFill>
                  <a:srgbClr val="10579D"/>
                </a:solidFill>
                <a:latin typeface="Pretendard"/>
                <a:ea typeface="Pretendard"/>
                <a:cs typeface="Pretendard"/>
              </a:rPr>
              <a:t>Day 1</a:t>
            </a:r>
          </a:p>
        </p:txBody>
      </p:sp>
      <p:cxnSp>
        <p:nvCxnSpPr>
          <p:cNvPr id="176" name="Connector 175"/>
          <p:cNvCxnSpPr/>
          <p:nvPr/>
        </p:nvCxnSpPr>
        <p:spPr>
          <a:xfrm>
            <a:off x="1143000" y="2221992"/>
            <a:ext cx="7498080" cy="0"/>
          </a:xfrm>
          <a:prstGeom prst="line">
            <a:avLst/>
          </a:prstGeom>
          <a:ln w="635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7" name="Rounded Rectangle 176"/>
          <p:cNvSpPr/>
          <p:nvPr/>
        </p:nvSpPr>
        <p:spPr>
          <a:xfrm>
            <a:off x="1143000" y="2112264"/>
            <a:ext cx="2548922" cy="219456"/>
          </a:xfrm>
          <a:prstGeom prst="roundRect">
            <a:avLst>
              <a:gd name="adj" fmla="val 8000"/>
            </a:avLst>
          </a:prstGeom>
          <a:solidFill>
            <a:srgbClr val="10579D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8" name="TextBox 177"/>
          <p:cNvSpPr txBox="1"/>
          <p:nvPr/>
        </p:nvSpPr>
        <p:spPr>
          <a:xfrm>
            <a:off x="1143000" y="2121408"/>
            <a:ext cx="254892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해운대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3691922" y="2167128"/>
            <a:ext cx="382338" cy="109728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0" name="TextBox 179"/>
          <p:cNvSpPr txBox="1"/>
          <p:nvPr/>
        </p:nvSpPr>
        <p:spPr>
          <a:xfrm>
            <a:off x="3691922" y="2331720"/>
            <a:ext cx="382338" cy="1463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550" b="0" i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+18m</a:t>
            </a:r>
          </a:p>
        </p:txBody>
      </p:sp>
      <p:sp>
        <p:nvSpPr>
          <p:cNvPr id="181" name="Rounded Rectangle 180"/>
          <p:cNvSpPr/>
          <p:nvPr/>
        </p:nvSpPr>
        <p:spPr>
          <a:xfrm>
            <a:off x="4074260" y="2112264"/>
            <a:ext cx="955845" cy="219456"/>
          </a:xfrm>
          <a:prstGeom prst="roundRect">
            <a:avLst>
              <a:gd name="adj" fmla="val 8000"/>
            </a:avLst>
          </a:prstGeom>
          <a:solidFill>
            <a:srgbClr val="10579D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2" name="TextBox 181"/>
          <p:cNvSpPr txBox="1"/>
          <p:nvPr/>
        </p:nvSpPr>
        <p:spPr>
          <a:xfrm>
            <a:off x="4074260" y="2121408"/>
            <a:ext cx="955845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누리마루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5030106" y="2167128"/>
            <a:ext cx="169928" cy="109728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4" name="TextBox 183"/>
          <p:cNvSpPr txBox="1"/>
          <p:nvPr/>
        </p:nvSpPr>
        <p:spPr>
          <a:xfrm>
            <a:off x="5030106" y="2331720"/>
            <a:ext cx="169928" cy="1463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550" b="0" i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+8m</a:t>
            </a:r>
          </a:p>
        </p:txBody>
      </p:sp>
      <p:sp>
        <p:nvSpPr>
          <p:cNvPr id="185" name="Rounded Rectangle 184"/>
          <p:cNvSpPr/>
          <p:nvPr/>
        </p:nvSpPr>
        <p:spPr>
          <a:xfrm>
            <a:off x="5200034" y="2112264"/>
            <a:ext cx="1274461" cy="219456"/>
          </a:xfrm>
          <a:prstGeom prst="roundRect">
            <a:avLst>
              <a:gd name="adj" fmla="val 8000"/>
            </a:avLst>
          </a:prstGeom>
          <a:solidFill>
            <a:srgbClr val="D9770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6" name="TextBox 185"/>
          <p:cNvSpPr txBox="1"/>
          <p:nvPr/>
        </p:nvSpPr>
        <p:spPr>
          <a:xfrm>
            <a:off x="5200034" y="2121408"/>
            <a:ext cx="1274461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마린시티</a:t>
            </a:r>
          </a:p>
        </p:txBody>
      </p:sp>
      <p:sp>
        <p:nvSpPr>
          <p:cNvPr id="187" name="Rectangle 186"/>
          <p:cNvSpPr/>
          <p:nvPr/>
        </p:nvSpPr>
        <p:spPr>
          <a:xfrm>
            <a:off x="6474495" y="2167128"/>
            <a:ext cx="254892" cy="109728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8" name="TextBox 187"/>
          <p:cNvSpPr txBox="1"/>
          <p:nvPr/>
        </p:nvSpPr>
        <p:spPr>
          <a:xfrm>
            <a:off x="6474495" y="2331720"/>
            <a:ext cx="254892" cy="1463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550" b="0" i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+12m</a:t>
            </a:r>
          </a:p>
        </p:txBody>
      </p:sp>
      <p:sp>
        <p:nvSpPr>
          <p:cNvPr id="189" name="Rounded Rectangle 188"/>
          <p:cNvSpPr/>
          <p:nvPr/>
        </p:nvSpPr>
        <p:spPr>
          <a:xfrm>
            <a:off x="6729388" y="2112264"/>
            <a:ext cx="1911691" cy="219456"/>
          </a:xfrm>
          <a:prstGeom prst="roundRect">
            <a:avLst>
              <a:gd name="adj" fmla="val 8000"/>
            </a:avLst>
          </a:prstGeom>
          <a:solidFill>
            <a:srgbClr val="10579D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0" name="TextBox 189"/>
          <p:cNvSpPr txBox="1"/>
          <p:nvPr/>
        </p:nvSpPr>
        <p:spPr>
          <a:xfrm>
            <a:off x="6729388" y="2121408"/>
            <a:ext cx="1911691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광안리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502920" y="2487168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 i="0">
                <a:solidFill>
                  <a:srgbClr val="10579D"/>
                </a:solidFill>
                <a:latin typeface="Pretendard"/>
                <a:ea typeface="Pretendard"/>
                <a:cs typeface="Pretendard"/>
              </a:rPr>
              <a:t>Day 2</a:t>
            </a:r>
          </a:p>
        </p:txBody>
      </p:sp>
      <p:cxnSp>
        <p:nvCxnSpPr>
          <p:cNvPr id="192" name="Connector 191"/>
          <p:cNvCxnSpPr/>
          <p:nvPr/>
        </p:nvCxnSpPr>
        <p:spPr>
          <a:xfrm>
            <a:off x="1143000" y="2606040"/>
            <a:ext cx="7498080" cy="0"/>
          </a:xfrm>
          <a:prstGeom prst="line">
            <a:avLst/>
          </a:prstGeom>
          <a:ln w="635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3" name="Rounded Rectangle 192"/>
          <p:cNvSpPr/>
          <p:nvPr/>
        </p:nvSpPr>
        <p:spPr>
          <a:xfrm>
            <a:off x="1143000" y="2496312"/>
            <a:ext cx="2276744" cy="219456"/>
          </a:xfrm>
          <a:prstGeom prst="roundRect">
            <a:avLst>
              <a:gd name="adj" fmla="val 8000"/>
            </a:avLst>
          </a:prstGeom>
          <a:solidFill>
            <a:srgbClr val="10579D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4" name="TextBox 193"/>
          <p:cNvSpPr txBox="1"/>
          <p:nvPr/>
        </p:nvSpPr>
        <p:spPr>
          <a:xfrm>
            <a:off x="1143000" y="2505456"/>
            <a:ext cx="2276744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감천</a:t>
            </a:r>
          </a:p>
        </p:txBody>
      </p:sp>
      <p:sp>
        <p:nvSpPr>
          <p:cNvPr id="195" name="Rectangle 194"/>
          <p:cNvSpPr/>
          <p:nvPr/>
        </p:nvSpPr>
        <p:spPr>
          <a:xfrm>
            <a:off x="3419744" y="2551176"/>
            <a:ext cx="667845" cy="109728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6" name="TextBox 195"/>
          <p:cNvSpPr txBox="1"/>
          <p:nvPr/>
        </p:nvSpPr>
        <p:spPr>
          <a:xfrm>
            <a:off x="3419744" y="2715768"/>
            <a:ext cx="667845" cy="1463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550" b="0" i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+22m</a:t>
            </a:r>
          </a:p>
        </p:txBody>
      </p:sp>
      <p:sp>
        <p:nvSpPr>
          <p:cNvPr id="197" name="Rounded Rectangle 196"/>
          <p:cNvSpPr/>
          <p:nvPr/>
        </p:nvSpPr>
        <p:spPr>
          <a:xfrm>
            <a:off x="4087590" y="2496312"/>
            <a:ext cx="1821395" cy="219456"/>
          </a:xfrm>
          <a:prstGeom prst="roundRect">
            <a:avLst>
              <a:gd name="adj" fmla="val 8000"/>
            </a:avLst>
          </a:prstGeom>
          <a:solidFill>
            <a:srgbClr val="10579D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8" name="TextBox 197"/>
          <p:cNvSpPr txBox="1"/>
          <p:nvPr/>
        </p:nvSpPr>
        <p:spPr>
          <a:xfrm>
            <a:off x="4087590" y="2505456"/>
            <a:ext cx="1821395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자갈치</a:t>
            </a:r>
          </a:p>
        </p:txBody>
      </p:sp>
      <p:sp>
        <p:nvSpPr>
          <p:cNvPr id="199" name="Rectangle 198"/>
          <p:cNvSpPr/>
          <p:nvPr/>
        </p:nvSpPr>
        <p:spPr>
          <a:xfrm>
            <a:off x="5908986" y="2551176"/>
            <a:ext cx="303565" cy="109728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0" name="TextBox 199"/>
          <p:cNvSpPr txBox="1"/>
          <p:nvPr/>
        </p:nvSpPr>
        <p:spPr>
          <a:xfrm>
            <a:off x="5908986" y="2715768"/>
            <a:ext cx="303565" cy="1463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550" b="0" i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+10m</a:t>
            </a:r>
          </a:p>
        </p:txBody>
      </p:sp>
      <p:sp>
        <p:nvSpPr>
          <p:cNvPr id="201" name="Rounded Rectangle 200"/>
          <p:cNvSpPr/>
          <p:nvPr/>
        </p:nvSpPr>
        <p:spPr>
          <a:xfrm>
            <a:off x="6212552" y="2496312"/>
            <a:ext cx="1366046" cy="219456"/>
          </a:xfrm>
          <a:prstGeom prst="roundRect">
            <a:avLst>
              <a:gd name="adj" fmla="val 8000"/>
            </a:avLst>
          </a:prstGeom>
          <a:solidFill>
            <a:srgbClr val="10579D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2" name="TextBox 201"/>
          <p:cNvSpPr txBox="1"/>
          <p:nvPr/>
        </p:nvSpPr>
        <p:spPr>
          <a:xfrm>
            <a:off x="6212552" y="2505456"/>
            <a:ext cx="1366046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국제시장</a:t>
            </a:r>
          </a:p>
        </p:txBody>
      </p:sp>
      <p:sp>
        <p:nvSpPr>
          <p:cNvPr id="203" name="Rectangle 202"/>
          <p:cNvSpPr/>
          <p:nvPr/>
        </p:nvSpPr>
        <p:spPr>
          <a:xfrm>
            <a:off x="7578599" y="2551176"/>
            <a:ext cx="151782" cy="109728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4" name="TextBox 203"/>
          <p:cNvSpPr txBox="1"/>
          <p:nvPr/>
        </p:nvSpPr>
        <p:spPr>
          <a:xfrm>
            <a:off x="7578599" y="2715768"/>
            <a:ext cx="151782" cy="1463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550" b="0" i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+5m</a:t>
            </a:r>
          </a:p>
        </p:txBody>
      </p:sp>
      <p:sp>
        <p:nvSpPr>
          <p:cNvPr id="205" name="Rounded Rectangle 204"/>
          <p:cNvSpPr/>
          <p:nvPr/>
        </p:nvSpPr>
        <p:spPr>
          <a:xfrm>
            <a:off x="7730382" y="2496312"/>
            <a:ext cx="910697" cy="219456"/>
          </a:xfrm>
          <a:prstGeom prst="roundRect">
            <a:avLst>
              <a:gd name="adj" fmla="val 8000"/>
            </a:avLst>
          </a:prstGeom>
          <a:solidFill>
            <a:srgbClr val="D9770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6" name="TextBox 205"/>
          <p:cNvSpPr txBox="1"/>
          <p:nvPr/>
        </p:nvSpPr>
        <p:spPr>
          <a:xfrm>
            <a:off x="7730382" y="2505456"/>
            <a:ext cx="910697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BIFF광장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1143000" y="2834639"/>
            <a:ext cx="7498079" cy="1463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650" b="0" i="1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■ exact 매칭   ■ partial   ■ default     |     +xxm = 이동 시간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457200" y="3017520"/>
            <a:ext cx="365760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2E3338"/>
                </a:solidFill>
                <a:latin typeface="Pretendard"/>
                <a:ea typeface="Pretendard"/>
                <a:cs typeface="Pretendard"/>
              </a:rPr>
              <a:t>부산 1박2일 — 실제 경로</a:t>
            </a:r>
          </a:p>
        </p:txBody>
      </p:sp>
      <p:sp>
        <p:nvSpPr>
          <p:cNvPr id="209" name="Rectangle 208"/>
          <p:cNvSpPr/>
          <p:nvPr/>
        </p:nvSpPr>
        <p:spPr>
          <a:xfrm>
            <a:off x="457200" y="3264408"/>
            <a:ext cx="3657600" cy="1261872"/>
          </a:xfrm>
          <a:prstGeom prst="rect">
            <a:avLst/>
          </a:prstGeom>
          <a:solidFill>
            <a:srgbClr val="F4F5F7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10" name="Connector 209"/>
          <p:cNvCxnSpPr/>
          <p:nvPr/>
        </p:nvCxnSpPr>
        <p:spPr>
          <a:xfrm>
            <a:off x="3246120" y="3611879"/>
            <a:ext cx="137160" cy="182880"/>
          </a:xfrm>
          <a:prstGeom prst="line">
            <a:avLst/>
          </a:prstGeom>
          <a:ln w="19050">
            <a:solidFill>
              <a:srgbClr val="10579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Connector 210"/>
          <p:cNvCxnSpPr/>
          <p:nvPr/>
        </p:nvCxnSpPr>
        <p:spPr>
          <a:xfrm flipH="1">
            <a:off x="3154680" y="3794759"/>
            <a:ext cx="228600" cy="182880"/>
          </a:xfrm>
          <a:prstGeom prst="line">
            <a:avLst/>
          </a:prstGeom>
          <a:ln w="19050">
            <a:solidFill>
              <a:srgbClr val="10579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Connector 211"/>
          <p:cNvCxnSpPr/>
          <p:nvPr/>
        </p:nvCxnSpPr>
        <p:spPr>
          <a:xfrm flipH="1">
            <a:off x="2880360" y="3977639"/>
            <a:ext cx="274320" cy="137161"/>
          </a:xfrm>
          <a:prstGeom prst="line">
            <a:avLst/>
          </a:prstGeom>
          <a:ln w="19050">
            <a:solidFill>
              <a:srgbClr val="10579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Connector 212"/>
          <p:cNvCxnSpPr/>
          <p:nvPr/>
        </p:nvCxnSpPr>
        <p:spPr>
          <a:xfrm flipV="1">
            <a:off x="1325880" y="4023360"/>
            <a:ext cx="274320" cy="182880"/>
          </a:xfrm>
          <a:prstGeom prst="line">
            <a:avLst/>
          </a:prstGeom>
          <a:ln w="19050">
            <a:solidFill>
              <a:srgbClr val="0E769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Connector 213"/>
          <p:cNvCxnSpPr/>
          <p:nvPr/>
        </p:nvCxnSpPr>
        <p:spPr>
          <a:xfrm flipV="1">
            <a:off x="1600200" y="3886200"/>
            <a:ext cx="137160" cy="137160"/>
          </a:xfrm>
          <a:prstGeom prst="line">
            <a:avLst/>
          </a:prstGeom>
          <a:ln w="19050">
            <a:solidFill>
              <a:srgbClr val="0E769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" name="Connector 214"/>
          <p:cNvCxnSpPr/>
          <p:nvPr/>
        </p:nvCxnSpPr>
        <p:spPr>
          <a:xfrm flipV="1">
            <a:off x="1737360" y="3794759"/>
            <a:ext cx="137159" cy="91441"/>
          </a:xfrm>
          <a:prstGeom prst="line">
            <a:avLst/>
          </a:prstGeom>
          <a:ln w="19050">
            <a:solidFill>
              <a:srgbClr val="0E769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6" name="Oval 215"/>
          <p:cNvSpPr/>
          <p:nvPr/>
        </p:nvSpPr>
        <p:spPr>
          <a:xfrm>
            <a:off x="3182112" y="3547872"/>
            <a:ext cx="128016" cy="128016"/>
          </a:xfrm>
          <a:prstGeom prst="ellipse">
            <a:avLst/>
          </a:prstGeom>
          <a:solidFill>
            <a:srgbClr val="10579D"/>
          </a:solidFill>
          <a:ln w="101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7" name="TextBox 216"/>
          <p:cNvSpPr txBox="1"/>
          <p:nvPr/>
        </p:nvSpPr>
        <p:spPr>
          <a:xfrm>
            <a:off x="2880360" y="3675887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550" b="1" i="0">
                <a:solidFill>
                  <a:srgbClr val="2E3338"/>
                </a:solidFill>
                <a:latin typeface="Pretendard"/>
                <a:ea typeface="Pretendard"/>
                <a:cs typeface="Pretendard"/>
              </a:rPr>
              <a:t>해운대</a:t>
            </a:r>
          </a:p>
        </p:txBody>
      </p:sp>
      <p:sp>
        <p:nvSpPr>
          <p:cNvPr id="218" name="Oval 217"/>
          <p:cNvSpPr/>
          <p:nvPr/>
        </p:nvSpPr>
        <p:spPr>
          <a:xfrm>
            <a:off x="3319272" y="3730751"/>
            <a:ext cx="128016" cy="128016"/>
          </a:xfrm>
          <a:prstGeom prst="ellipse">
            <a:avLst/>
          </a:prstGeom>
          <a:solidFill>
            <a:srgbClr val="10579D"/>
          </a:solidFill>
          <a:ln w="101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9" name="TextBox 218"/>
          <p:cNvSpPr txBox="1"/>
          <p:nvPr/>
        </p:nvSpPr>
        <p:spPr>
          <a:xfrm>
            <a:off x="3017520" y="3858768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550" b="1" i="0">
                <a:solidFill>
                  <a:srgbClr val="2E3338"/>
                </a:solidFill>
                <a:latin typeface="Pretendard"/>
                <a:ea typeface="Pretendard"/>
                <a:cs typeface="Pretendard"/>
              </a:rPr>
              <a:t>누리마루</a:t>
            </a:r>
          </a:p>
        </p:txBody>
      </p:sp>
      <p:sp>
        <p:nvSpPr>
          <p:cNvPr id="220" name="Oval 219"/>
          <p:cNvSpPr/>
          <p:nvPr/>
        </p:nvSpPr>
        <p:spPr>
          <a:xfrm>
            <a:off x="3090672" y="3913631"/>
            <a:ext cx="128016" cy="128016"/>
          </a:xfrm>
          <a:prstGeom prst="ellipse">
            <a:avLst/>
          </a:prstGeom>
          <a:solidFill>
            <a:srgbClr val="10579D"/>
          </a:solidFill>
          <a:ln w="101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1" name="TextBox 220"/>
          <p:cNvSpPr txBox="1"/>
          <p:nvPr/>
        </p:nvSpPr>
        <p:spPr>
          <a:xfrm>
            <a:off x="2788920" y="4041648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550" b="1" i="0">
                <a:solidFill>
                  <a:srgbClr val="2E3338"/>
                </a:solidFill>
                <a:latin typeface="Pretendard"/>
                <a:ea typeface="Pretendard"/>
                <a:cs typeface="Pretendard"/>
              </a:rPr>
              <a:t>마린시티</a:t>
            </a:r>
          </a:p>
        </p:txBody>
      </p:sp>
      <p:sp>
        <p:nvSpPr>
          <p:cNvPr id="222" name="Oval 221"/>
          <p:cNvSpPr/>
          <p:nvPr/>
        </p:nvSpPr>
        <p:spPr>
          <a:xfrm>
            <a:off x="2816352" y="4050791"/>
            <a:ext cx="128016" cy="128016"/>
          </a:xfrm>
          <a:prstGeom prst="ellipse">
            <a:avLst/>
          </a:prstGeom>
          <a:solidFill>
            <a:srgbClr val="10579D"/>
          </a:solidFill>
          <a:ln w="101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3" name="TextBox 222"/>
          <p:cNvSpPr txBox="1"/>
          <p:nvPr/>
        </p:nvSpPr>
        <p:spPr>
          <a:xfrm>
            <a:off x="2514600" y="4178808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550" b="1" i="0">
                <a:solidFill>
                  <a:srgbClr val="2E3338"/>
                </a:solidFill>
                <a:latin typeface="Pretendard"/>
                <a:ea typeface="Pretendard"/>
                <a:cs typeface="Pretendard"/>
              </a:rPr>
              <a:t>광안리</a:t>
            </a:r>
          </a:p>
        </p:txBody>
      </p:sp>
      <p:sp>
        <p:nvSpPr>
          <p:cNvPr id="224" name="Oval 223"/>
          <p:cNvSpPr/>
          <p:nvPr/>
        </p:nvSpPr>
        <p:spPr>
          <a:xfrm>
            <a:off x="1261872" y="4142231"/>
            <a:ext cx="128016" cy="128016"/>
          </a:xfrm>
          <a:prstGeom prst="ellipse">
            <a:avLst/>
          </a:prstGeom>
          <a:solidFill>
            <a:srgbClr val="0E7690"/>
          </a:solidFill>
          <a:ln w="101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5" name="TextBox 224"/>
          <p:cNvSpPr txBox="1"/>
          <p:nvPr/>
        </p:nvSpPr>
        <p:spPr>
          <a:xfrm>
            <a:off x="960119" y="4270248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550" b="1" i="0">
                <a:solidFill>
                  <a:srgbClr val="2E3338"/>
                </a:solidFill>
                <a:latin typeface="Pretendard"/>
                <a:ea typeface="Pretendard"/>
                <a:cs typeface="Pretendard"/>
              </a:rPr>
              <a:t>감천</a:t>
            </a:r>
          </a:p>
        </p:txBody>
      </p:sp>
      <p:sp>
        <p:nvSpPr>
          <p:cNvPr id="226" name="Oval 225"/>
          <p:cNvSpPr/>
          <p:nvPr/>
        </p:nvSpPr>
        <p:spPr>
          <a:xfrm>
            <a:off x="1536192" y="3959352"/>
            <a:ext cx="128016" cy="128016"/>
          </a:xfrm>
          <a:prstGeom prst="ellipse">
            <a:avLst/>
          </a:prstGeom>
          <a:solidFill>
            <a:srgbClr val="0E7690"/>
          </a:solidFill>
          <a:ln w="101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7" name="TextBox 226"/>
          <p:cNvSpPr txBox="1"/>
          <p:nvPr/>
        </p:nvSpPr>
        <p:spPr>
          <a:xfrm>
            <a:off x="1234440" y="4087368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550" b="1" i="0">
                <a:solidFill>
                  <a:srgbClr val="2E3338"/>
                </a:solidFill>
                <a:latin typeface="Pretendard"/>
                <a:ea typeface="Pretendard"/>
                <a:cs typeface="Pretendard"/>
              </a:rPr>
              <a:t>자갈치</a:t>
            </a:r>
          </a:p>
        </p:txBody>
      </p:sp>
      <p:sp>
        <p:nvSpPr>
          <p:cNvPr id="228" name="Oval 227"/>
          <p:cNvSpPr/>
          <p:nvPr/>
        </p:nvSpPr>
        <p:spPr>
          <a:xfrm>
            <a:off x="1673351" y="3822191"/>
            <a:ext cx="128016" cy="128016"/>
          </a:xfrm>
          <a:prstGeom prst="ellipse">
            <a:avLst/>
          </a:prstGeom>
          <a:solidFill>
            <a:srgbClr val="0E7690"/>
          </a:solidFill>
          <a:ln w="101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9" name="TextBox 228"/>
          <p:cNvSpPr txBox="1"/>
          <p:nvPr/>
        </p:nvSpPr>
        <p:spPr>
          <a:xfrm>
            <a:off x="1371600" y="3950208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550" b="1" i="0">
                <a:solidFill>
                  <a:srgbClr val="2E3338"/>
                </a:solidFill>
                <a:latin typeface="Pretendard"/>
                <a:ea typeface="Pretendard"/>
                <a:cs typeface="Pretendard"/>
              </a:rPr>
              <a:t>국제시장</a:t>
            </a:r>
          </a:p>
        </p:txBody>
      </p:sp>
      <p:sp>
        <p:nvSpPr>
          <p:cNvPr id="230" name="Oval 229"/>
          <p:cNvSpPr/>
          <p:nvPr/>
        </p:nvSpPr>
        <p:spPr>
          <a:xfrm>
            <a:off x="1810511" y="3730751"/>
            <a:ext cx="128016" cy="128016"/>
          </a:xfrm>
          <a:prstGeom prst="ellipse">
            <a:avLst/>
          </a:prstGeom>
          <a:solidFill>
            <a:srgbClr val="0E7690"/>
          </a:solidFill>
          <a:ln w="101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1" name="TextBox 230"/>
          <p:cNvSpPr txBox="1"/>
          <p:nvPr/>
        </p:nvSpPr>
        <p:spPr>
          <a:xfrm>
            <a:off x="1508760" y="3858768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550" b="1" i="0">
                <a:solidFill>
                  <a:srgbClr val="2E3338"/>
                </a:solidFill>
                <a:latin typeface="Pretendard"/>
                <a:ea typeface="Pretendard"/>
                <a:cs typeface="Pretendard"/>
              </a:rPr>
              <a:t>BIFF광장</a:t>
            </a:r>
          </a:p>
        </p:txBody>
      </p:sp>
      <p:sp>
        <p:nvSpPr>
          <p:cNvPr id="232" name="Oval 231"/>
          <p:cNvSpPr/>
          <p:nvPr/>
        </p:nvSpPr>
        <p:spPr>
          <a:xfrm>
            <a:off x="594359" y="4389120"/>
            <a:ext cx="91440" cy="91440"/>
          </a:xfrm>
          <a:prstGeom prst="ellipse">
            <a:avLst/>
          </a:prstGeom>
          <a:solidFill>
            <a:srgbClr val="105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3" name="TextBox 232"/>
          <p:cNvSpPr txBox="1"/>
          <p:nvPr/>
        </p:nvSpPr>
        <p:spPr>
          <a:xfrm>
            <a:off x="713232" y="4389120"/>
            <a:ext cx="640080" cy="1280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650" b="0" i="0">
                <a:solidFill>
                  <a:srgbClr val="2E3338"/>
                </a:solidFill>
                <a:latin typeface="Pretendard"/>
                <a:ea typeface="Pretendard"/>
                <a:cs typeface="Pretendard"/>
              </a:rPr>
              <a:t>Day 1</a:t>
            </a:r>
          </a:p>
        </p:txBody>
      </p:sp>
      <p:sp>
        <p:nvSpPr>
          <p:cNvPr id="234" name="Oval 233"/>
          <p:cNvSpPr/>
          <p:nvPr/>
        </p:nvSpPr>
        <p:spPr>
          <a:xfrm>
            <a:off x="1417320" y="4389120"/>
            <a:ext cx="91440" cy="91440"/>
          </a:xfrm>
          <a:prstGeom prst="ellipse">
            <a:avLst/>
          </a:prstGeom>
          <a:solidFill>
            <a:srgbClr val="0E76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5" name="TextBox 234"/>
          <p:cNvSpPr txBox="1"/>
          <p:nvPr/>
        </p:nvSpPr>
        <p:spPr>
          <a:xfrm>
            <a:off x="1536192" y="4389120"/>
            <a:ext cx="640080" cy="1280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650" b="0" i="0">
                <a:solidFill>
                  <a:srgbClr val="2E3338"/>
                </a:solidFill>
                <a:latin typeface="Pretendard"/>
                <a:ea typeface="Pretendard"/>
                <a:cs typeface="Pretendard"/>
              </a:rPr>
              <a:t>Day 2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4297680" y="3017520"/>
            <a:ext cx="438912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i="0">
                <a:solidFill>
                  <a:srgbClr val="D97706"/>
                </a:solidFill>
                <a:latin typeface="Pretendard"/>
                <a:ea typeface="Pretendard"/>
                <a:cs typeface="Pretendard"/>
              </a:rPr>
              <a:t>Risk Score 47  (REVIEW)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4297680" y="3246120"/>
            <a:ext cx="438912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1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= 100 − 패널티 합계 53</a:t>
            </a:r>
          </a:p>
        </p:txBody>
      </p:sp>
      <p:sp>
        <p:nvSpPr>
          <p:cNvPr id="238" name="TextBox 237"/>
          <p:cNvSpPr txBox="1"/>
          <p:nvPr/>
        </p:nvSpPr>
        <p:spPr>
          <a:xfrm>
            <a:off x="4297680" y="3520439"/>
            <a:ext cx="155448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0" i="0">
                <a:solidFill>
                  <a:srgbClr val="2E3338"/>
                </a:solidFill>
                <a:latin typeface="Pretendard"/>
                <a:ea typeface="Pretendard"/>
                <a:cs typeface="Pretendard"/>
              </a:rPr>
              <a:t>VRPTW WARN ×5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5852160" y="3520439"/>
            <a:ext cx="45720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750" b="1" i="0">
                <a:solidFill>
                  <a:srgbClr val="DC2626"/>
                </a:solidFill>
                <a:latin typeface="Pretendard"/>
                <a:ea typeface="Pretendard"/>
                <a:cs typeface="Pretendard"/>
              </a:rPr>
              <a:t>−5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6400800" y="3520439"/>
            <a:ext cx="228600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00" b="0" i="1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이동시간 마진 부족</a:t>
            </a:r>
          </a:p>
        </p:txBody>
      </p:sp>
      <p:sp>
        <p:nvSpPr>
          <p:cNvPr id="241" name="TextBox 240"/>
          <p:cNvSpPr txBox="1"/>
          <p:nvPr/>
        </p:nvSpPr>
        <p:spPr>
          <a:xfrm>
            <a:off x="4297680" y="3712463"/>
            <a:ext cx="155448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0" i="0">
                <a:solidFill>
                  <a:srgbClr val="2E3338"/>
                </a:solidFill>
                <a:latin typeface="Pretendard"/>
                <a:ea typeface="Pretendard"/>
                <a:cs typeface="Pretendard"/>
              </a:rPr>
              <a:t>Travel Ratio</a:t>
            </a:r>
          </a:p>
        </p:txBody>
      </p:sp>
      <p:sp>
        <p:nvSpPr>
          <p:cNvPr id="242" name="TextBox 241"/>
          <p:cNvSpPr txBox="1"/>
          <p:nvPr/>
        </p:nvSpPr>
        <p:spPr>
          <a:xfrm>
            <a:off x="5852160" y="3712463"/>
            <a:ext cx="45720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750" b="1" i="0">
                <a:solidFill>
                  <a:srgbClr val="DC2626"/>
                </a:solidFill>
                <a:latin typeface="Pretendard"/>
                <a:ea typeface="Pretendard"/>
                <a:cs typeface="Pretendard"/>
              </a:rPr>
              <a:t>−16</a:t>
            </a:r>
          </a:p>
        </p:txBody>
      </p:sp>
      <p:sp>
        <p:nvSpPr>
          <p:cNvPr id="243" name="TextBox 242"/>
          <p:cNvSpPr txBox="1"/>
          <p:nvPr/>
        </p:nvSpPr>
        <p:spPr>
          <a:xfrm>
            <a:off x="6400800" y="3712463"/>
            <a:ext cx="228600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00" b="0" i="1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관광시간 &lt; 이동시간</a:t>
            </a:r>
          </a:p>
        </p:txBody>
      </p:sp>
      <p:sp>
        <p:nvSpPr>
          <p:cNvPr id="244" name="TextBox 243"/>
          <p:cNvSpPr txBox="1"/>
          <p:nvPr/>
        </p:nvSpPr>
        <p:spPr>
          <a:xfrm>
            <a:off x="4297680" y="3904487"/>
            <a:ext cx="155448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0" i="0">
                <a:solidFill>
                  <a:srgbClr val="2E3338"/>
                </a:solidFill>
                <a:latin typeface="Pretendard"/>
                <a:ea typeface="Pretendard"/>
                <a:cs typeface="Pretendard"/>
              </a:rPr>
              <a:t>Cluster M3</a:t>
            </a:r>
          </a:p>
        </p:txBody>
      </p:sp>
      <p:sp>
        <p:nvSpPr>
          <p:cNvPr id="245" name="TextBox 244"/>
          <p:cNvSpPr txBox="1"/>
          <p:nvPr/>
        </p:nvSpPr>
        <p:spPr>
          <a:xfrm>
            <a:off x="5852160" y="3904487"/>
            <a:ext cx="45720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750" b="1" i="0">
                <a:solidFill>
                  <a:srgbClr val="DC2626"/>
                </a:solidFill>
                <a:latin typeface="Pretendard"/>
                <a:ea typeface="Pretendard"/>
                <a:cs typeface="Pretendard"/>
              </a:rPr>
              <a:t>−12</a:t>
            </a:r>
          </a:p>
        </p:txBody>
      </p:sp>
      <p:sp>
        <p:nvSpPr>
          <p:cNvPr id="246" name="TextBox 245"/>
          <p:cNvSpPr txBox="1"/>
          <p:nvPr/>
        </p:nvSpPr>
        <p:spPr>
          <a:xfrm>
            <a:off x="6400800" y="3904487"/>
            <a:ext cx="228600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00" b="0" i="1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시군구 재방문</a:t>
            </a:r>
          </a:p>
        </p:txBody>
      </p:sp>
      <p:sp>
        <p:nvSpPr>
          <p:cNvPr id="247" name="TextBox 246"/>
          <p:cNvSpPr txBox="1"/>
          <p:nvPr/>
        </p:nvSpPr>
        <p:spPr>
          <a:xfrm>
            <a:off x="4297680" y="4096511"/>
            <a:ext cx="155448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0" i="0">
                <a:solidFill>
                  <a:srgbClr val="2E3338"/>
                </a:solidFill>
                <a:latin typeface="Pretendard"/>
                <a:ea typeface="Pretendard"/>
                <a:cs typeface="Pretendard"/>
              </a:rPr>
              <a:t>Theme</a:t>
            </a:r>
          </a:p>
        </p:txBody>
      </p:sp>
      <p:sp>
        <p:nvSpPr>
          <p:cNvPr id="248" name="TextBox 247"/>
          <p:cNvSpPr txBox="1"/>
          <p:nvPr/>
        </p:nvSpPr>
        <p:spPr>
          <a:xfrm>
            <a:off x="5852160" y="4096511"/>
            <a:ext cx="45720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750" b="1" i="0">
                <a:solidFill>
                  <a:srgbClr val="16A34A"/>
                </a:solidFill>
                <a:latin typeface="Pretendard"/>
                <a:ea typeface="Pretendard"/>
                <a:cs typeface="Pretendard"/>
              </a:rPr>
              <a:t>0</a:t>
            </a:r>
          </a:p>
        </p:txBody>
      </p:sp>
      <p:sp>
        <p:nvSpPr>
          <p:cNvPr id="249" name="TextBox 248"/>
          <p:cNvSpPr txBox="1"/>
          <p:nvPr/>
        </p:nvSpPr>
        <p:spPr>
          <a:xfrm>
            <a:off x="6400800" y="4096511"/>
            <a:ext cx="228600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00" b="0" i="1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PASS</a:t>
            </a:r>
          </a:p>
        </p:txBody>
      </p:sp>
      <p:sp>
        <p:nvSpPr>
          <p:cNvPr id="250" name="TextBox 249"/>
          <p:cNvSpPr txBox="1"/>
          <p:nvPr/>
        </p:nvSpPr>
        <p:spPr>
          <a:xfrm>
            <a:off x="4297680" y="4288536"/>
            <a:ext cx="155448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0" i="0">
                <a:solidFill>
                  <a:srgbClr val="2E3338"/>
                </a:solidFill>
                <a:latin typeface="Pretendard"/>
                <a:ea typeface="Pretendard"/>
                <a:cs typeface="Pretendard"/>
              </a:rPr>
              <a:t>Congestion</a:t>
            </a:r>
          </a:p>
        </p:txBody>
      </p:sp>
      <p:sp>
        <p:nvSpPr>
          <p:cNvPr id="251" name="TextBox 250"/>
          <p:cNvSpPr txBox="1"/>
          <p:nvPr/>
        </p:nvSpPr>
        <p:spPr>
          <a:xfrm>
            <a:off x="5852160" y="4288536"/>
            <a:ext cx="45720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750" b="1" i="0">
                <a:solidFill>
                  <a:srgbClr val="DC2626"/>
                </a:solidFill>
                <a:latin typeface="Pretendard"/>
                <a:ea typeface="Pretendard"/>
                <a:cs typeface="Pretendard"/>
              </a:rPr>
              <a:t>−20</a:t>
            </a:r>
          </a:p>
        </p:txBody>
      </p:sp>
      <p:sp>
        <p:nvSpPr>
          <p:cNvPr id="252" name="TextBox 251"/>
          <p:cNvSpPr txBox="1"/>
          <p:nvPr/>
        </p:nvSpPr>
        <p:spPr>
          <a:xfrm>
            <a:off x="6400800" y="4288536"/>
            <a:ext cx="228600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00" b="0" i="1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광안리 야간 붐빔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" cy="2926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3" name="Text 1"/>
          <p:cNvSpPr/>
          <p:nvPr/>
        </p:nvSpPr>
        <p:spPr>
          <a:xfrm>
            <a:off x="594360" y="38404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SECTION 07 · 활용 시나리오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활용 시나리오 — 누가, 어떻게 쓰는가</a:t>
            </a:r>
            <a:endParaRPr lang="en-US" sz="28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24358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B2C · B2B · 공공 3대 시장</a:t>
            </a:r>
            <a:endParaRPr lang="en-US" sz="13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2697480" cy="283464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36576" cy="28346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8" name="Text 6"/>
          <p:cNvSpPr/>
          <p:nvPr/>
        </p:nvSpPr>
        <p:spPr>
          <a:xfrm>
            <a:off x="640080" y="192024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B2C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9" name="Text 7"/>
          <p:cNvSpPr/>
          <p:nvPr/>
        </p:nvSpPr>
        <p:spPr>
          <a:xfrm>
            <a:off x="640080" y="228600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여행 앱의 "검증 배지"</a:t>
            </a:r>
            <a:endParaRPr lang="en-US" sz="16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58368" y="3063240"/>
            <a:ext cx="310896" cy="310896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58368" y="3067812"/>
            <a:ext cx="3108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  <a:endParaRPr lang="en-US" sz="13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051560" y="30175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추천 일정 옆에 "PASS · 87점" 배지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58368" y="3520440"/>
            <a:ext cx="310896" cy="310896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58368" y="3525012"/>
            <a:ext cx="3108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  <a:endParaRPr lang="en-US" sz="13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051560" y="34747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AI 일정 자동 검수로 차별화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58368" y="3977640"/>
            <a:ext cx="310896" cy="310896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58368" y="3982212"/>
            <a:ext cx="3108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  <a:endParaRPr lang="en-US" sz="13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051560" y="39319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FastAPI 임베딩 — 1 호출 200ms 미만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3291840" y="1783080"/>
            <a:ext cx="2697480" cy="283464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3291840" y="1783080"/>
            <a:ext cx="36576" cy="28346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3474720" y="192024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C7293"/>
                </a:solidFill>
                <a:latin typeface="Pretendard"/>
                <a:ea typeface="Pretendard"/>
                <a:cs typeface="Pretendard"/>
              </a:rPr>
              <a:t>B2B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3474720" y="228600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여행사 코스 운영 도구</a:t>
            </a:r>
            <a:endParaRPr lang="en-US" sz="16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3493008" y="3063240"/>
            <a:ext cx="310896" cy="310896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3493008" y="3067812"/>
            <a:ext cx="3108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  <a:endParaRPr lang="en-US" sz="13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3886200" y="30175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신규 패키지 출시 전 자동 QA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3493008" y="3520440"/>
            <a:ext cx="310896" cy="310896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3493008" y="3525012"/>
            <a:ext cx="3108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  <a:endParaRPr lang="en-US" sz="13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3886200" y="34747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Hard Fail 케이스 사전 필터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3493008" y="3977640"/>
            <a:ext cx="310896" cy="310896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3493008" y="3982212"/>
            <a:ext cx="3108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  <a:endParaRPr lang="en-US" sz="13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3886200" y="39319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Excel 27 컬럼 출력 → 운영팀 검토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6126480" y="1783080"/>
            <a:ext cx="2697480" cy="283464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6126480" y="1783080"/>
            <a:ext cx="36576" cy="283464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6309360" y="192024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공공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6309360" y="228600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지자체 관광 플랫폼</a:t>
            </a:r>
            <a:endParaRPr lang="en-US" sz="16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6327648" y="3063240"/>
            <a:ext cx="310896" cy="310896"/>
          </a:xfrm>
          <a:prstGeom prst="ellipse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6327648" y="3067812"/>
            <a:ext cx="3108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  <a:endParaRPr lang="en-US" sz="13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6720840" y="30175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"권역별 추천" 페이지 자동 검증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6327648" y="3520440"/>
            <a:ext cx="310896" cy="310896"/>
          </a:xfrm>
          <a:prstGeom prst="ellipse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6327648" y="3525012"/>
            <a:ext cx="3108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  <a:endParaRPr lang="en-US" sz="13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6720840" y="34747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혼잡도 기반 분산 유도 정책 반영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6327648" y="3977640"/>
            <a:ext cx="310896" cy="310896"/>
          </a:xfrm>
          <a:prstGeom prst="ellipse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6327648" y="3982212"/>
            <a:ext cx="3108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  <a:endParaRPr lang="en-US" sz="13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6720840" y="39319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관광데이터랩 통계와 연동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457200" y="4846320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관광 일정 QA 엔진  ·  Explainable Travel Plan Validator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6766560" y="484632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21 / 24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7635240" y="4777740"/>
            <a:ext cx="118872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800" i="1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[ Brandlogy logo ]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" cy="2926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3" name="Text 1"/>
          <p:cNvSpPr/>
          <p:nvPr/>
        </p:nvSpPr>
        <p:spPr>
          <a:xfrm>
            <a:off x="594360" y="38404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SECTION 07 · 로드맵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확장 로드맵</a:t>
            </a:r>
            <a:endParaRPr lang="en-US" sz="28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24358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현재 PoC → 정식 출시까지 4 단계</a:t>
            </a:r>
            <a:endParaRPr lang="en-US" sz="13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457200" y="46177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운영시간 데이터  →  TourAPI detailIntro2 의 usetime 필드 (예: "09:00~18:00(입장마감 17:00)")  ·  일일 10K 호출 한도, 50K POI는 약 5일 분할 수집.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457200" y="4846320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관광 일정 QA 엔진  ·  Explainable Travel Plan Validator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6766560" y="484632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22 / 24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635240" y="4777740"/>
            <a:ext cx="118872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800" i="1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[ Brandlogy logo ]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1051560" y="2103120"/>
            <a:ext cx="7589520" cy="0"/>
          </a:xfrm>
          <a:prstGeom prst="line">
            <a:avLst/>
          </a:prstGeom>
          <a:ln w="1270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1810512" y="2029967"/>
            <a:ext cx="0" cy="146305"/>
          </a:xfrm>
          <a:prstGeom prst="line">
            <a:avLst/>
          </a:prstGeom>
          <a:ln w="762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1444752" y="1828799"/>
            <a:ext cx="73152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i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Now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3480206" y="2029967"/>
            <a:ext cx="0" cy="146305"/>
          </a:xfrm>
          <a:prstGeom prst="line">
            <a:avLst/>
          </a:prstGeom>
          <a:ln w="762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3114446" y="1828799"/>
            <a:ext cx="73152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i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Q3 '26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5225796" y="2029967"/>
            <a:ext cx="0" cy="146305"/>
          </a:xfrm>
          <a:prstGeom prst="line">
            <a:avLst/>
          </a:prstGeom>
          <a:ln w="762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4860036" y="1828799"/>
            <a:ext cx="73152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i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Q4 '26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7502652" y="2029967"/>
            <a:ext cx="0" cy="146305"/>
          </a:xfrm>
          <a:prstGeom prst="line">
            <a:avLst/>
          </a:prstGeom>
          <a:ln w="762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7136892" y="1828799"/>
            <a:ext cx="73152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i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2027 H1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353312" y="2194560"/>
            <a:ext cx="91440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1" i="0">
                <a:solidFill>
                  <a:srgbClr val="16A34A"/>
                </a:solidFill>
                <a:latin typeface="Pretendard"/>
                <a:ea typeface="Pretendard"/>
                <a:cs typeface="Pretendard"/>
              </a:rPr>
              <a:t>▼ 현재</a:t>
            </a:r>
          </a:p>
        </p:txBody>
      </p:sp>
      <p:sp>
        <p:nvSpPr>
          <p:cNvPr id="44" name="Oval 43"/>
          <p:cNvSpPr/>
          <p:nvPr/>
        </p:nvSpPr>
        <p:spPr>
          <a:xfrm>
            <a:off x="612648" y="2542032"/>
            <a:ext cx="237744" cy="23774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94360" y="2569464"/>
            <a:ext cx="27432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51560" y="2551176"/>
            <a:ext cx="1366113" cy="256032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143000" y="2569464"/>
            <a:ext cx="1183233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PoC 완성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51560" y="2825496"/>
            <a:ext cx="411480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0" i="0">
                <a:solidFill>
                  <a:srgbClr val="2E3338"/>
                </a:solidFill>
                <a:latin typeface="Pretendard"/>
                <a:ea typeface="Pretendard"/>
                <a:cs typeface="Pretendard"/>
              </a:rPr>
              <a:t>VRPTW + 4 Scoring + Claude · 70 일정 검증 · 96% 매칭</a:t>
            </a:r>
          </a:p>
        </p:txBody>
      </p:sp>
      <p:sp>
        <p:nvSpPr>
          <p:cNvPr id="49" name="Oval 48"/>
          <p:cNvSpPr/>
          <p:nvPr/>
        </p:nvSpPr>
        <p:spPr>
          <a:xfrm>
            <a:off x="612648" y="3044952"/>
            <a:ext cx="237744" cy="237744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057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594360" y="3072384"/>
            <a:ext cx="27432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10579D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2569464" y="3054096"/>
            <a:ext cx="1897379" cy="256032"/>
          </a:xfrm>
          <a:prstGeom prst="roundRect">
            <a:avLst>
              <a:gd name="adj" fmla="val 50000"/>
            </a:avLst>
          </a:prstGeom>
          <a:solidFill>
            <a:srgbClr val="105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2660904" y="3072384"/>
            <a:ext cx="1714499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운영시간 풀 통합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569464" y="3328415"/>
            <a:ext cx="411480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0" i="0">
                <a:solidFill>
                  <a:srgbClr val="2E3338"/>
                </a:solidFill>
                <a:latin typeface="Pretendard"/>
                <a:ea typeface="Pretendard"/>
                <a:cs typeface="Pretendard"/>
              </a:rPr>
              <a:t>TourAPI detailIntro2 50K POI 일괄 + 정규식 파싱 + 신뢰도 라벨링</a:t>
            </a:r>
          </a:p>
        </p:txBody>
      </p:sp>
      <p:sp>
        <p:nvSpPr>
          <p:cNvPr id="54" name="Oval 53"/>
          <p:cNvSpPr/>
          <p:nvPr/>
        </p:nvSpPr>
        <p:spPr>
          <a:xfrm>
            <a:off x="612648" y="3547872"/>
            <a:ext cx="237744" cy="237744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E76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94360" y="3575303"/>
            <a:ext cx="27432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0E7690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466844" y="3557016"/>
            <a:ext cx="1897380" cy="256032"/>
          </a:xfrm>
          <a:prstGeom prst="roundRect">
            <a:avLst>
              <a:gd name="adj" fmla="val 50000"/>
            </a:avLst>
          </a:prstGeom>
          <a:solidFill>
            <a:srgbClr val="0E76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4558283" y="3575304"/>
            <a:ext cx="17145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FastAPI 정식 + Naver 폴백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466844" y="3831336"/>
            <a:ext cx="411480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0" i="0">
                <a:solidFill>
                  <a:srgbClr val="2E3338"/>
                </a:solidFill>
                <a:latin typeface="Pretendard"/>
                <a:ea typeface="Pretendard"/>
                <a:cs typeface="Pretendard"/>
              </a:rPr>
              <a:t>REST 5종 · Naver 검색 폴백 · 카페·식당 매칭률 99% 목표</a:t>
            </a:r>
          </a:p>
        </p:txBody>
      </p:sp>
      <p:sp>
        <p:nvSpPr>
          <p:cNvPr id="59" name="Oval 58"/>
          <p:cNvSpPr/>
          <p:nvPr/>
        </p:nvSpPr>
        <p:spPr>
          <a:xfrm>
            <a:off x="612648" y="4050792"/>
            <a:ext cx="237744" cy="237744"/>
          </a:xfrm>
          <a:prstGeom prst="ellipse">
            <a:avLst/>
          </a:prstGeom>
          <a:solidFill>
            <a:srgbClr val="FFFFFF"/>
          </a:solidFill>
          <a:ln w="15240">
            <a:solidFill>
              <a:srgbClr val="2E33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594360" y="4078224"/>
            <a:ext cx="27432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2E3338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364224" y="4059936"/>
            <a:ext cx="2276856" cy="256032"/>
          </a:xfrm>
          <a:prstGeom prst="roundRect">
            <a:avLst>
              <a:gd name="adj" fmla="val 50000"/>
            </a:avLst>
          </a:prstGeom>
          <a:solidFill>
            <a:srgbClr val="2E3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6455664" y="4078224"/>
            <a:ext cx="209397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Multi-modal 확장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364224" y="4334256"/>
            <a:ext cx="2596896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0" i="0">
                <a:solidFill>
                  <a:srgbClr val="2E3338"/>
                </a:solidFill>
                <a:latin typeface="Pretendard"/>
                <a:ea typeface="Pretendard"/>
                <a:cs typeface="Pretendard"/>
              </a:rPr>
              <a:t>지하철·버스 환승 시간 통합 · 사진 메타로 체류시간 자동 추정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" cy="2926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3" name="Text 1"/>
          <p:cNvSpPr/>
          <p:nvPr/>
        </p:nvSpPr>
        <p:spPr>
          <a:xfrm>
            <a:off x="594360" y="38404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SECTION 08 · 한계 · 강점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정직한 한계 + 차별화된 강점</a:t>
            </a:r>
            <a:endParaRPr lang="en-US" sz="28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24358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Limitations &amp; Strengths</a:t>
            </a:r>
            <a:endParaRPr lang="en-US" sz="13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4114800" cy="283464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36576" cy="28346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8" name="Text 6"/>
          <p:cNvSpPr/>
          <p:nvPr/>
        </p:nvSpPr>
        <p:spPr>
          <a:xfrm>
            <a:off x="640080" y="18745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7706"/>
                </a:solidFill>
                <a:latin typeface="Pretendard"/>
                <a:ea typeface="Pretendard"/>
                <a:cs typeface="Pretendard"/>
              </a:rPr>
              <a:t>현재의 한계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9" name="Text 7"/>
          <p:cNvSpPr/>
          <p:nvPr/>
        </p:nvSpPr>
        <p:spPr>
          <a:xfrm>
            <a:off x="640080" y="224028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카페·로컬 식당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40080" y="24688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TourAPI 미등록 케이스 4% 매칭 실패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40080" y="280720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운영시간 일괄 적재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40080" y="303580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현재는 표본만, 50K 전수 수집은 로드맵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40080" y="3374136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LLM 비용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40080" y="360273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테마 정합성 호출당 ~$0.0003, 캐싱으로 완화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40080" y="3941064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서울 외 실시간 혼잡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40080" y="416966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API 미제공 → 계절성 폴백 의존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663440" y="1783080"/>
            <a:ext cx="4023360" cy="2834640"/>
          </a:xfrm>
          <a:prstGeom prst="rect">
            <a:avLst/>
          </a:prstGeom>
          <a:solidFill>
            <a:srgbClr val="111827"/>
          </a:solidFill>
          <a:ln w="9525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846320" y="1874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0F2FE"/>
                </a:solidFill>
                <a:latin typeface="Pretendard"/>
                <a:ea typeface="Pretendard"/>
                <a:cs typeface="Pretendard"/>
              </a:rPr>
              <a:t>차별화된 강점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846320" y="2212848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F2FE"/>
                </a:solidFill>
                <a:latin typeface="Pretendard"/>
                <a:ea typeface="Pretendard"/>
                <a:cs typeface="Pretendard"/>
              </a:rPr>
              <a:t>✓</a:t>
            </a:r>
            <a:endParaRPr lang="en-US" sz="13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5166360" y="221284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검증 레이어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5166360" y="2414016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기존 추천 서비스가 비워둔 시장 공백을 정조준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4846320" y="2670048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F2FE"/>
                </a:solidFill>
                <a:latin typeface="Pretendard"/>
                <a:ea typeface="Pretendard"/>
                <a:cs typeface="Pretendard"/>
              </a:rPr>
              <a:t>✓</a:t>
            </a:r>
            <a:endParaRPr lang="en-US" sz="13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5166360" y="267004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Hybrid 결합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5166360" y="2871216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Rule(VRPTW) + Score(4종) + LLM(설명) 단일 파이프라인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4846320" y="3127248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F2FE"/>
                </a:solidFill>
                <a:latin typeface="Pretendard"/>
                <a:ea typeface="Pretendard"/>
                <a:cs typeface="Pretendard"/>
              </a:rPr>
              <a:t>✓</a:t>
            </a:r>
            <a:endParaRPr lang="en-US" sz="13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5166360" y="312724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설명 가능성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5166360" y="3328416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모든 판정이 fact·rule·suggestion 으로 추적 가능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4846320" y="3584448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F2FE"/>
                </a:solidFill>
                <a:latin typeface="Pretendard"/>
                <a:ea typeface="Pretendard"/>
                <a:cs typeface="Pretendard"/>
              </a:rPr>
              <a:t>✓</a:t>
            </a:r>
            <a:endParaRPr lang="en-US" sz="13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5166360" y="358444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공공 데이터 우선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5166360" y="3785616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TourAPI · Kakao · 서울 도시데이터 + 관광데이터랩 통계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4846320" y="4041648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F2FE"/>
                </a:solidFill>
                <a:latin typeface="Pretendard"/>
                <a:ea typeface="Pretendard"/>
                <a:cs typeface="Pretendard"/>
              </a:rPr>
              <a:t>✓</a:t>
            </a:r>
            <a:endParaRPr lang="en-US" sz="13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5166360" y="404164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실측 매칭률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5166360" y="4242816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70 일정 322 장소 96% 매칭 — 운영 가능 수준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457200" y="4846320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관광 일정 QA 엔진  ·  Explainable Travel Plan Validator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6766560" y="484632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23 / 24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7635240" y="4777740"/>
            <a:ext cx="118872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800" i="1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[ Brandlogy logo ]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36576" cy="329184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3" name="Text 1"/>
          <p:cNvSpPr/>
          <p:nvPr/>
        </p:nvSpPr>
        <p:spPr>
          <a:xfrm>
            <a:off x="777240" y="640080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0F2FE"/>
                </a:solidFill>
                <a:latin typeface="Pretendard"/>
                <a:ea typeface="Pretendard"/>
                <a:cs typeface="Pretendard"/>
              </a:rPr>
              <a:t>References &amp; Acknowledgements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References</a:t>
            </a:r>
            <a:endParaRPr lang="en-US" sz="3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1.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6" name="Text 4"/>
          <p:cNvSpPr/>
          <p:nvPr/>
        </p:nvSpPr>
        <p:spPr>
          <a:xfrm>
            <a:off x="1005840" y="1874520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F2FE"/>
                </a:solidFill>
                <a:latin typeface="Pretendard"/>
                <a:ea typeface="Pretendard"/>
                <a:cs typeface="Pretendard"/>
              </a:rPr>
              <a:t>한국관광공사 관광데이터랩 — 2025년 국민여행조사 3·4분기 결과(잠정치)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7" name="Text 5"/>
          <p:cNvSpPr/>
          <p:nvPr/>
        </p:nvSpPr>
        <p:spPr>
          <a:xfrm>
            <a:off x="640080" y="216712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2.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05840" y="2167128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F2FE"/>
                </a:solidFill>
                <a:latin typeface="Pretendard"/>
                <a:ea typeface="Pretendard"/>
                <a:cs typeface="Pretendard"/>
              </a:rPr>
              <a:t>한국관광공사 — 2025 빅데이터와 함께하는 똑똑한 컨설팅 종합보고서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9" name="Text 7"/>
          <p:cNvSpPr/>
          <p:nvPr/>
        </p:nvSpPr>
        <p:spPr>
          <a:xfrm>
            <a:off x="640080" y="245973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3.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005840" y="2459736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F2FE"/>
                </a:solidFill>
                <a:latin typeface="Pretendard"/>
                <a:ea typeface="Pretendard"/>
                <a:cs typeface="Pretendard"/>
              </a:rPr>
              <a:t>한국관광공사 — 2025 관광자원개발 및 관광투자 동향조사 분석 최종보고서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40080" y="275234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4.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005840" y="2752344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F2FE"/>
                </a:solidFill>
                <a:latin typeface="Pretendard"/>
                <a:ea typeface="Pretendard"/>
                <a:cs typeface="Pretendard"/>
              </a:rPr>
              <a:t>한국관광공사 — 2025 우수웰니스관광지 만족도 및 실태조사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40080" y="304495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5.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005840" y="3044952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F2FE"/>
                </a:solidFill>
                <a:latin typeface="Pretendard"/>
                <a:ea typeface="Pretendard"/>
                <a:cs typeface="Pretendard"/>
              </a:rPr>
              <a:t>관광컨설팅팀 — Data&amp;Tourism 43호: 소셜 데이터 기반 방한 주요국 한국 여행 분석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40080" y="333756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6.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005840" y="3337560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F2FE"/>
                </a:solidFill>
                <a:latin typeface="Pretendard"/>
                <a:ea typeface="Pretendard"/>
                <a:cs typeface="Pretendard"/>
              </a:rPr>
              <a:t>한국관광공사 — 관광 통계월보 (202602)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40080" y="363016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7.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005840" y="3630168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F2FE"/>
                </a:solidFill>
                <a:latin typeface="Pretendard"/>
                <a:ea typeface="Pretendard"/>
                <a:cs typeface="Pretendard"/>
              </a:rPr>
              <a:t>Solomon, M.M. (1987). Algorithms for the Vehicle Routing and Scheduling Problems with Time Window Constraints. Operations Research, 35(2): 254–265.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40080" y="392277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8.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005840" y="3922776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F2FE"/>
                </a:solidFill>
                <a:latin typeface="Pretendard"/>
                <a:ea typeface="Pretendard"/>
                <a:cs typeface="Pretendard"/>
              </a:rPr>
              <a:t>TourAPI v2 (KorService2) · Kakao Mobility API · 서울특별시 실시간 도시데이터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40080" y="421538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9.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005840" y="4215384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F2FE"/>
                </a:solidFill>
                <a:latin typeface="Pretendard"/>
                <a:ea typeface="Pretendard"/>
                <a:cs typeface="Pretendard"/>
              </a:rPr>
              <a:t>Anthropic Claude Sonnet 4.6 · Google OR-Tools (constraint_solver)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40080" y="45720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Thank you.</a:t>
            </a:r>
            <a:endParaRPr lang="en-US" sz="18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5029200" y="46177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이건상  ·  2026.05.02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635240" y="4777740"/>
            <a:ext cx="118872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800" i="1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[ Brandlogy logo 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retendard" panose="020F0302020204030204"/>
        <a:ea typeface="Pretendard"/>
        <a:cs typeface="Pretendard"/>
      </a:majorFont>
      <a:minorFont>
        <a:latin typeface="Pretendard" panose="020F0502020204030204"/>
        <a:ea typeface="Pretendard"/>
        <a:cs typeface="Pretendard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189</TotalTime>
  <Words>3432</Words>
  <Application>Microsoft Macintosh PowerPoint</Application>
  <PresentationFormat>화면 슬라이드 쇼(16:9)</PresentationFormat>
  <Paragraphs>750</Paragraphs>
  <Slides>24</Slides>
  <Notes>24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24</vt:i4>
      </vt:variant>
    </vt:vector>
  </HeadingPairs>
  <TitlesOfParts>
    <vt:vector size="27" baseType="lpstr">
      <vt:lpstr>Pretendard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관광 일정 QA 엔진 — Explainable Travel Plan Validator</dc:title>
  <dc:subject>PptxGenJS Presentation</dc:subject>
  <dc:creator>이건상</dc:creator>
  <cp:lastModifiedBy>Dongkyu Kim</cp:lastModifiedBy>
  <cp:revision>2</cp:revision>
  <dcterms:created xsi:type="dcterms:W3CDTF">2026-05-02T11:25:05Z</dcterms:created>
  <dcterms:modified xsi:type="dcterms:W3CDTF">2026-05-06T06:43:07Z</dcterms:modified>
</cp:coreProperties>
</file>