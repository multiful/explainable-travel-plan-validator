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80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58" y="-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8664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6441-D515-AA1A-49EA-0B64D58BD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D945E-8A8D-429E-0A6E-5CE8EDB02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7632E-AD9C-8F28-8398-F2AEB9968A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F7F38-FC40-7CED-8C07-4DC141300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19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2026 관광데이터 활용 공모전 · 웹앱개발 부문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관광 일정 QA 엔진</a:t>
            </a:r>
            <a:endParaRPr lang="en-US" sz="5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Explainable Travel Plan Validator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4270249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“AI </a:t>
            </a:r>
            <a:r>
              <a:rPr lang="ko-KR" altLang="en-US" sz="140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플래너</a:t>
            </a: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믿을 수 있는가</a:t>
            </a:r>
            <a:r>
              <a:rPr lang="en-US" altLang="ko-KR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?</a:t>
            </a: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 </a:t>
            </a:r>
          </a:p>
          <a:p>
            <a:pPr marL="0" indent="0">
              <a:buNone/>
            </a:pPr>
            <a:r>
              <a:rPr lang="ko-KR" alt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우리는 </a:t>
            </a: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그 일정이 가능한지, </a:t>
            </a:r>
            <a:r>
              <a:rPr lang="en-US" sz="140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좋은지를</a:t>
            </a: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품질로 </a:t>
            </a:r>
            <a:r>
              <a:rPr lang="en-US" sz="140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증명한다</a:t>
            </a:r>
            <a:r>
              <a:rPr lang="en-US" sz="14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."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출품</a:t>
            </a: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김동규</a:t>
            </a:r>
            <a:r>
              <a:rPr lang="en-US" altLang="ko-KR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</a:t>
            </a:r>
            <a:r>
              <a:rPr lang="en-US" sz="1400" b="1" dirty="0" err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건상</a:t>
            </a:r>
            <a:r>
              <a:rPr lang="en-US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 (2</a:t>
            </a:r>
            <a:r>
              <a:rPr lang="ko-KR" altLang="en-US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</a:t>
            </a:r>
            <a:r>
              <a:rPr lang="en-US" altLang="ko-KR" sz="14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3749039" cy="310896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" name="Connector 10"/>
          <p:cNvCxnSpPr/>
          <p:nvPr/>
        </p:nvCxnSpPr>
        <p:spPr>
          <a:xfrm>
            <a:off x="5166360" y="169164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66360" y="201168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66360" y="233172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66360" y="265176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66360" y="297180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66360" y="329184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66360" y="361188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66360" y="3931920"/>
            <a:ext cx="3474720" cy="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94360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4652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5236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955279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458200" y="1417320"/>
            <a:ext cx="0" cy="2834640"/>
          </a:xfrm>
          <a:prstGeom prst="line">
            <a:avLst/>
          </a:prstGeom>
          <a:ln w="5080">
            <a:solidFill>
              <a:srgbClr val="2033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40680" y="3520440"/>
            <a:ext cx="548640" cy="41148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989320" y="3520440"/>
            <a:ext cx="502920" cy="228599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492240" y="3108960"/>
            <a:ext cx="502920" cy="640079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995160" y="3108960"/>
            <a:ext cx="502919" cy="13716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7498079" y="2606040"/>
            <a:ext cx="457200" cy="64008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955279" y="2606040"/>
            <a:ext cx="457201" cy="182880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5367528" y="385876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16168" y="344728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19088" y="3675887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922008" y="303580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24927" y="317296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882127" y="253288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339327" y="2715768"/>
            <a:ext cx="146304" cy="146304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309359" y="1417320"/>
            <a:ext cx="1188720" cy="118872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0" y="1508760"/>
            <a:ext cx="1005840" cy="1005840"/>
          </a:xfrm>
          <a:prstGeom prst="ellipse">
            <a:avLst/>
          </a:pr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00800" y="1737360"/>
            <a:ext cx="100584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0299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87 / 100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1691640"/>
            <a:ext cx="960120" cy="219456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운영시간 ✓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0" y="1993392"/>
            <a:ext cx="960120" cy="219456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이동시간 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0" y="2286000"/>
            <a:ext cx="960120" cy="219456"/>
          </a:xfrm>
          <a:prstGeom prst="roundRect">
            <a:avLst>
              <a:gd name="adj" fmla="val 50000"/>
            </a:avLst>
          </a:prstGeom>
          <a:noFill/>
          <a:ln w="762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테마정합 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4363238"/>
            <a:ext cx="3657600" cy="1889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↑  </a:t>
            </a:r>
            <a:r>
              <a:rPr sz="850" b="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sz="850" b="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50" b="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완료된</a:t>
            </a:r>
            <a:r>
              <a:rPr sz="850" b="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50" b="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일정만</a:t>
            </a:r>
            <a:r>
              <a:rPr sz="850" b="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sz="850" b="0" i="1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통과시킵니다</a:t>
            </a:r>
            <a:endParaRPr sz="850" b="0" i="1" dirty="0">
              <a:solidFill>
                <a:srgbClr val="9CA3AF"/>
              </a:solidFill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CONTENTS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목차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8개 섹션 · 24장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01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문제 정의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추천은 많지만 검증은 없다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520" y="17830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03 — 05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02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43000" y="21488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솔루션 비전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검증 가능성이 또 하나의 품질이다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9520" y="2148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06 — 07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03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25146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기술적 차별점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· DBSCAN · LLM 하이브리드 (5종)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2514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08 — 13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288036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04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28803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Risk Score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37560" y="2880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8개 패널티 매트릭스 + Hard Fail Cap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89520" y="2880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14 — 15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8640" y="324612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05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" y="32461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데이터 자산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337560" y="32461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50K POI + 공공 통계 7종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89520" y="3246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16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48640" y="36118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06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3000" y="36118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결과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337560" y="36118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70 일정 · 322 장소 · 매칭률 96%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36118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17 — 20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48640" y="39776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07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43000" y="39776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 시나리오 · 로드맵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37560" y="397764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B2C · B2B · 공공 + 운영시간 통합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589520" y="39776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21 — 22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434340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08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143000" y="43434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한계 · 강점 · 레퍼런스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37560" y="4343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공공 보고서 7종 + 학술 1종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89520" y="43434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23 — 24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추천은 풍성하지만, 검증은 비어 있다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기존 서비스의 사각지대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43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국내 여행 시장의 현실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23.7조 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79806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2024 국내 여행 지출 규모 (한국문화관광연구원)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200400"/>
            <a:ext cx="35661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1억 5,580만 회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666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2024 연간 국내 여행 횟수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4069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평균 2.4일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1회당 여행 일수 (2025 국민여행조사 4Q)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069080" cy="27432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그러나 </a:t>
            </a:r>
            <a:r>
              <a:rPr lang="en-US" sz="1300" b="1" dirty="0" err="1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사용자가</a:t>
            </a:r>
            <a:r>
              <a:rPr lang="en-US" sz="13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직면하는</a:t>
            </a:r>
            <a:r>
              <a:rPr lang="en-US" sz="13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것은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800600" y="238658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00600" y="239115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12080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충돌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212080" y="2560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도착했는데 영업 </a:t>
            </a:r>
            <a:r>
              <a:rPr lang="en-US" sz="10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- 동선 재구성 필요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288950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00600" y="289407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1208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비현실적</a:t>
            </a: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2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이동시간</a:t>
            </a: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lang="ko-KR" altLang="en-US" sz="12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과이동</a:t>
            </a:r>
            <a:r>
              <a:rPr lang="en-US" altLang="ko-KR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212080" y="3063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하루 이동시간이 전체의 </a:t>
            </a:r>
            <a:r>
              <a:rPr lang="en-US" altLang="ko-KR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86%</a:t>
            </a:r>
            <a:r>
              <a:rPr lang="ko-KR" alt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까지 발생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800600" y="339242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800600" y="339699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1208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비효율 동선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212080" y="3566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백트래킹</a:t>
            </a:r>
            <a:r>
              <a:rPr lang="en-US" altLang="ko-KR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및 되돌아가기 반복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800600" y="3895344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800600" y="38999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12080" y="3840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테마 불일치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212080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"힐링"인데 일정에 클럽·시장이 끼어 있음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결과 : 추천은 "무엇을 갈지" 알려주지만, "실제 갈 수 있는지"를 증명하지 못한다.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66928" y="2350008"/>
            <a:ext cx="36576" cy="384048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66928" y="3218688"/>
            <a:ext cx="36576" cy="384048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66928" y="4087368"/>
            <a:ext cx="36576" cy="384048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800" b="1" dirty="0">
                <a:solidFill>
                  <a:srgbClr val="111827"/>
                </a:solidFill>
              </a:rPr>
              <a:t>AI </a:t>
            </a:r>
            <a:r>
              <a:rPr lang="ko-KR" altLang="en-US" sz="2800" b="1" dirty="0">
                <a:solidFill>
                  <a:srgbClr val="111827"/>
                </a:solidFill>
              </a:rPr>
              <a:t>추천 일정의 품질 검증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공식 </a:t>
            </a: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lang="ko-KR" altLang="en-US" sz="13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플래너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검증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-194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일 실측 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73172" y="1835917"/>
            <a:ext cx="3910584" cy="2930652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739640" y="1828800"/>
            <a:ext cx="36576" cy="29306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922520" y="1965960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300" b="1" dirty="0">
                <a:solidFill>
                  <a:srgbClr val="065A82"/>
                </a:solidFill>
              </a:rPr>
              <a:t>공식추천 </a:t>
            </a:r>
            <a:r>
              <a:rPr lang="en-US" altLang="ko-KR" sz="1300" b="1" dirty="0">
                <a:solidFill>
                  <a:srgbClr val="065A82"/>
                </a:solidFill>
              </a:rPr>
              <a:t>– </a:t>
            </a:r>
            <a:r>
              <a:rPr lang="ko-KR" altLang="en-US" sz="1300" b="1" dirty="0">
                <a:solidFill>
                  <a:srgbClr val="065A82"/>
                </a:solidFill>
              </a:rPr>
              <a:t>구석구석</a:t>
            </a:r>
            <a:r>
              <a:rPr lang="en-US" altLang="ko-KR" sz="1300" b="1" dirty="0">
                <a:solidFill>
                  <a:srgbClr val="065A82"/>
                </a:solidFill>
              </a:rPr>
              <a:t> (38</a:t>
            </a:r>
            <a:r>
              <a:rPr lang="ko-KR" altLang="en-US" sz="1300" b="1" dirty="0">
                <a:solidFill>
                  <a:srgbClr val="065A82"/>
                </a:solidFill>
              </a:rPr>
              <a:t>개 경로 </a:t>
            </a:r>
            <a:r>
              <a:rPr lang="en-US" altLang="ko-KR" sz="1300" b="1" dirty="0">
                <a:solidFill>
                  <a:srgbClr val="065A82"/>
                </a:solidFill>
              </a:rPr>
              <a:t>· 89</a:t>
            </a:r>
            <a:r>
              <a:rPr lang="ko-KR" altLang="en-US" sz="1300" b="1" dirty="0">
                <a:solidFill>
                  <a:srgbClr val="065A82"/>
                </a:solidFill>
              </a:rPr>
              <a:t>일</a:t>
            </a:r>
            <a:r>
              <a:rPr lang="en-US" altLang="ko-KR" sz="1300" b="1" dirty="0">
                <a:solidFill>
                  <a:srgbClr val="065A82"/>
                </a:solidFill>
              </a:rPr>
              <a:t>)</a:t>
            </a:r>
            <a:endParaRPr lang="en-US" altLang="ko-KR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</a:t>
            </a: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9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일정</a:t>
            </a: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QA </a:t>
            </a:r>
            <a:r>
              <a:rPr lang="en-US" sz="9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엔진</a:t>
            </a: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22">
            <a:extLst>
              <a:ext uri="{FF2B5EF4-FFF2-40B4-BE49-F238E27FC236}">
                <a16:creationId xmlns:a16="http://schemas.microsoft.com/office/drawing/2014/main" id="{75C103DD-C2A7-7F36-22B5-DC9389E84843}"/>
              </a:ext>
            </a:extLst>
          </p:cNvPr>
          <p:cNvSpPr/>
          <p:nvPr/>
        </p:nvSpPr>
        <p:spPr>
          <a:xfrm>
            <a:off x="493776" y="1828800"/>
            <a:ext cx="3986784" cy="2930652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Shape 23">
            <a:extLst>
              <a:ext uri="{FF2B5EF4-FFF2-40B4-BE49-F238E27FC236}">
                <a16:creationId xmlns:a16="http://schemas.microsoft.com/office/drawing/2014/main" id="{8709E3AC-4EF3-D4DE-9CC0-55DA5894013E}"/>
              </a:ext>
            </a:extLst>
          </p:cNvPr>
          <p:cNvSpPr/>
          <p:nvPr/>
        </p:nvSpPr>
        <p:spPr>
          <a:xfrm>
            <a:off x="493775" y="1828800"/>
            <a:ext cx="45719" cy="29306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Text 24">
            <a:extLst>
              <a:ext uri="{FF2B5EF4-FFF2-40B4-BE49-F238E27FC236}">
                <a16:creationId xmlns:a16="http://schemas.microsoft.com/office/drawing/2014/main" id="{846E8486-9299-C511-240F-84DB6B5FB440}"/>
              </a:ext>
            </a:extLst>
          </p:cNvPr>
          <p:cNvSpPr/>
          <p:nvPr/>
        </p:nvSpPr>
        <p:spPr>
          <a:xfrm>
            <a:off x="676656" y="1965960"/>
            <a:ext cx="3578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공식추천 </a:t>
            </a:r>
            <a:r>
              <a:rPr lang="en-US" altLang="ko-KR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– </a:t>
            </a:r>
            <a:r>
              <a:rPr lang="ko-KR" alt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구석구석</a:t>
            </a: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lang="en-US" altLang="ko-KR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50</a:t>
            </a:r>
            <a:r>
              <a:rPr lang="ko-KR" alt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개 경로 </a:t>
            </a:r>
            <a:r>
              <a:rPr lang="en-US" altLang="ko-KR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· 101</a:t>
            </a:r>
            <a:r>
              <a:rPr lang="ko-KR" alt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일</a:t>
            </a:r>
            <a:r>
              <a:rPr lang="en-US" altLang="ko-KR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60BB66E5-05B7-BD26-BFB3-BEFA702E115B}"/>
              </a:ext>
            </a:extLst>
          </p:cNvPr>
          <p:cNvSpPr/>
          <p:nvPr/>
        </p:nvSpPr>
        <p:spPr>
          <a:xfrm>
            <a:off x="676656" y="2292914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이동 과다 경고 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≥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20%)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Text 25">
            <a:extLst>
              <a:ext uri="{FF2B5EF4-FFF2-40B4-BE49-F238E27FC236}">
                <a16:creationId xmlns:a16="http://schemas.microsoft.com/office/drawing/2014/main" id="{AEA3D6C6-73FE-582E-5142-8A94138B7340}"/>
              </a:ext>
            </a:extLst>
          </p:cNvPr>
          <p:cNvSpPr/>
          <p:nvPr/>
        </p:nvSpPr>
        <p:spPr>
          <a:xfrm>
            <a:off x="676656" y="2786977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위험 수준 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≥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40%)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592296D1-5699-190B-5B01-237A8C013967}"/>
              </a:ext>
            </a:extLst>
          </p:cNvPr>
          <p:cNvSpPr/>
          <p:nvPr/>
        </p:nvSpPr>
        <p:spPr>
          <a:xfrm>
            <a:off x="676656" y="3795680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VRPTW 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개선 여지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Text 25">
            <a:extLst>
              <a:ext uri="{FF2B5EF4-FFF2-40B4-BE49-F238E27FC236}">
                <a16:creationId xmlns:a16="http://schemas.microsoft.com/office/drawing/2014/main" id="{553FD097-FA14-00ED-6E81-4035BEECCE96}"/>
              </a:ext>
            </a:extLst>
          </p:cNvPr>
          <p:cNvSpPr/>
          <p:nvPr/>
        </p:nvSpPr>
        <p:spPr>
          <a:xfrm>
            <a:off x="676656" y="4330807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12h 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초과 과밀 일정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Text 25">
            <a:extLst>
              <a:ext uri="{FF2B5EF4-FFF2-40B4-BE49-F238E27FC236}">
                <a16:creationId xmlns:a16="http://schemas.microsoft.com/office/drawing/2014/main" id="{D3D95D62-A497-E43C-8B9D-EA68B024CFCE}"/>
              </a:ext>
            </a:extLst>
          </p:cNvPr>
          <p:cNvSpPr/>
          <p:nvPr/>
        </p:nvSpPr>
        <p:spPr>
          <a:xfrm>
            <a:off x="676656" y="3280359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 err="1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백트래킹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발생률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26">
            <a:extLst>
              <a:ext uri="{FF2B5EF4-FFF2-40B4-BE49-F238E27FC236}">
                <a16:creationId xmlns:a16="http://schemas.microsoft.com/office/drawing/2014/main" id="{4D8FF3A7-26E8-DAFE-4FDB-F1C98C6CEE4C}"/>
              </a:ext>
            </a:extLst>
          </p:cNvPr>
          <p:cNvSpPr/>
          <p:nvPr/>
        </p:nvSpPr>
        <p:spPr>
          <a:xfrm>
            <a:off x="676656" y="3999595"/>
            <a:ext cx="28986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경로 최적화</a:t>
            </a:r>
            <a:r>
              <a:rPr lang="en-US" altLang="ko-KR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Vehicle Routing Problem with Time Windows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9C5949EA-EFF2-89ED-FA04-7374686FA6D7}"/>
              </a:ext>
            </a:extLst>
          </p:cNvPr>
          <p:cNvSpPr/>
          <p:nvPr/>
        </p:nvSpPr>
        <p:spPr>
          <a:xfrm>
            <a:off x="3500051" y="2298390"/>
            <a:ext cx="82601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16.8%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Text 25">
            <a:extLst>
              <a:ext uri="{FF2B5EF4-FFF2-40B4-BE49-F238E27FC236}">
                <a16:creationId xmlns:a16="http://schemas.microsoft.com/office/drawing/2014/main" id="{BA790BF2-9DD2-56AD-A1DF-9251BCCC7024}"/>
              </a:ext>
            </a:extLst>
          </p:cNvPr>
          <p:cNvSpPr/>
          <p:nvPr/>
        </p:nvSpPr>
        <p:spPr>
          <a:xfrm>
            <a:off x="3500051" y="2793891"/>
            <a:ext cx="82601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11.9%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25">
            <a:extLst>
              <a:ext uri="{FF2B5EF4-FFF2-40B4-BE49-F238E27FC236}">
                <a16:creationId xmlns:a16="http://schemas.microsoft.com/office/drawing/2014/main" id="{22308B8A-9674-FA3F-558F-424850DE98F9}"/>
              </a:ext>
            </a:extLst>
          </p:cNvPr>
          <p:cNvSpPr/>
          <p:nvPr/>
        </p:nvSpPr>
        <p:spPr>
          <a:xfrm>
            <a:off x="3500050" y="3271251"/>
            <a:ext cx="926243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44.6%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D87A24E2-A0EE-08A2-1E29-D5F54FAB2466}"/>
              </a:ext>
            </a:extLst>
          </p:cNvPr>
          <p:cNvSpPr/>
          <p:nvPr/>
        </p:nvSpPr>
        <p:spPr>
          <a:xfrm>
            <a:off x="3500051" y="3802594"/>
            <a:ext cx="82601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55.4%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181589C6-5E50-A5C8-6CCA-9B58439B7E19}"/>
              </a:ext>
            </a:extLst>
          </p:cNvPr>
          <p:cNvSpPr/>
          <p:nvPr/>
        </p:nvSpPr>
        <p:spPr>
          <a:xfrm>
            <a:off x="3682933" y="4305665"/>
            <a:ext cx="718871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8.9%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17219652-9FF5-C359-0D55-03F55A2E45F4}"/>
              </a:ext>
            </a:extLst>
          </p:cNvPr>
          <p:cNvSpPr/>
          <p:nvPr/>
        </p:nvSpPr>
        <p:spPr>
          <a:xfrm>
            <a:off x="676656" y="351761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Backtracking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5E8D41B7-E574-649F-7976-7F59E3DAB7EE}"/>
              </a:ext>
            </a:extLst>
          </p:cNvPr>
          <p:cNvSpPr/>
          <p:nvPr/>
        </p:nvSpPr>
        <p:spPr>
          <a:xfrm>
            <a:off x="688848" y="249811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6B7280"/>
                </a:solidFill>
              </a:rPr>
              <a:t>추천 경로 중 하루 이동시간이 전체의 </a:t>
            </a:r>
            <a:r>
              <a:rPr lang="en-US" altLang="ko-KR" sz="900" dirty="0">
                <a:solidFill>
                  <a:srgbClr val="6B7280"/>
                </a:solidFill>
              </a:rPr>
              <a:t>86% </a:t>
            </a:r>
            <a:r>
              <a:rPr lang="ko-KR" altLang="en-US" sz="900" dirty="0">
                <a:solidFill>
                  <a:srgbClr val="6B7280"/>
                </a:solidFill>
              </a:rPr>
              <a:t>까지 발생</a:t>
            </a:r>
            <a:endParaRPr lang="en-US" altLang="ko-KR" sz="9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7CB17ED6-2D33-9CC9-7B38-EBA258EBD04E}"/>
              </a:ext>
            </a:extLst>
          </p:cNvPr>
          <p:cNvSpPr/>
          <p:nvPr/>
        </p:nvSpPr>
        <p:spPr>
          <a:xfrm>
            <a:off x="664464" y="29671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6B7280"/>
                </a:solidFill>
              </a:rPr>
              <a:t>종합 </a:t>
            </a:r>
            <a:r>
              <a:rPr lang="en-US" altLang="ko-KR" sz="900" dirty="0">
                <a:solidFill>
                  <a:srgbClr val="6B7280"/>
                </a:solidFill>
              </a:rPr>
              <a:t>Risk Score</a:t>
            </a:r>
            <a:endParaRPr lang="en-US" altLang="ko-KR" sz="900" dirty="0"/>
          </a:p>
        </p:txBody>
      </p:sp>
      <p:sp>
        <p:nvSpPr>
          <p:cNvPr id="105" name="Text 25">
            <a:extLst>
              <a:ext uri="{FF2B5EF4-FFF2-40B4-BE49-F238E27FC236}">
                <a16:creationId xmlns:a16="http://schemas.microsoft.com/office/drawing/2014/main" id="{E25EBED9-35CE-A378-8D43-FE44072AF5AA}"/>
              </a:ext>
            </a:extLst>
          </p:cNvPr>
          <p:cNvSpPr/>
          <p:nvPr/>
        </p:nvSpPr>
        <p:spPr>
          <a:xfrm>
            <a:off x="4922525" y="2254698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이동 과다 경고 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≥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20%)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6" name="Text 25">
            <a:extLst>
              <a:ext uri="{FF2B5EF4-FFF2-40B4-BE49-F238E27FC236}">
                <a16:creationId xmlns:a16="http://schemas.microsoft.com/office/drawing/2014/main" id="{D65010A5-03E5-0703-7AB0-E8FC1258E9C1}"/>
              </a:ext>
            </a:extLst>
          </p:cNvPr>
          <p:cNvSpPr/>
          <p:nvPr/>
        </p:nvSpPr>
        <p:spPr>
          <a:xfrm>
            <a:off x="4922525" y="2748761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위험 수준 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≥</a:t>
            </a:r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40%)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7" name="Text 25">
            <a:extLst>
              <a:ext uri="{FF2B5EF4-FFF2-40B4-BE49-F238E27FC236}">
                <a16:creationId xmlns:a16="http://schemas.microsoft.com/office/drawing/2014/main" id="{C084F4AC-D80F-ECCA-8692-EEF568ADF72E}"/>
              </a:ext>
            </a:extLst>
          </p:cNvPr>
          <p:cNvSpPr/>
          <p:nvPr/>
        </p:nvSpPr>
        <p:spPr>
          <a:xfrm>
            <a:off x="4922525" y="3757464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VRPTW 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개선 여지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8" name="Text 25">
            <a:extLst>
              <a:ext uri="{FF2B5EF4-FFF2-40B4-BE49-F238E27FC236}">
                <a16:creationId xmlns:a16="http://schemas.microsoft.com/office/drawing/2014/main" id="{4D206EF9-F686-A5D5-F75E-2124DE1637B6}"/>
              </a:ext>
            </a:extLst>
          </p:cNvPr>
          <p:cNvSpPr/>
          <p:nvPr/>
        </p:nvSpPr>
        <p:spPr>
          <a:xfrm>
            <a:off x="4922525" y="4292591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12h 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초과 과밀 일정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9" name="Text 25">
            <a:extLst>
              <a:ext uri="{FF2B5EF4-FFF2-40B4-BE49-F238E27FC236}">
                <a16:creationId xmlns:a16="http://schemas.microsoft.com/office/drawing/2014/main" id="{304B864B-9C53-EBAC-AAC0-70797E8632EE}"/>
              </a:ext>
            </a:extLst>
          </p:cNvPr>
          <p:cNvSpPr/>
          <p:nvPr/>
        </p:nvSpPr>
        <p:spPr>
          <a:xfrm>
            <a:off x="4922525" y="3242143"/>
            <a:ext cx="265176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 err="1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백트래킹</a:t>
            </a:r>
            <a:r>
              <a:rPr lang="ko-KR" altLang="en-US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발생률</a:t>
            </a:r>
            <a:endParaRPr lang="en-US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0" name="Text 26">
            <a:extLst>
              <a:ext uri="{FF2B5EF4-FFF2-40B4-BE49-F238E27FC236}">
                <a16:creationId xmlns:a16="http://schemas.microsoft.com/office/drawing/2014/main" id="{FA22C774-412C-77FE-4619-5BAB0072275A}"/>
              </a:ext>
            </a:extLst>
          </p:cNvPr>
          <p:cNvSpPr/>
          <p:nvPr/>
        </p:nvSpPr>
        <p:spPr>
          <a:xfrm>
            <a:off x="4922525" y="3961379"/>
            <a:ext cx="28986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경로 최적화</a:t>
            </a:r>
            <a:r>
              <a:rPr lang="en-US" altLang="ko-KR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Vehicle Routing Problem with Time Windows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1" name="Text 25">
            <a:extLst>
              <a:ext uri="{FF2B5EF4-FFF2-40B4-BE49-F238E27FC236}">
                <a16:creationId xmlns:a16="http://schemas.microsoft.com/office/drawing/2014/main" id="{AEDD69D6-0B9B-5B08-1E50-EDB25E6AB805}"/>
              </a:ext>
            </a:extLst>
          </p:cNvPr>
          <p:cNvSpPr/>
          <p:nvPr/>
        </p:nvSpPr>
        <p:spPr>
          <a:xfrm>
            <a:off x="7852599" y="2260174"/>
            <a:ext cx="82601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9.0%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2" name="Text 25">
            <a:extLst>
              <a:ext uri="{FF2B5EF4-FFF2-40B4-BE49-F238E27FC236}">
                <a16:creationId xmlns:a16="http://schemas.microsoft.com/office/drawing/2014/main" id="{230D0409-4B55-EA79-E9BD-73DFBB602574}"/>
              </a:ext>
            </a:extLst>
          </p:cNvPr>
          <p:cNvSpPr/>
          <p:nvPr/>
        </p:nvSpPr>
        <p:spPr>
          <a:xfrm>
            <a:off x="7852599" y="2755675"/>
            <a:ext cx="826016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3.4%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3" name="Text 25">
            <a:extLst>
              <a:ext uri="{FF2B5EF4-FFF2-40B4-BE49-F238E27FC236}">
                <a16:creationId xmlns:a16="http://schemas.microsoft.com/office/drawing/2014/main" id="{9332D013-C650-D124-BE02-93C891F3AC5D}"/>
              </a:ext>
            </a:extLst>
          </p:cNvPr>
          <p:cNvSpPr/>
          <p:nvPr/>
        </p:nvSpPr>
        <p:spPr>
          <a:xfrm>
            <a:off x="7745919" y="3233035"/>
            <a:ext cx="926243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32.3%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4" name="Text 25">
            <a:extLst>
              <a:ext uri="{FF2B5EF4-FFF2-40B4-BE49-F238E27FC236}">
                <a16:creationId xmlns:a16="http://schemas.microsoft.com/office/drawing/2014/main" id="{1B10FDF2-7FA4-8F0C-D460-A13D6023427C}"/>
              </a:ext>
            </a:extLst>
          </p:cNvPr>
          <p:cNvSpPr/>
          <p:nvPr/>
        </p:nvSpPr>
        <p:spPr>
          <a:xfrm>
            <a:off x="7745919" y="3764378"/>
            <a:ext cx="946980" cy="27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43.0%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Text 25">
            <a:extLst>
              <a:ext uri="{FF2B5EF4-FFF2-40B4-BE49-F238E27FC236}">
                <a16:creationId xmlns:a16="http://schemas.microsoft.com/office/drawing/2014/main" id="{0F44D0D0-D4D4-12D5-61D0-C063E93936F4}"/>
              </a:ext>
            </a:extLst>
          </p:cNvPr>
          <p:cNvSpPr/>
          <p:nvPr/>
        </p:nvSpPr>
        <p:spPr>
          <a:xfrm>
            <a:off x="8027858" y="4272823"/>
            <a:ext cx="224638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chemeClr val="accent1"/>
                </a:solidFill>
                <a:latin typeface="Pretendard"/>
                <a:ea typeface="Pretendard"/>
                <a:cs typeface="Pretendard"/>
              </a:rPr>
              <a:t>-</a:t>
            </a:r>
            <a:endParaRPr lang="en-US" sz="2000" dirty="0">
              <a:solidFill>
                <a:schemeClr val="accen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Text 26">
            <a:extLst>
              <a:ext uri="{FF2B5EF4-FFF2-40B4-BE49-F238E27FC236}">
                <a16:creationId xmlns:a16="http://schemas.microsoft.com/office/drawing/2014/main" id="{3F9C031D-71DF-5480-3DBB-44BE5EEFE8B5}"/>
              </a:ext>
            </a:extLst>
          </p:cNvPr>
          <p:cNvSpPr/>
          <p:nvPr/>
        </p:nvSpPr>
        <p:spPr>
          <a:xfrm>
            <a:off x="4922525" y="34794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Backtracking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Text 26">
            <a:extLst>
              <a:ext uri="{FF2B5EF4-FFF2-40B4-BE49-F238E27FC236}">
                <a16:creationId xmlns:a16="http://schemas.microsoft.com/office/drawing/2014/main" id="{9809D5C7-9245-8632-338D-2E2B33ED93DD}"/>
              </a:ext>
            </a:extLst>
          </p:cNvPr>
          <p:cNvSpPr/>
          <p:nvPr/>
        </p:nvSpPr>
        <p:spPr>
          <a:xfrm>
            <a:off x="4934717" y="24599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6B7280"/>
                </a:solidFill>
              </a:rPr>
              <a:t>추천 경로 중 하루 이동시간이 전체의 </a:t>
            </a:r>
            <a:r>
              <a:rPr lang="en-US" altLang="ko-KR" sz="900" dirty="0">
                <a:solidFill>
                  <a:srgbClr val="6B7280"/>
                </a:solidFill>
              </a:rPr>
              <a:t>60.7% </a:t>
            </a:r>
            <a:r>
              <a:rPr lang="ko-KR" altLang="en-US" sz="900" dirty="0">
                <a:solidFill>
                  <a:srgbClr val="6B7280"/>
                </a:solidFill>
              </a:rPr>
              <a:t>까지 발생</a:t>
            </a:r>
            <a:endParaRPr lang="en-US" altLang="ko-KR" sz="900" dirty="0"/>
          </a:p>
        </p:txBody>
      </p:sp>
      <p:sp>
        <p:nvSpPr>
          <p:cNvPr id="118" name="Text 26">
            <a:extLst>
              <a:ext uri="{FF2B5EF4-FFF2-40B4-BE49-F238E27FC236}">
                <a16:creationId xmlns:a16="http://schemas.microsoft.com/office/drawing/2014/main" id="{8C2ADFBF-75EC-4D7E-44FE-50A74E3CC4CD}"/>
              </a:ext>
            </a:extLst>
          </p:cNvPr>
          <p:cNvSpPr/>
          <p:nvPr/>
        </p:nvSpPr>
        <p:spPr>
          <a:xfrm>
            <a:off x="4910333" y="292895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6B7280"/>
                </a:solidFill>
              </a:rPr>
              <a:t>종합 </a:t>
            </a:r>
            <a:r>
              <a:rPr lang="en-US" altLang="ko-KR" sz="900" dirty="0">
                <a:solidFill>
                  <a:srgbClr val="6B7280"/>
                </a:solidFill>
              </a:rPr>
              <a:t>Risk Score</a:t>
            </a:r>
            <a:endParaRPr lang="en-US" altLang="ko-KR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D8858-2A3E-808F-99AF-5701EF0D4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E7C489-48CB-B90F-E8F4-E7E94E787BE8}"/>
              </a:ext>
            </a:extLst>
          </p:cNvPr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BD140E3-B115-92A4-80C7-BEEE70F9CA76}"/>
              </a:ext>
            </a:extLst>
          </p:cNvPr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96F960-B6C9-6100-1D6B-4E1A27FBC59D}"/>
              </a:ext>
            </a:extLst>
          </p:cNvPr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AI </a:t>
            </a:r>
            <a:r>
              <a:rPr lang="ko-KR" altLang="en-US" sz="28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플래너의</a:t>
            </a:r>
            <a:r>
              <a:rPr lang="en-US" altLang="ko-KR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실체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717542-B246-17EB-9532-3F94C20D9938}"/>
              </a:ext>
            </a:extLst>
          </p:cNvPr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생성형 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는 일정을 만들 수 있지만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그 일정이 현실에서 잘 작동하는지는 사용자는 알 수 없다</a:t>
            </a:r>
            <a:r>
              <a:rPr lang="en-US" altLang="ko-KR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.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6BC826A-209D-4B53-000F-A20FC27BF01C}"/>
              </a:ext>
            </a:extLst>
          </p:cNvPr>
          <p:cNvSpPr/>
          <p:nvPr/>
        </p:nvSpPr>
        <p:spPr>
          <a:xfrm>
            <a:off x="457200" y="182880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C4391B4-C391-EA97-77DF-3C6A8AA5B59C}"/>
              </a:ext>
            </a:extLst>
          </p:cNvPr>
          <p:cNvSpPr/>
          <p:nvPr/>
        </p:nvSpPr>
        <p:spPr>
          <a:xfrm>
            <a:off x="457200" y="182880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6B7ED7-83DF-5092-DCF5-70F4BF5DA913}"/>
              </a:ext>
            </a:extLst>
          </p:cNvPr>
          <p:cNvSpPr/>
          <p:nvPr/>
        </p:nvSpPr>
        <p:spPr>
          <a:xfrm>
            <a:off x="640080" y="1920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A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B381953-F0B5-D08E-4479-FC8D571EF7F8}"/>
              </a:ext>
            </a:extLst>
          </p:cNvPr>
          <p:cNvSpPr/>
          <p:nvPr/>
        </p:nvSpPr>
        <p:spPr>
          <a:xfrm>
            <a:off x="1554480" y="1920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"부산 1박2일 추천 코스"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9BCEECC-9BB5-8451-6EB8-4698775ACA87}"/>
              </a:ext>
            </a:extLst>
          </p:cNvPr>
          <p:cNvSpPr/>
          <p:nvPr/>
        </p:nvSpPr>
        <p:spPr>
          <a:xfrm>
            <a:off x="640080" y="21579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광안리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(20:00 도착) → 감천문화마을(21:00) → 운영 종료 18:00 → 입장 불가, 일정 30% 폐기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BD129BF-12D2-1B8D-EC2B-669F01B619D9}"/>
              </a:ext>
            </a:extLst>
          </p:cNvPr>
          <p:cNvSpPr/>
          <p:nvPr/>
        </p:nvSpPr>
        <p:spPr>
          <a:xfrm>
            <a:off x="640080" y="23957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−2시간 + 택시비 ₩28,000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8553E185-3F7E-0E15-DB24-BC75C4E54421}"/>
              </a:ext>
            </a:extLst>
          </p:cNvPr>
          <p:cNvSpPr/>
          <p:nvPr/>
        </p:nvSpPr>
        <p:spPr>
          <a:xfrm>
            <a:off x="457200" y="269748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D7B88664-F0EC-502E-9553-99952A29A92A}"/>
              </a:ext>
            </a:extLst>
          </p:cNvPr>
          <p:cNvSpPr/>
          <p:nvPr/>
        </p:nvSpPr>
        <p:spPr>
          <a:xfrm>
            <a:off x="457200" y="269748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AEFD871-F169-F8B7-B201-B12E5709353A}"/>
              </a:ext>
            </a:extLst>
          </p:cNvPr>
          <p:cNvSpPr/>
          <p:nvPr/>
        </p:nvSpPr>
        <p:spPr>
          <a:xfrm>
            <a:off x="640080" y="2788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B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425AD9-3B3C-7E9D-29C6-32DD3D1F2C93}"/>
              </a:ext>
            </a:extLst>
          </p:cNvPr>
          <p:cNvSpPr/>
          <p:nvPr/>
        </p:nvSpPr>
        <p:spPr>
          <a:xfrm>
            <a:off x="1554480" y="27889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"제주 가족 코스"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15C1B4A-DBC2-05F3-C8D1-8C93EDB28221}"/>
              </a:ext>
            </a:extLst>
          </p:cNvPr>
          <p:cNvSpPr/>
          <p:nvPr/>
        </p:nvSpPr>
        <p:spPr>
          <a:xfrm>
            <a:off x="640080" y="30266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한라산(09:00 입장) → 동문시장(11:00 도착) — 50km 이동을 30분으로 표기, 실제 90분 소요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D106487-DDD7-6E4F-0140-19D1CC18DA9D}"/>
              </a:ext>
            </a:extLst>
          </p:cNvPr>
          <p:cNvSpPr/>
          <p:nvPr/>
        </p:nvSpPr>
        <p:spPr>
          <a:xfrm>
            <a:off x="640080" y="326440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−1시간 + 점심 누락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22BE2EE5-18B2-F9E8-9BD0-41E2F4EF65D9}"/>
              </a:ext>
            </a:extLst>
          </p:cNvPr>
          <p:cNvSpPr/>
          <p:nvPr/>
        </p:nvSpPr>
        <p:spPr>
          <a:xfrm>
            <a:off x="457200" y="3566160"/>
            <a:ext cx="512064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D4D8924-317E-7686-523B-5F3C3548FE9E}"/>
              </a:ext>
            </a:extLst>
          </p:cNvPr>
          <p:cNvSpPr/>
          <p:nvPr/>
        </p:nvSpPr>
        <p:spPr>
          <a:xfrm>
            <a:off x="457200" y="3566160"/>
            <a:ext cx="36576" cy="7772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492EE57-38FD-EB86-7C8D-3B12F18FB8EC}"/>
              </a:ext>
            </a:extLst>
          </p:cNvPr>
          <p:cNvSpPr/>
          <p:nvPr/>
        </p:nvSpPr>
        <p:spPr>
          <a:xfrm>
            <a:off x="64008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Case C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BB67F53B-B1B2-2D27-7DC8-071E975B7B9C}"/>
              </a:ext>
            </a:extLst>
          </p:cNvPr>
          <p:cNvSpPr/>
          <p:nvPr/>
        </p:nvSpPr>
        <p:spPr>
          <a:xfrm>
            <a:off x="1554480" y="36576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"서울 데이트 힐링"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F5C4161-97AA-1910-3CF1-10962770BEFD}"/>
              </a:ext>
            </a:extLst>
          </p:cNvPr>
          <p:cNvSpPr/>
          <p:nvPr/>
        </p:nvSpPr>
        <p:spPr>
          <a:xfrm>
            <a:off x="640080" y="389534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테마는 "힐링"이지만 일정에 클럽·시장 포함 — 분류 정합성 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9F78976E-A16B-F9EE-8BEF-6A64AFBB2495}"/>
              </a:ext>
            </a:extLst>
          </p:cNvPr>
          <p:cNvSpPr/>
          <p:nvPr/>
        </p:nvSpPr>
        <p:spPr>
          <a:xfrm>
            <a:off x="640080" y="41330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만족도 ↓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48577A7C-0446-782F-22F3-2B8F9F6EBDCD}"/>
              </a:ext>
            </a:extLst>
          </p:cNvPr>
          <p:cNvSpPr/>
          <p:nvPr/>
        </p:nvSpPr>
        <p:spPr>
          <a:xfrm>
            <a:off x="5760720" y="1828800"/>
            <a:ext cx="2926080" cy="256032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50A41E33-B914-E8BB-685F-04A1A5C6DF69}"/>
              </a:ext>
            </a:extLst>
          </p:cNvPr>
          <p:cNvSpPr/>
          <p:nvPr/>
        </p:nvSpPr>
        <p:spPr>
          <a:xfrm>
            <a:off x="5760720" y="1828800"/>
            <a:ext cx="36576" cy="2560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E956ED9E-F5D4-B87B-FD15-ADE3BE57F6F1}"/>
              </a:ext>
            </a:extLst>
          </p:cNvPr>
          <p:cNvSpPr/>
          <p:nvPr/>
        </p:nvSpPr>
        <p:spPr>
          <a:xfrm>
            <a:off x="5943600" y="1965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검증 부재의 영향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084D972-CEF5-0BC0-15CA-A90BF27F15A3}"/>
              </a:ext>
            </a:extLst>
          </p:cNvPr>
          <p:cNvSpPr/>
          <p:nvPr/>
        </p:nvSpPr>
        <p:spPr>
          <a:xfrm>
            <a:off x="5943600" y="23317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1순위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ED540D8-CBAA-1942-44CA-EF0BF70FBECF}"/>
              </a:ext>
            </a:extLst>
          </p:cNvPr>
          <p:cNvSpPr/>
          <p:nvPr/>
        </p:nvSpPr>
        <p:spPr>
          <a:xfrm>
            <a:off x="5943600" y="27980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불편 항목 = 일정·동선 오류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(2025 국민여행조사 4Q)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5B4A7590-30E6-8F65-AFEA-6A9F16A1A358}"/>
              </a:ext>
            </a:extLst>
          </p:cNvPr>
          <p:cNvSpPr/>
          <p:nvPr/>
        </p:nvSpPr>
        <p:spPr>
          <a:xfrm>
            <a:off x="5943600" y="3246120"/>
            <a:ext cx="26517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61.4%</a:t>
            </a:r>
            <a:endParaRPr lang="en-US" sz="2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57F2892-3D8F-F174-CBFD-24560B764399}"/>
              </a:ext>
            </a:extLst>
          </p:cNvPr>
          <p:cNvSpPr/>
          <p:nvPr/>
        </p:nvSpPr>
        <p:spPr>
          <a:xfrm>
            <a:off x="5943600" y="371246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여행 후 "다음에 다르게 짤 것" 응답 비율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FAD0B42-21BF-AD0B-E1D5-FCDB9B27C524}"/>
              </a:ext>
            </a:extLst>
          </p:cNvPr>
          <p:cNvSpPr/>
          <p:nvPr/>
        </p:nvSpPr>
        <p:spPr>
          <a:xfrm>
            <a:off x="5943600" y="402336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−16시간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17A3348D-B142-D98C-AB05-63E691CB1F0E}"/>
              </a:ext>
            </a:extLst>
          </p:cNvPr>
          <p:cNvSpPr/>
          <p:nvPr/>
        </p:nvSpPr>
        <p:spPr>
          <a:xfrm>
            <a:off x="5943600" y="4242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여행당 평균 시간 손실 추정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A320A622-2607-5470-6860-E3DB54AA5B9A}"/>
              </a:ext>
            </a:extLst>
          </p:cNvPr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출처  2025년 국민여행조사 3·4분기 결과(잠정치) · 한국관광공사 관광데이터랩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DB8D8C3-99B1-BC51-BA71-E3534442AFCA}"/>
              </a:ext>
            </a:extLst>
          </p:cNvPr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7231E81-FF95-B15D-70FD-ECCD477ED6A8}"/>
              </a:ext>
            </a:extLst>
          </p:cNvPr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13AC4EC-942A-1B35-F9A8-0948469323FA}"/>
              </a:ext>
            </a:extLst>
          </p:cNvPr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37" name="Connector 36">
            <a:extLst>
              <a:ext uri="{FF2B5EF4-FFF2-40B4-BE49-F238E27FC236}">
                <a16:creationId xmlns:a16="http://schemas.microsoft.com/office/drawing/2014/main" id="{81960BA7-CBB2-7F89-E7A4-BFFEA19C26F2}"/>
              </a:ext>
            </a:extLst>
          </p:cNvPr>
          <p:cNvCxnSpPr/>
          <p:nvPr/>
        </p:nvCxnSpPr>
        <p:spPr>
          <a:xfrm>
            <a:off x="1554480" y="2542032"/>
            <a:ext cx="3886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3396CB75-9198-5AC1-360A-7D84795378F2}"/>
              </a:ext>
            </a:extLst>
          </p:cNvPr>
          <p:cNvSpPr/>
          <p:nvPr/>
        </p:nvSpPr>
        <p:spPr>
          <a:xfrm>
            <a:off x="1499616" y="248716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C34DE1C-17E0-6128-A861-4F140B5C8649}"/>
              </a:ext>
            </a:extLst>
          </p:cNvPr>
          <p:cNvSpPr txBox="1"/>
          <p:nvPr/>
        </p:nvSpPr>
        <p:spPr>
          <a:xfrm>
            <a:off x="1198879" y="258673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광안리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7D0260B-2996-7D0B-FE2B-6FDBB493EE79}"/>
              </a:ext>
            </a:extLst>
          </p:cNvPr>
          <p:cNvSpPr/>
          <p:nvPr/>
        </p:nvSpPr>
        <p:spPr>
          <a:xfrm>
            <a:off x="5385816" y="2487168"/>
            <a:ext cx="109728" cy="109728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5B1C0A-8FA9-8577-24EC-714850A27BC2}"/>
              </a:ext>
            </a:extLst>
          </p:cNvPr>
          <p:cNvSpPr txBox="1"/>
          <p:nvPr/>
        </p:nvSpPr>
        <p:spPr>
          <a:xfrm>
            <a:off x="5074920" y="259689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감천문화마을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B745B0-11DD-E132-9AE2-E4A9DD9464D2}"/>
              </a:ext>
            </a:extLst>
          </p:cNvPr>
          <p:cNvSpPr txBox="1"/>
          <p:nvPr/>
        </p:nvSpPr>
        <p:spPr>
          <a:xfrm>
            <a:off x="5303520" y="238658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✕</a:t>
            </a:r>
          </a:p>
        </p:txBody>
      </p:sp>
      <p:cxnSp>
        <p:nvCxnSpPr>
          <p:cNvPr id="43" name="Connector 42">
            <a:extLst>
              <a:ext uri="{FF2B5EF4-FFF2-40B4-BE49-F238E27FC236}">
                <a16:creationId xmlns:a16="http://schemas.microsoft.com/office/drawing/2014/main" id="{8E496976-8B01-8FBF-F743-93D916D7E9C4}"/>
              </a:ext>
            </a:extLst>
          </p:cNvPr>
          <p:cNvCxnSpPr/>
          <p:nvPr/>
        </p:nvCxnSpPr>
        <p:spPr>
          <a:xfrm>
            <a:off x="1554480" y="3410712"/>
            <a:ext cx="3886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>
            <a:extLst>
              <a:ext uri="{FF2B5EF4-FFF2-40B4-BE49-F238E27FC236}">
                <a16:creationId xmlns:a16="http://schemas.microsoft.com/office/drawing/2014/main" id="{025FCA32-9F26-92C1-850D-4E58061650CC}"/>
              </a:ext>
            </a:extLst>
          </p:cNvPr>
          <p:cNvSpPr/>
          <p:nvPr/>
        </p:nvSpPr>
        <p:spPr>
          <a:xfrm>
            <a:off x="1499616" y="335584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E6DA5B-E325-9CD5-C690-E52865355C58}"/>
              </a:ext>
            </a:extLst>
          </p:cNvPr>
          <p:cNvSpPr txBox="1"/>
          <p:nvPr/>
        </p:nvSpPr>
        <p:spPr>
          <a:xfrm>
            <a:off x="1188719" y="346557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한라산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468D4F6-49EB-B86A-AD42-5C0D36CC224B}"/>
              </a:ext>
            </a:extLst>
          </p:cNvPr>
          <p:cNvSpPr/>
          <p:nvPr/>
        </p:nvSpPr>
        <p:spPr>
          <a:xfrm>
            <a:off x="5385816" y="3355848"/>
            <a:ext cx="109728" cy="109728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B93FD8D-8E70-CC48-1107-1A0B924C123A}"/>
              </a:ext>
            </a:extLst>
          </p:cNvPr>
          <p:cNvSpPr txBox="1"/>
          <p:nvPr/>
        </p:nvSpPr>
        <p:spPr>
          <a:xfrm>
            <a:off x="5074920" y="3465576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동문시장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3186964-F3C3-5869-22B9-2B908E18B182}"/>
              </a:ext>
            </a:extLst>
          </p:cNvPr>
          <p:cNvSpPr txBox="1"/>
          <p:nvPr/>
        </p:nvSpPr>
        <p:spPr>
          <a:xfrm>
            <a:off x="5303520" y="325526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✕</a:t>
            </a:r>
          </a:p>
        </p:txBody>
      </p:sp>
      <p:cxnSp>
        <p:nvCxnSpPr>
          <p:cNvPr id="49" name="Connector 48">
            <a:extLst>
              <a:ext uri="{FF2B5EF4-FFF2-40B4-BE49-F238E27FC236}">
                <a16:creationId xmlns:a16="http://schemas.microsoft.com/office/drawing/2014/main" id="{277AA67D-B32F-197C-DDBD-C9998028CB3B}"/>
              </a:ext>
            </a:extLst>
          </p:cNvPr>
          <p:cNvCxnSpPr/>
          <p:nvPr/>
        </p:nvCxnSpPr>
        <p:spPr>
          <a:xfrm>
            <a:off x="1554480" y="4279392"/>
            <a:ext cx="388620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31CF63DD-EE9A-7479-543E-068853A33340}"/>
              </a:ext>
            </a:extLst>
          </p:cNvPr>
          <p:cNvSpPr/>
          <p:nvPr/>
        </p:nvSpPr>
        <p:spPr>
          <a:xfrm>
            <a:off x="1499616" y="422452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B83D9E-1ED9-CD95-B8FD-A3D023F5148D}"/>
              </a:ext>
            </a:extLst>
          </p:cNvPr>
          <p:cNvSpPr txBox="1"/>
          <p:nvPr/>
        </p:nvSpPr>
        <p:spPr>
          <a:xfrm>
            <a:off x="1188719" y="4334255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힐링명소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01594B1-CBE7-C006-5493-0773021A3A20}"/>
              </a:ext>
            </a:extLst>
          </p:cNvPr>
          <p:cNvSpPr/>
          <p:nvPr/>
        </p:nvSpPr>
        <p:spPr>
          <a:xfrm>
            <a:off x="3442716" y="4224528"/>
            <a:ext cx="109728" cy="109728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CB85ADA-F096-0AC9-8DBC-B04F59169028}"/>
              </a:ext>
            </a:extLst>
          </p:cNvPr>
          <p:cNvSpPr txBox="1"/>
          <p:nvPr/>
        </p:nvSpPr>
        <p:spPr>
          <a:xfrm>
            <a:off x="3131820" y="4334255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클럽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A1BD4A6-B3D4-5D76-362D-74D3932016BC}"/>
              </a:ext>
            </a:extLst>
          </p:cNvPr>
          <p:cNvSpPr/>
          <p:nvPr/>
        </p:nvSpPr>
        <p:spPr>
          <a:xfrm>
            <a:off x="5385816" y="4224528"/>
            <a:ext cx="109728" cy="109728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AE54A2C-61F1-FF4E-77D5-E46EC75C943F}"/>
              </a:ext>
            </a:extLst>
          </p:cNvPr>
          <p:cNvSpPr txBox="1"/>
          <p:nvPr/>
        </p:nvSpPr>
        <p:spPr>
          <a:xfrm>
            <a:off x="5074920" y="4334255"/>
            <a:ext cx="7315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시장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023201-6865-8306-A904-0BECE7173A0D}"/>
              </a:ext>
            </a:extLst>
          </p:cNvPr>
          <p:cNvSpPr txBox="1"/>
          <p:nvPr/>
        </p:nvSpPr>
        <p:spPr>
          <a:xfrm>
            <a:off x="5303520" y="412394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✕</a:t>
            </a:r>
          </a:p>
        </p:txBody>
      </p:sp>
    </p:spTree>
    <p:extLst>
      <p:ext uri="{BB962C8B-B14F-4D97-AF65-F5344CB8AC3E}">
        <p14:creationId xmlns:p14="http://schemas.microsoft.com/office/powerpoint/2010/main" val="4241279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01 · 문제 정의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기존 솔루션과의 비교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왜 </a:t>
            </a:r>
            <a:r>
              <a:rPr lang="en-US" sz="13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검증</a:t>
            </a: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1300" dirty="0" err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레이어</a:t>
            </a:r>
            <a:r>
              <a:rPr lang="ko-KR" alt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가 필요한지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 / 카테고리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37744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네이버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카카오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구글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1792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트리플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솔루션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1671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POI 추천 / 검색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37744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5760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3776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216712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55117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지도 · 길찾기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37744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365760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217920" y="255117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49808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API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935224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충돌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37744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65760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93776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217920" y="293522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49808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이동 vs 관광 비율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37744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365760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493776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217920" y="331927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49808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57200" y="37033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테마 정합성 (LLM + RAG)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37744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65760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493776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217920" y="37033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498080" y="37033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4087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일자별 동선 밀집도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37744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65760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493776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217920" y="4087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498080" y="40873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7200" y="44714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근거 기반 설명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37744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365760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493776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217920" y="447141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○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498080" y="4471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05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02 · 솔루션 비전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 가능성, 또 하나의 품질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Hybrid Travel Plan QA Engine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/>
              <a:t>LAYER 1 · CRITICAL  :  </a:t>
            </a:r>
          </a:p>
          <a:p>
            <a:r>
              <a:rPr lang="en-US" altLang="ko-KR" b="1" dirty="0"/>
              <a:t>Hard Fail  </a:t>
            </a:r>
            <a:r>
              <a:rPr lang="en-US" sz="2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</a:t>
            </a:r>
            <a:r>
              <a:rPr lang="en-US" sz="2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실행</a:t>
            </a:r>
            <a:r>
              <a:rPr lang="en-US" sz="2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sz="2600" b="1" dirty="0" err="1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가능한가</a:t>
            </a:r>
            <a:r>
              <a:rPr lang="en-US" sz="2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?“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운영시간 · 이동시간 · 체류시간 · Depot 제약을 OR-Tools VRPTW로 결정적 판정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/>
              <a:t>LAYER 2 · </a:t>
            </a:r>
            <a:r>
              <a:rPr lang="ko-KR" altLang="en-US" b="1" dirty="0" err="1"/>
              <a:t>패널티</a:t>
            </a:r>
            <a:r>
              <a:rPr lang="ko-KR" altLang="en-US" b="1" dirty="0"/>
              <a:t> 가산</a:t>
            </a:r>
            <a:endParaRPr lang="en-US" altLang="ko-KR" b="1" dirty="0"/>
          </a:p>
          <a:p>
            <a:r>
              <a:rPr lang="en-US" altLang="ko-KR" b="1" dirty="0"/>
              <a:t>Scoring </a:t>
            </a:r>
            <a:r>
              <a:rPr lang="en-US" sz="2600" b="1" dirty="0">
                <a:latin typeface="Pretendard"/>
                <a:ea typeface="Pretendard"/>
                <a:cs typeface="Pretendard"/>
              </a:rPr>
              <a:t>"얼마나 좋은 일정인가?"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이동 비율 · 동선 밀집도(M1—M4) · 테마 </a:t>
            </a:r>
            <a:r>
              <a:rPr lang="en-US" sz="1200" dirty="0" err="1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정합성</a:t>
            </a: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, 혼잡도 4종 </a:t>
            </a:r>
            <a:r>
              <a:rPr lang="en-US" sz="1200" dirty="0" err="1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패널티로</a:t>
            </a: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판단</a:t>
            </a:r>
            <a:endParaRPr lang="en-US" altLang="ko-KR" sz="1200" dirty="0">
              <a:solidFill>
                <a:srgbClr val="1F2937"/>
              </a:solidFill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(0–100 </a:t>
            </a:r>
            <a:r>
              <a:rPr lang="en-US" sz="1200" dirty="0" err="1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점수화</a:t>
            </a:r>
            <a:r>
              <a:rPr lang="en-US" sz="12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4069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latin typeface="Pretendard"/>
                <a:ea typeface="Pretendard"/>
                <a:cs typeface="Pretendard"/>
              </a:rPr>
              <a:t>LAYER 3 · LLM</a:t>
            </a:r>
            <a:r>
              <a:rPr lang="ko-KR" altLang="en-US" sz="2600" b="1" dirty="0">
                <a:latin typeface="Pretendard"/>
                <a:ea typeface="Pretendard"/>
                <a:cs typeface="Pretendard"/>
              </a:rPr>
              <a:t> </a:t>
            </a:r>
            <a:endParaRPr lang="en-US" altLang="ko-KR" sz="2600" b="1" dirty="0">
              <a:latin typeface="Pretendard"/>
              <a:ea typeface="Pretendard"/>
              <a:cs typeface="Pretendard"/>
            </a:endParaRPr>
          </a:p>
          <a:p>
            <a:pPr marL="0" indent="0">
              <a:buNone/>
            </a:pPr>
            <a:r>
              <a:rPr lang="en-US" sz="2600" b="1">
                <a:latin typeface="Pretendard"/>
                <a:ea typeface="Pretendard"/>
                <a:cs typeface="Pretendard"/>
              </a:rPr>
              <a:t>Fact "</a:t>
            </a:r>
            <a:r>
              <a:rPr lang="en-US" sz="2600" b="1" dirty="0">
                <a:latin typeface="Pretendard"/>
                <a:ea typeface="Pretendard"/>
                <a:cs typeface="Pretendard"/>
              </a:rPr>
              <a:t>왜 </a:t>
            </a:r>
            <a:r>
              <a:rPr lang="en-US" sz="2600" b="1" dirty="0" err="1">
                <a:latin typeface="Pretendard"/>
                <a:ea typeface="Pretendard"/>
                <a:cs typeface="Pretendard"/>
              </a:rPr>
              <a:t>그렇게</a:t>
            </a:r>
            <a:r>
              <a:rPr lang="en-US" sz="2600" b="1" dirty="0">
                <a:latin typeface="Pretendard"/>
                <a:ea typeface="Pretendard"/>
                <a:cs typeface="Pretendard"/>
              </a:rPr>
              <a:t> </a:t>
            </a:r>
            <a:r>
              <a:rPr lang="en-US" sz="2600" b="1" dirty="0" err="1">
                <a:latin typeface="Pretendard"/>
                <a:ea typeface="Pretendard"/>
                <a:cs typeface="Pretendard"/>
              </a:rPr>
              <a:t>판정했는가</a:t>
            </a:r>
            <a:r>
              <a:rPr lang="en-US" sz="2600" b="1" dirty="0">
                <a:latin typeface="Pretendard"/>
                <a:ea typeface="Pretendard"/>
                <a:cs typeface="Pretendard"/>
              </a:rPr>
              <a:t>?"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532120" y="1783080"/>
            <a:ext cx="315468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715000" y="192024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3-Layer Engine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15000" y="22402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VRPTW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15000" y="2606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Hard Fail · Warning 결정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15000" y="2926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Scoring 4종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15000" y="32918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Travel Ratio · Cluster </a:t>
            </a:r>
            <a:r>
              <a:rPr lang="en-US" sz="1100" dirty="0" err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Dipersion</a:t>
            </a: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 · Theme Alignment + LLM </a:t>
            </a:r>
            <a:r>
              <a:rPr lang="en-US" altLang="ko-KR" sz="1100" dirty="0">
                <a:solidFill>
                  <a:srgbClr val="9CA3AF"/>
                </a:solidFill>
              </a:rPr>
              <a:t>· </a:t>
            </a:r>
            <a:r>
              <a:rPr lang="ko-KR" altLang="en-US" sz="1100" dirty="0">
                <a:solidFill>
                  <a:srgbClr val="9CA3AF"/>
                </a:solidFill>
              </a:rPr>
              <a:t>혼잡도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15000" y="36118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Claude LLM</a:t>
            </a:r>
            <a:endParaRPr lang="en-US" sz="2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15000" y="39776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Fact–Rule–Risk–Suggestion 설명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06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02 · 솔루션 비전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End-to-End 파이프라인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사용자 일정 입력 → 검증 → Risk Score + 설명까지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1. Input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POI 이름 + 일자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01168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9456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194560" y="1828800"/>
            <a:ext cx="36576" cy="10972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8600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2. Resolve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28600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TourAPI / Kakao 매칭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74904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93192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93192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2336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 Matrix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2336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Kakao Mobility 이동시간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8640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66928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669280" y="1828800"/>
            <a:ext cx="36576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6072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 Validate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072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VRPTW 결정 (Hard/Warn)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23760" y="22402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→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406640" y="1828800"/>
            <a:ext cx="1554480" cy="10972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406640" y="1828800"/>
            <a:ext cx="36576" cy="10972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0" y="1920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5. Score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98080" y="22402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 패널티 + Risk 0–100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36576" cy="1417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출력 ① — Final Risk Score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0–100 점수 (PASS ≥ 60)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Hard Fail Cap → 자동 ≤ 59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일별 누적 + 전체 합산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663440" y="3246120"/>
            <a:ext cx="40233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663440" y="3246120"/>
            <a:ext cx="36576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3375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출력 ② — Evidence-based 설명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846320" y="363016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Fact / Rule / Risk / Suggestion 4-튜플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Claude Sonnet 4.6 + prompt caching</a:t>
            </a:r>
            <a:endParaRPr lang="en-US" sz="1100" dirty="0">
              <a:latin typeface="Pretendard"/>
              <a:ea typeface="Pretendard"/>
              <a:cs typeface="Pretendard"/>
            </a:endParaRPr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JSON 강제 스키마 — 후처리 친화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07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1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VRPTW 엔진 — 일정을 "라우팅 문제"로 환원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Vehicle Routing Problem with Time Windows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문제 정의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"하루 일정 = N개 정점 + 시간 창(time window) + 이동시간 행렬을 가진 단일-차량 경로 문제"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입력 변수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open · close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각 POI 영업시간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dwell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권장 체류시간 (5단계 폴백)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T(i,j)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Kakao Mobility 실측 행렬
</a:t>
            </a:r>
            <a:r>
              <a:rPr lang="en-US" sz="11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depot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숙소 (1박 이상 일정 한정)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783080"/>
            <a:ext cx="393192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37760" y="1874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Solver  (Google OR-Tools)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Foundational Reference 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Solomon, M.M. (1987). "Algorithms for the Vehicle Routing and Scheduling Problems with Time Window Constraints."  </a:t>
            </a: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Operations Research, 35(2): 254–265.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08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349240" y="2331720"/>
            <a:ext cx="914400" cy="41148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263640" y="2331720"/>
            <a:ext cx="1005840" cy="50292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269480" y="2606040"/>
            <a:ext cx="822960" cy="22860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6583680" y="2606040"/>
            <a:ext cx="1508760" cy="731520"/>
          </a:xfrm>
          <a:prstGeom prst="line">
            <a:avLst/>
          </a:prstGeom>
          <a:ln w="19050">
            <a:solidFill>
              <a:srgbClr val="1057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349240" y="2743200"/>
            <a:ext cx="1920240" cy="9144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349240" y="2606040"/>
            <a:ext cx="2743200" cy="13716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263640" y="2331720"/>
            <a:ext cx="1828800" cy="27432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63640" y="2331720"/>
            <a:ext cx="320040" cy="100584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583680" y="2834640"/>
            <a:ext cx="685800" cy="502920"/>
          </a:xfrm>
          <a:prstGeom prst="line">
            <a:avLst/>
          </a:prstGeom>
          <a:ln w="6350">
            <a:solidFill>
              <a:srgbClr val="D1D5D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5202936" y="259689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202936" y="265176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9" name="Oval 28"/>
          <p:cNvSpPr/>
          <p:nvPr/>
        </p:nvSpPr>
        <p:spPr>
          <a:xfrm>
            <a:off x="6117336" y="2185415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17336" y="2240279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</a:t>
            </a:r>
          </a:p>
        </p:txBody>
      </p:sp>
      <p:sp>
        <p:nvSpPr>
          <p:cNvPr id="31" name="Oval 30"/>
          <p:cNvSpPr/>
          <p:nvPr/>
        </p:nvSpPr>
        <p:spPr>
          <a:xfrm>
            <a:off x="7123176" y="268833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23176" y="274320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</a:t>
            </a:r>
          </a:p>
        </p:txBody>
      </p:sp>
      <p:sp>
        <p:nvSpPr>
          <p:cNvPr id="33" name="Oval 32"/>
          <p:cNvSpPr/>
          <p:nvPr/>
        </p:nvSpPr>
        <p:spPr>
          <a:xfrm>
            <a:off x="7946136" y="245973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46136" y="251460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</a:t>
            </a:r>
          </a:p>
        </p:txBody>
      </p:sp>
      <p:sp>
        <p:nvSpPr>
          <p:cNvPr id="35" name="Oval 34"/>
          <p:cNvSpPr/>
          <p:nvPr/>
        </p:nvSpPr>
        <p:spPr>
          <a:xfrm>
            <a:off x="6437376" y="3191256"/>
            <a:ext cx="292608" cy="292608"/>
          </a:xfrm>
          <a:prstGeom prst="ellipse">
            <a:avLst/>
          </a:prstGeom>
          <a:solidFill>
            <a:srgbClr val="10579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37376" y="3246120"/>
            <a:ext cx="29260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0" y="3703320"/>
            <a:ext cx="3611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정점 = POI    엣지 = Kakao 이동시간    실선 = 결정된 경로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74920" y="3950208"/>
            <a:ext cx="3337560" cy="16459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241798" y="3968496"/>
            <a:ext cx="433882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809183" y="3968496"/>
            <a:ext cx="333756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409944" y="3968496"/>
            <a:ext cx="267004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010704" y="3968496"/>
            <a:ext cx="667512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911846" y="3968496"/>
            <a:ext cx="333755" cy="128016"/>
          </a:xfrm>
          <a:prstGeom prst="rect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0" y="4133088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각 POI의 영업시간 = time window 제약    06:00 ────────────── 22:00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1 / 5 · DEPOT 제약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다일 일정의 "숙소 닻" 제약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Constraint — 1일차 종료 / 마지막 날 시작 = 숙소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48640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019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당일치기 (1day)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971800" y="19019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34840" y="190195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0" y="190195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Depot 제약 면제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423160"/>
            <a:ext cx="36576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542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1일차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56032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971800" y="254203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34840" y="25420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46320" y="25420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254203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1일차 → 마지막 정점 = 숙소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06324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06324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31821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중간 일자 (2 ~ N-1일)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56032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71800" y="31821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434840" y="318211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318211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400800" y="318211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양쪽 모두 숙소 강제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703320"/>
            <a:ext cx="8229600" cy="548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703320"/>
            <a:ext cx="36576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8221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마지막 일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56032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시작: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971800" y="38221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🏨 숙소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34840" y="382219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종료: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846320" y="382219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자유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400800" y="38221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마지막 날 → 첫 정점 = 숙소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위반 시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rule = depot_constraint, risk = CRITICAL → Hard Fail Cap 적용으로 final_risk_score ≤ 59 처리.  </a:t>
            </a: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(코드 참고:  src/validation/vrptw_engine.py:_check_depot_constraints)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09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2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8개 패널티 매트릭스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Hard Fail vs Warning vs Score Penalty 명시 분류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8288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요구사항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0" y="1783080"/>
            <a:ext cx="173736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0" y="17830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 모듈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023360" y="178308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02336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Hard Fail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212080" y="178308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1208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Warning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0" y="1783080"/>
            <a:ext cx="11887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Penalty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17830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075688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720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① 영업시간 준수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86000" y="2075688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286000" y="2075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vrptw_engine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023360" y="2075688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23360" y="2075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212080" y="2075688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212080" y="2075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00800" y="2075688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0" y="20756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89520" y="20756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2368296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236829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② 이동시간 현실성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286000" y="2368296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2286000" y="2368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kakao_matrix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023360" y="2368296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2336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212080" y="2368296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21208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0" y="2368296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400800" y="236829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589520" y="2368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2660904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26609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③ 권장 체류시간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2286000" y="2660904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2286000" y="26609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data/dwell_db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023360" y="2660904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02336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212080" y="2660904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21208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400800" y="2660904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00800" y="266090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7589520" y="26609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2953512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29535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④ 이동 vs 관광 비율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2286000" y="2953512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286000" y="29535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scoring/travel_ratio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023360" y="2953512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02336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212080" y="2953512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21208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6400800" y="2953512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400800" y="295351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7589520" y="2953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457200" y="3246120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45720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⑤ 일별 동선 밀집도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2286000" y="3246120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228600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scoring/cluster_dispersion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4023360" y="3246120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4023360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212080" y="3246120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5212080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6400800" y="3246120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6400800" y="32461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7589520" y="3246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 M1–M4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457200" y="3538728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57200" y="35387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⑥ 테마 정합성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2286000" y="3538728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286000" y="353872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scoring/theme_alignment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2" name="Shape 80"/>
          <p:cNvSpPr/>
          <p:nvPr/>
        </p:nvSpPr>
        <p:spPr>
          <a:xfrm>
            <a:off x="4023360" y="3538728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402336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4" name="Shape 82"/>
          <p:cNvSpPr/>
          <p:nvPr/>
        </p:nvSpPr>
        <p:spPr>
          <a:xfrm>
            <a:off x="5212080" y="3538728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521208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6400800" y="3538728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6400800" y="35387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8" name="Shape 86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589520" y="3538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 LLM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457200" y="3831336"/>
            <a:ext cx="182880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457200" y="3831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⑦ 혼잡도 — 서울 실시간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2286000" y="3831336"/>
            <a:ext cx="173736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286000" y="383133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data/seoul_citydata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4023360" y="3831336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402336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5212080" y="3831336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521208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400800" y="3831336"/>
            <a:ext cx="118872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9" name="Text 97"/>
          <p:cNvSpPr/>
          <p:nvPr/>
        </p:nvSpPr>
        <p:spPr>
          <a:xfrm>
            <a:off x="6400800" y="3831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solidFill>
            <a:srgbClr val="F8FAFC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589520" y="3831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457200" y="4123944"/>
            <a:ext cx="182880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3" name="Text 101"/>
          <p:cNvSpPr/>
          <p:nvPr/>
        </p:nvSpPr>
        <p:spPr>
          <a:xfrm>
            <a:off x="457200" y="4123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⑧ 혼잡도 — 전국 계절성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4" name="Shape 102"/>
          <p:cNvSpPr/>
          <p:nvPr/>
        </p:nvSpPr>
        <p:spPr>
          <a:xfrm>
            <a:off x="2286000" y="4123944"/>
            <a:ext cx="173736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5" name="Text 103"/>
          <p:cNvSpPr/>
          <p:nvPr/>
        </p:nvSpPr>
        <p:spPr>
          <a:xfrm>
            <a:off x="2286000" y="41239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scoring/congestion_engine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6" name="Shape 104"/>
          <p:cNvSpPr/>
          <p:nvPr/>
        </p:nvSpPr>
        <p:spPr>
          <a:xfrm>
            <a:off x="4023360" y="4123944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4023360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5212080" y="4123944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9" name="Text 107"/>
          <p:cNvSpPr/>
          <p:nvPr/>
        </p:nvSpPr>
        <p:spPr>
          <a:xfrm>
            <a:off x="5212080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—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0" name="Shape 108"/>
          <p:cNvSpPr/>
          <p:nvPr/>
        </p:nvSpPr>
        <p:spPr>
          <a:xfrm>
            <a:off x="6400800" y="4123944"/>
            <a:ext cx="118872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1" name="Text 109"/>
          <p:cNvSpPr/>
          <p:nvPr/>
        </p:nvSpPr>
        <p:spPr>
          <a:xfrm>
            <a:off x="6400800" y="41239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solidFill>
            <a:srgbClr val="FFFFFF"/>
          </a:solidFill>
          <a:ln w="508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7589520" y="412394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4" name="Text 112"/>
          <p:cNvSpPr/>
          <p:nvPr/>
        </p:nvSpPr>
        <p:spPr>
          <a:xfrm>
            <a:off x="457200" y="45994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●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Hard Fail (final ≤ 59)     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▲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Score Penalty (감점)     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—   해당 없음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5" name="Text 11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10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3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역방향 이동 · 지오 백트래킹 탐지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DBSCAN(eps = 2 km, haversine) 기반 동선 응집도 평가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37160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일별(per-day) 4 metric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76272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M1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 전환 횟수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M2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최대 두 장소 간 직선거리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M3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 재방문 (행정 단위)
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M4 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DBSCAN 클러스터 역행 (좌표 기반)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1371600"/>
          </a:xfrm>
          <a:prstGeom prst="rect">
            <a:avLst/>
          </a:prstGeom>
          <a:solidFill>
            <a:srgbClr val="E0F2FE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36576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예시 — 시군구가 다른 두 장소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탐지 메커니즘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전체 정점을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haversine 거리 + DBSCAN(eps = 2 km, min_samples = 2)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로 클러스터링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방문 순서 따라 클러스터 라벨 시퀀스 추출 → 동일 라벨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재출현(A → B → A)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카운트 = M4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M3(시군구 재방문)와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중복 제거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:  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net_M4 = max(0, M4 − M3)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같은 사건 이중 카운트 방지
</a:t>
            </a: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행정 단위(M3)는 "강북·강남"이 인접해도 다른 시군구로 셈 → 좌표 기반 M4가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오탐 보정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11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212848"/>
            <a:ext cx="169164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22402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Case ✓ 효율적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7800" y="2834640"/>
            <a:ext cx="1005840" cy="0"/>
          </a:xfrm>
          <a:prstGeom prst="line">
            <a:avLst/>
          </a:prstGeom>
          <a:ln w="2286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184648" y="2761488"/>
            <a:ext cx="146304" cy="14630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90488" y="2761488"/>
            <a:ext cx="146304" cy="146304"/>
          </a:xfrm>
          <a:prstGeom prst="ellipse">
            <a:avLst/>
          </a:prstGeom>
          <a:solidFill>
            <a:srgbClr val="16A34A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66360" y="29077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29077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2212848"/>
            <a:ext cx="1691640" cy="8686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224028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Case ✗ 역행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086600" y="2606040"/>
            <a:ext cx="1005840" cy="228600"/>
          </a:xfrm>
          <a:prstGeom prst="line">
            <a:avLst/>
          </a:prstGeom>
          <a:ln w="2286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7543800" y="2606040"/>
            <a:ext cx="548640" cy="320040"/>
          </a:xfrm>
          <a:prstGeom prst="line">
            <a:avLst/>
          </a:prstGeom>
          <a:ln w="2286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013448" y="2761488"/>
            <a:ext cx="146304" cy="146304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019288" y="2532888"/>
            <a:ext cx="146304" cy="146304"/>
          </a:xfrm>
          <a:prstGeom prst="ellipse">
            <a:avLst/>
          </a:prstGeom>
          <a:solidFill>
            <a:srgbClr val="DC2626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95160" y="2907792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2423160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P₂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333756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DBSCAN(eps=2km, min_samples=2)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3584448"/>
            <a:ext cx="3657600" cy="100584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257800" y="3566159"/>
            <a:ext cx="822960" cy="822960"/>
          </a:xfrm>
          <a:prstGeom prst="ellipse">
            <a:avLst/>
          </a:prstGeom>
          <a:noFill/>
          <a:ln w="1270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114031" y="3776472"/>
            <a:ext cx="768096" cy="768096"/>
          </a:xfrm>
          <a:prstGeom prst="ellipse">
            <a:avLst/>
          </a:prstGeom>
          <a:noFill/>
          <a:ln w="1270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431536" y="3767327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13248" y="3749039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41" name="Oval 40"/>
          <p:cNvSpPr/>
          <p:nvPr/>
        </p:nvSpPr>
        <p:spPr>
          <a:xfrm>
            <a:off x="5687568" y="3858768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0" y="384048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43" name="Oval 42"/>
          <p:cNvSpPr/>
          <p:nvPr/>
        </p:nvSpPr>
        <p:spPr>
          <a:xfrm>
            <a:off x="5550408" y="4069079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532120" y="4050791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Oval 44"/>
          <p:cNvSpPr/>
          <p:nvPr/>
        </p:nvSpPr>
        <p:spPr>
          <a:xfrm>
            <a:off x="7333488" y="4133087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315200" y="411480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Oval 46"/>
          <p:cNvSpPr/>
          <p:nvPr/>
        </p:nvSpPr>
        <p:spPr>
          <a:xfrm>
            <a:off x="7562088" y="3995928"/>
            <a:ext cx="146304" cy="146304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43800" y="3977640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04688" y="3840479"/>
            <a:ext cx="256032" cy="91441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5623560" y="3931920"/>
            <a:ext cx="137160" cy="210311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5623560" y="4142231"/>
            <a:ext cx="1783080" cy="64009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7406640" y="4069080"/>
            <a:ext cx="228600" cy="137160"/>
          </a:xfrm>
          <a:prstGeom prst="line">
            <a:avLst/>
          </a:prstGeom>
          <a:ln w="12700">
            <a:solidFill>
              <a:srgbClr val="16A34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5760720" y="3931920"/>
            <a:ext cx="1874520" cy="137160"/>
          </a:xfrm>
          <a:prstGeom prst="line">
            <a:avLst/>
          </a:prstGeom>
          <a:ln w="12700">
            <a:solidFill>
              <a:srgbClr val="DC262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846320" y="4498848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초록 = 효율 동선  ·  빨강(점선) = 클러스터 역행 → M4 패널티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4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실시간 혼잡도 엔진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서울 도시데이터 + 전국 계절성 폴백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788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Layer 1 · 실시간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63440" y="1783080"/>
            <a:ext cx="36576" cy="2788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Layer 2 · 폴백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697480"/>
            <a:ext cx="3749039" cy="17830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34747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Seoul · 5분 단위 116개 관광지 인구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3108960"/>
            <a:ext cx="2926080" cy="100584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1097280" y="3611880"/>
            <a:ext cx="2834640" cy="45720"/>
          </a:xfrm>
          <a:prstGeom prst="line">
            <a:avLst/>
          </a:prstGeom>
          <a:ln w="31750">
            <a:solidFill>
              <a:srgbClr val="CCE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640119" y="3236065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411766" y="3470266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778789" y="3256450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305651" y="3299804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03862" y="3293286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136920" y="3254677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82029" y="3184251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20971" y="3294117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363109" y="3292913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891006" y="3461093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280766" y="3422328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371834" y="3306719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33068" y="3431438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2794782" y="3459765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2603058" y="3323093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605742" y="3261080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826785" y="3347928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592967" y="3315716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473642" y="3519788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3518132" y="3373061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660996" y="3529949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493710" y="3596725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597848" y="3604158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619077" y="3663044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952994" y="3697178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689243" y="3894646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49027" y="3720497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47854" y="3831748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422831" y="3711508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483250" y="3669237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263861" y="3845857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3258277" y="3614504"/>
            <a:ext cx="73152" cy="73152"/>
          </a:xfrm>
          <a:prstGeom prst="ellipse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573176" y="3767767"/>
            <a:ext cx="73152" cy="73152"/>
          </a:xfrm>
          <a:prstGeom prst="ellipse">
            <a:avLst/>
          </a:prstGeom>
          <a:solidFill>
            <a:srgbClr val="DC262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3498922" y="3597371"/>
            <a:ext cx="73152" cy="73152"/>
          </a:xfrm>
          <a:prstGeom prst="ellipse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3400677" y="3770354"/>
            <a:ext cx="73152" cy="73152"/>
          </a:xfrm>
          <a:prstGeom prst="ellipse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31519" y="4178808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503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여유</a:t>
            </a:r>
          </a:p>
        </p:txBody>
      </p:sp>
      <p:sp>
        <p:nvSpPr>
          <p:cNvPr id="60" name="Oval 59"/>
          <p:cNvSpPr/>
          <p:nvPr/>
        </p:nvSpPr>
        <p:spPr>
          <a:xfrm>
            <a:off x="1645920" y="4178808"/>
            <a:ext cx="91440" cy="91440"/>
          </a:xfrm>
          <a:prstGeom prst="ellipse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7647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보통</a:t>
            </a:r>
          </a:p>
        </p:txBody>
      </p:sp>
      <p:sp>
        <p:nvSpPr>
          <p:cNvPr id="62" name="Oval 61"/>
          <p:cNvSpPr/>
          <p:nvPr/>
        </p:nvSpPr>
        <p:spPr>
          <a:xfrm>
            <a:off x="2560320" y="417880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6791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약간 붐빔</a:t>
            </a:r>
          </a:p>
        </p:txBody>
      </p:sp>
      <p:sp>
        <p:nvSpPr>
          <p:cNvPr id="64" name="Oval 63"/>
          <p:cNvSpPr/>
          <p:nvPr/>
        </p:nvSpPr>
        <p:spPr>
          <a:xfrm>
            <a:off x="3474720" y="4178808"/>
            <a:ext cx="91440" cy="9144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593592" y="4133088"/>
            <a:ext cx="7772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붐빔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46320" y="2788920"/>
            <a:ext cx="3657600" cy="594360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983480" y="283464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Layer 1 · 서울 도시데이터 API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83480" y="307238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5분 갱신  ·  CONGEST_LVL 4단계  ·  서울 116 POI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6675120" y="3456432"/>
            <a:ext cx="0" cy="246888"/>
          </a:xfrm>
          <a:prstGeom prst="line">
            <a:avLst/>
          </a:prstGeom>
          <a:ln w="15240">
            <a:solidFill>
              <a:srgbClr val="6B728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846320" y="3474720"/>
            <a:ext cx="17830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▽ API 미제공 시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46320" y="3749039"/>
            <a:ext cx="36576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83480" y="3794760"/>
            <a:ext cx="338328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Layer 2 · 전국 계절성 폴백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83480" y="4041648"/>
            <a:ext cx="33832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통계월보(202602) 시군구 × 월 가중치  ·  성수기/주말/비수기 보정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03 · 기술적 차별점 — 5 / 5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Evidence-based 설명 엔진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Claude Sonnet 4.6 · 구조화 4-튜플 · JSON 강제 스키마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155448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Output 스키마 — 4-Tuple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fact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관측된 사실 (시간/거리/매칭)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rule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위반된 규칙 ID (time_window_inf 등)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risk      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CRITICAL · WARNING · INFO
</a:t>
            </a: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suggestion   </a:t>
            </a: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사용자 행동 가능한 수정 제안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114800" cy="12801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429000"/>
            <a:ext cx="36576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작동 메커니즘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1.  Validation 결과 + POI 메타 → 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system prompt(cached)
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2.  </a:t>
            </a: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tool_use 강제 호출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JSON 스키마 위반 자동 거절
3.  </a:t>
            </a: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Repair 2-pass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 — 1차: 진단, 2차: 수정안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실제 출력 예시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46320" y="219456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{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"fact":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"감천문화마을 도착 21:10이나 운영 종료 18:00. 입장 불가.",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"rule":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"time_window_infeasibility",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"risk": </a:t>
            </a:r>
            <a:r>
              <a:rPr lang="en-US" sz="10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"CRITICAL",
</a:t>
            </a: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  "suggestion": </a:t>
            </a: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"광안리 → 감천 순서를 뒤집고 감천 14:00 도착으로 조정."
</a:t>
            </a: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}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LLM 환각(hallucination) 방지 — 모든 fact는 검증 엔진의 수치만 인용, 자유 텍스트 생성 금지.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640080" y="3511296"/>
            <a:ext cx="4206240" cy="694943"/>
          </a:xfrm>
          <a:prstGeom prst="rect">
            <a:avLst/>
          </a:prstGeom>
          <a:solidFill>
            <a:srgbClr val="FDE7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40080" y="3163824"/>
            <a:ext cx="4206240" cy="347471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468879"/>
            <a:ext cx="4206240" cy="694944"/>
          </a:xfrm>
          <a:prstGeom prst="rect">
            <a:avLst/>
          </a:prstGeom>
          <a:solidFill>
            <a:srgbClr val="E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04 · RISK SCORE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Final Risk Score 산정 공식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100 시작 → 위반/패널티 차감 → Hard Fail Cap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57200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산정 절차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0640" y="1783080"/>
            <a:ext cx="3566160" cy="13258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120640" y="1783080"/>
            <a:ext cx="36576" cy="13258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3035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등급 컷오프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0" y="21945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PASS  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≥ 60   추천 가능
</a:t>
            </a:r>
            <a:r>
              <a:rPr lang="en-US" sz="11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REVIEW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40–59  수정 필요
</a:t>
            </a:r>
            <a:r>
              <a:rPr lang="en-US" sz="11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FAIL   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&lt; 40   재구성 권고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20640" y="3200400"/>
            <a:ext cx="3566160" cy="14173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20640" y="3200400"/>
            <a:ext cx="36576" cy="1417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035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Hard Fail Cap 의 의미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03520" y="36118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"실행 불가능한 일정"에 60점 이상이 부여될 수 없도록 시스템적으로 봉쇄. 운영시간 충돌·Depot 위반 등 결정적 결함은 자동으로 PASS 임계 미만으로 끌어내림.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14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4206240"/>
            <a:ext cx="4206240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206240" y="2724912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3246120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3767328"/>
            <a:ext cx="6400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FAIL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" y="2468879"/>
            <a:ext cx="390579" cy="1737360"/>
          </a:xfrm>
          <a:prstGeom prst="rect">
            <a:avLst/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5" y="2304287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0F1419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Start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46127" y="2468879"/>
            <a:ext cx="390579" cy="17373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300407" y="2304287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−10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36706" y="2642615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254687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VRPTW
WARN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47018" y="2642615"/>
            <a:ext cx="390579" cy="277977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901298" y="2478023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−16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37598" y="2920593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855578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Travel
Ratio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47910" y="2920593"/>
            <a:ext cx="390579" cy="208483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502190" y="2756001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−12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938489" y="3129076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456470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Cluster
M3+M4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48801" y="3129076"/>
            <a:ext cx="390579" cy="1389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103081" y="2964484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−8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3539381" y="3268065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057361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Theme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693" y="3268065"/>
            <a:ext cx="390579" cy="121615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03973" y="3103473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−7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140272" y="3389680"/>
            <a:ext cx="210312" cy="0"/>
          </a:xfrm>
          <a:prstGeom prst="line">
            <a:avLst/>
          </a:prstGeom>
          <a:ln w="5080">
            <a:solidFill>
              <a:srgbClr val="9CA3A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658253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Congest.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50584" y="3389680"/>
            <a:ext cx="390579" cy="816559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304864" y="3225088"/>
            <a:ext cx="482019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9144" y="4251959"/>
            <a:ext cx="573459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Final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572000"/>
            <a:ext cx="420624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예시 — 100점에서 각 패널티 차감 → Final 47 (REVIEW)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05 · 데이터 자산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검증의 토대 — 데이터 자산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공공 API 3종 + 자체 구축 자산 4종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50,234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TourAPI 수집 POI 수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0320" y="1783080"/>
            <a:ext cx="36576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74320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8 종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ContentTypeId 전 카테고리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66344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1783080"/>
            <a:ext cx="36576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322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검증 완료 장소 (큐레이션 70 일정)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766560" y="1783080"/>
            <a:ext cx="1920240" cy="11887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36576" cy="1188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949440" y="1920240"/>
            <a:ext cx="16916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70+</a:t>
            </a:r>
            <a:endParaRPr lang="en-US" sz="2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9440" y="2441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큐레이션 일정 — 17 시도 모두 포함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411480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3108960"/>
            <a:ext cx="4023360" cy="150876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15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3246120"/>
            <a:ext cx="3749039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TourAPI 50,234 POI · ContentTypeId 8 카테고리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20440"/>
            <a:ext cx="1343367" cy="320040"/>
          </a:xfrm>
          <a:prstGeom prst="rect">
            <a:avLst/>
          </a:prstGeom>
          <a:solidFill>
            <a:srgbClr val="10579D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983447" y="3520440"/>
            <a:ext cx="597052" cy="320040"/>
          </a:xfrm>
          <a:prstGeom prst="rect">
            <a:avLst/>
          </a:prstGeom>
          <a:solidFill>
            <a:srgbClr val="4284C1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80499" y="3520440"/>
            <a:ext cx="410473" cy="320040"/>
          </a:xfrm>
          <a:prstGeom prst="rect">
            <a:avLst/>
          </a:prstGeom>
          <a:solidFill>
            <a:srgbClr val="6BA6D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990973" y="3520440"/>
            <a:ext cx="89557" cy="320040"/>
          </a:xfrm>
          <a:prstGeom prst="rect">
            <a:avLst/>
          </a:prstGeom>
          <a:solidFill>
            <a:srgbClr val="94C4E8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080530" y="3520440"/>
            <a:ext cx="313452" cy="320040"/>
          </a:xfrm>
          <a:prstGeom prst="rect">
            <a:avLst/>
          </a:prstGeom>
          <a:solidFill>
            <a:srgbClr val="D97706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393983" y="3520440"/>
            <a:ext cx="582125" cy="320040"/>
          </a:xfrm>
          <a:prstGeom prst="rect">
            <a:avLst/>
          </a:prstGeom>
          <a:solidFill>
            <a:srgbClr val="E8A0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976109" y="3520440"/>
            <a:ext cx="201505" cy="320040"/>
          </a:xfrm>
          <a:prstGeom prst="rect">
            <a:avLst/>
          </a:prstGeom>
          <a:solidFill>
            <a:srgbClr val="16A34A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77614" y="3520440"/>
            <a:ext cx="211505" cy="320040"/>
          </a:xfrm>
          <a:prstGeom prst="rect">
            <a:avLst/>
          </a:prstGeom>
          <a:solidFill>
            <a:srgbClr val="6FC483"/>
          </a:solidFill>
          <a:ln w="508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640080" y="3950208"/>
            <a:ext cx="91440" cy="91440"/>
          </a:xfrm>
          <a:prstGeom prst="ellipse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8952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관광지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08760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35%</a:t>
            </a:r>
          </a:p>
        </p:txBody>
      </p:sp>
      <p:sp>
        <p:nvSpPr>
          <p:cNvPr id="43" name="Oval 42"/>
          <p:cNvSpPr/>
          <p:nvPr/>
        </p:nvSpPr>
        <p:spPr>
          <a:xfrm>
            <a:off x="2514600" y="3950208"/>
            <a:ext cx="91440" cy="91440"/>
          </a:xfrm>
          <a:prstGeom prst="ellipse">
            <a:avLst/>
          </a:prstGeom>
          <a:solidFill>
            <a:srgbClr val="428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33472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문화시설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3931920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" y="4114800"/>
            <a:ext cx="91440" cy="91440"/>
          </a:xfrm>
          <a:prstGeom prst="ellipse">
            <a:avLst/>
          </a:prstGeom>
          <a:solidFill>
            <a:srgbClr val="6BA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2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축제·공연·행사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08760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10%</a:t>
            </a:r>
          </a:p>
        </p:txBody>
      </p:sp>
      <p:sp>
        <p:nvSpPr>
          <p:cNvPr id="49" name="Oval 48"/>
          <p:cNvSpPr/>
          <p:nvPr/>
        </p:nvSpPr>
        <p:spPr>
          <a:xfrm>
            <a:off x="2514600" y="4114800"/>
            <a:ext cx="91440" cy="91440"/>
          </a:xfrm>
          <a:prstGeom prst="ellipse">
            <a:avLst/>
          </a:prstGeom>
          <a:solidFill>
            <a:srgbClr val="94C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33472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여행코스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83280" y="4096511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2%</a:t>
            </a:r>
          </a:p>
        </p:txBody>
      </p:sp>
      <p:sp>
        <p:nvSpPr>
          <p:cNvPr id="52" name="Oval 51"/>
          <p:cNvSpPr/>
          <p:nvPr/>
        </p:nvSpPr>
        <p:spPr>
          <a:xfrm>
            <a:off x="640080" y="4279392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8952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레포츠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508760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8%</a:t>
            </a:r>
          </a:p>
        </p:txBody>
      </p:sp>
      <p:sp>
        <p:nvSpPr>
          <p:cNvPr id="55" name="Oval 54"/>
          <p:cNvSpPr/>
          <p:nvPr/>
        </p:nvSpPr>
        <p:spPr>
          <a:xfrm>
            <a:off x="2514600" y="4279392"/>
            <a:ext cx="91440" cy="91440"/>
          </a:xfrm>
          <a:prstGeom prst="ellipse">
            <a:avLst/>
          </a:prstGeom>
          <a:solidFill>
            <a:srgbClr val="E8A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633472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숙박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383280" y="4261104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15%</a:t>
            </a:r>
          </a:p>
        </p:txBody>
      </p:sp>
      <p:sp>
        <p:nvSpPr>
          <p:cNvPr id="58" name="Oval 57"/>
          <p:cNvSpPr/>
          <p:nvPr/>
        </p:nvSpPr>
        <p:spPr>
          <a:xfrm>
            <a:off x="640080" y="4443984"/>
            <a:ext cx="91440" cy="9144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58952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쇼핑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08760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5%</a:t>
            </a:r>
          </a:p>
        </p:txBody>
      </p:sp>
      <p:sp>
        <p:nvSpPr>
          <p:cNvPr id="61" name="Oval 60"/>
          <p:cNvSpPr/>
          <p:nvPr/>
        </p:nvSpPr>
        <p:spPr>
          <a:xfrm>
            <a:off x="2514600" y="4443984"/>
            <a:ext cx="91440" cy="91440"/>
          </a:xfrm>
          <a:prstGeom prst="ellipse">
            <a:avLst/>
          </a:prstGeom>
          <a:solidFill>
            <a:srgbClr val="6FC4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2633472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음식점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83280" y="4425696"/>
            <a:ext cx="86868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6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32461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큐레이션 70 일정 · 17개 시도 모두 포함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63440" y="3520440"/>
            <a:ext cx="4023360" cy="1097280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6437376" y="38313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17920" y="39319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서울</a:t>
            </a:r>
          </a:p>
        </p:txBody>
      </p:sp>
      <p:sp>
        <p:nvSpPr>
          <p:cNvPr id="68" name="Oval 67"/>
          <p:cNvSpPr/>
          <p:nvPr/>
        </p:nvSpPr>
        <p:spPr>
          <a:xfrm>
            <a:off x="6108192" y="3849624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888736" y="3950208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인천</a:t>
            </a:r>
          </a:p>
        </p:txBody>
      </p:sp>
      <p:sp>
        <p:nvSpPr>
          <p:cNvPr id="70" name="Oval 69"/>
          <p:cNvSpPr/>
          <p:nvPr/>
        </p:nvSpPr>
        <p:spPr>
          <a:xfrm>
            <a:off x="6620256" y="37856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00800" y="38862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경기</a:t>
            </a:r>
          </a:p>
        </p:txBody>
      </p:sp>
      <p:sp>
        <p:nvSpPr>
          <p:cNvPr id="72" name="Oval 71"/>
          <p:cNvSpPr/>
          <p:nvPr/>
        </p:nvSpPr>
        <p:spPr>
          <a:xfrm>
            <a:off x="7168896" y="3721608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949440" y="3822191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강원</a:t>
            </a:r>
          </a:p>
        </p:txBody>
      </p:sp>
      <p:sp>
        <p:nvSpPr>
          <p:cNvPr id="74" name="Oval 73"/>
          <p:cNvSpPr/>
          <p:nvPr/>
        </p:nvSpPr>
        <p:spPr>
          <a:xfrm>
            <a:off x="6254496" y="40142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35040" y="41148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충남</a:t>
            </a:r>
          </a:p>
        </p:txBody>
      </p:sp>
      <p:sp>
        <p:nvSpPr>
          <p:cNvPr id="76" name="Oval 75"/>
          <p:cNvSpPr/>
          <p:nvPr/>
        </p:nvSpPr>
        <p:spPr>
          <a:xfrm>
            <a:off x="6803136" y="39684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83680" y="40690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충북</a:t>
            </a:r>
          </a:p>
        </p:txBody>
      </p:sp>
      <p:sp>
        <p:nvSpPr>
          <p:cNvPr id="78" name="Oval 77"/>
          <p:cNvSpPr/>
          <p:nvPr/>
        </p:nvSpPr>
        <p:spPr>
          <a:xfrm>
            <a:off x="6620256" y="40599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00800" y="41605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대전</a:t>
            </a:r>
          </a:p>
        </p:txBody>
      </p:sp>
      <p:sp>
        <p:nvSpPr>
          <p:cNvPr id="80" name="Oval 79"/>
          <p:cNvSpPr/>
          <p:nvPr/>
        </p:nvSpPr>
        <p:spPr>
          <a:xfrm>
            <a:off x="6547104" y="40142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327648" y="41148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세종</a:t>
            </a:r>
          </a:p>
        </p:txBody>
      </p:sp>
      <p:sp>
        <p:nvSpPr>
          <p:cNvPr id="82" name="Oval 81"/>
          <p:cNvSpPr/>
          <p:nvPr/>
        </p:nvSpPr>
        <p:spPr>
          <a:xfrm>
            <a:off x="6327648" y="415137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6108192" y="425196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전북</a:t>
            </a:r>
          </a:p>
        </p:txBody>
      </p:sp>
      <p:sp>
        <p:nvSpPr>
          <p:cNvPr id="84" name="Oval 83"/>
          <p:cNvSpPr/>
          <p:nvPr/>
        </p:nvSpPr>
        <p:spPr>
          <a:xfrm>
            <a:off x="6181344" y="42885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961888" y="43891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전남</a:t>
            </a:r>
          </a:p>
        </p:txBody>
      </p:sp>
      <p:sp>
        <p:nvSpPr>
          <p:cNvPr id="86" name="Oval 85"/>
          <p:cNvSpPr/>
          <p:nvPr/>
        </p:nvSpPr>
        <p:spPr>
          <a:xfrm>
            <a:off x="6254496" y="424281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434340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광주</a:t>
            </a:r>
          </a:p>
        </p:txBody>
      </p:sp>
      <p:sp>
        <p:nvSpPr>
          <p:cNvPr id="88" name="Oval 87"/>
          <p:cNvSpPr/>
          <p:nvPr/>
        </p:nvSpPr>
        <p:spPr>
          <a:xfrm>
            <a:off x="7168896" y="39684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949440" y="40690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경북</a:t>
            </a:r>
          </a:p>
        </p:txBody>
      </p:sp>
      <p:sp>
        <p:nvSpPr>
          <p:cNvPr id="90" name="Oval 89"/>
          <p:cNvSpPr/>
          <p:nvPr/>
        </p:nvSpPr>
        <p:spPr>
          <a:xfrm>
            <a:off x="6986016" y="41970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6766559" y="42976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경남</a:t>
            </a:r>
          </a:p>
        </p:txBody>
      </p:sp>
      <p:sp>
        <p:nvSpPr>
          <p:cNvPr id="92" name="Oval 91"/>
          <p:cNvSpPr/>
          <p:nvPr/>
        </p:nvSpPr>
        <p:spPr>
          <a:xfrm>
            <a:off x="7059168" y="405993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839712" y="416052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대구</a:t>
            </a:r>
          </a:p>
        </p:txBody>
      </p:sp>
      <p:sp>
        <p:nvSpPr>
          <p:cNvPr id="94" name="Oval 93"/>
          <p:cNvSpPr/>
          <p:nvPr/>
        </p:nvSpPr>
        <p:spPr>
          <a:xfrm>
            <a:off x="7424927" y="4270248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205472" y="4370832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부산</a:t>
            </a:r>
          </a:p>
        </p:txBody>
      </p:sp>
      <p:sp>
        <p:nvSpPr>
          <p:cNvPr id="96" name="Oval 95"/>
          <p:cNvSpPr/>
          <p:nvPr/>
        </p:nvSpPr>
        <p:spPr>
          <a:xfrm>
            <a:off x="7644383" y="415137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424927" y="425196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울산</a:t>
            </a:r>
          </a:p>
        </p:txBody>
      </p:sp>
      <p:sp>
        <p:nvSpPr>
          <p:cNvPr id="98" name="Oval 97"/>
          <p:cNvSpPr/>
          <p:nvPr/>
        </p:nvSpPr>
        <p:spPr>
          <a:xfrm>
            <a:off x="5888736" y="4425696"/>
            <a:ext cx="109728" cy="109728"/>
          </a:xfrm>
          <a:prstGeom prst="ellipse">
            <a:avLst/>
          </a:prstGeom>
          <a:solidFill>
            <a:srgbClr val="10579D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5669280" y="4526280"/>
            <a:ext cx="54864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제주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05 · 데이터 자산 (계속)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정성·정량 검증 외부 레퍼런스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한국관광공사 관광데이터랩 7종 + 통계월보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01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2025년 국민여행조사 4분기 (잠정)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6012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관광데이터랩 · 여행 횟수 · 일수 · 동선 불편 응답률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783080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783080"/>
            <a:ext cx="36576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0" y="1901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02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20640" y="18288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2025년 국민여행조사 3분기 (잠정)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0640" y="20391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관광데이터랩 · 성수기 패턴 · 지역 분포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436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03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012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빅데이터와 함께하는 똑똑한 컨설팅 종합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6012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관광 빅데이터 활용 사례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2350008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2350008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2468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04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20640" y="2395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관광자원개발 및 관광투자 동향조사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2064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권역별 자원 분포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2916936"/>
            <a:ext cx="36576" cy="5029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436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05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96012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2025 우수웰니스관광지 만족도 및 실태조사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6012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 · 테마 정합성 검증 사례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17720" y="2916936"/>
            <a:ext cx="406908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617720" y="2916936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5488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06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20640" y="2962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Data&amp;Tourism 43호 — 방한 주요국 한국 여행 분석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0640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관광컨설팅팀 · 외국인 동선 인사이트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57200" y="3483864"/>
            <a:ext cx="8229600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57200" y="3483864"/>
            <a:ext cx="36576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36027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07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097280" y="354787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관광 통계월보 202602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97280" y="37398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관광공사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0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시군구별 월 가중치 (혼잡 폴백)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모든 자료는 한국관광공사 관광데이터랩(datalab.visitkorea.or.kr)에서 공식 제공 · 출처 표기 필수.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16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1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End-to-End 파이프라인 실행 결과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70개 큐레이션 일정 → 322 장소 → 검증 완료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입력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recommendations_input.xlsx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•  17개 시도 모두 포함
•  </a:t>
            </a: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당일치기 / 1박2일 / 2박3일 </a:t>
            </a: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혼합
•  카테고리 = 관광지 · 식당 · 카페 · 시장
•  AI001 ~ AI070  연속 plan_id
•  data row 총 322개 (장소 단위)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63440" y="1783080"/>
            <a:ext cx="4023360" cy="278892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처리 단계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846320" y="221284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221742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85232" y="21945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POI 매칭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85232" y="2377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TourAPI 정확/부분 매칭 + 시군구 보정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46320" y="2596896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46320" y="2601468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285232" y="257860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체류시간 추정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285232" y="27614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5단계 폴백 → 체류출처 라벨링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846320" y="2980944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46320" y="2985516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285232" y="296265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Kakao 행렬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285232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이동시간 양방향 캐시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3364992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369564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285232" y="3346704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VRPTW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285232" y="352958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Hard/Warning 후보 생성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46320" y="37490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846320" y="37536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285232" y="37307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Score 4종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285232" y="39136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travel · cluster · theme · congestion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846320" y="4133088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46320" y="4137660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285232" y="411480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Excel 출력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285232" y="4297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27 컬럼 + risk_score 포함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17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2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POI 매칭 정확도 — 96.0%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공공 API 단일 소스로 90% 매칭 목표 초과 달성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6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96.0%</a:t>
            </a:r>
            <a:endParaRPr lang="en-US" sz="9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309 / 322 장소 매칭 성공</a:t>
            </a:r>
            <a:endParaRPr lang="en-US" sz="14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실패 13개 = 카페·로컬 식당 (TourAPI 미등록 자영업)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212080" y="1783080"/>
            <a:ext cx="3474720" cy="278892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39496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매칭 단계 분포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40680" y="2240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exact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40680" y="2468880"/>
            <a:ext cx="2880360" cy="1645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40680" y="2651760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77.0%   ·   248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40680" y="280720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partial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440680" y="3035808"/>
            <a:ext cx="475072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40680" y="321868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12.7%   ·   41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40680" y="33741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partial + sigungu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40680" y="3602736"/>
            <a:ext cx="231925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40680" y="3785616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6.2%   ·   20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440680" y="39410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not_found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40680" y="4169664"/>
            <a:ext cx="149629" cy="16459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440680" y="435254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4.0%   ·   13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실패 케이스도 match_failed.csv로 별도 출력 → 이름 보정 후 재실행 가능 (운영 가능한 매칭률 보정 루프 내장).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18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3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70 일정 검증 결과 — 등급 분포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 / REVIEW / FAIL — risk_score 0–100 기준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0116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PASS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≥ 60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47857"/>
                </a:solidFill>
                <a:latin typeface="Pretendard"/>
                <a:ea typeface="Pretendard"/>
                <a:cs typeface="Pretendard"/>
              </a:rPr>
              <a:t>47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67.1%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추천 가능 — Hard Fail 없음, 패널티 합 −40 이내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9184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91840" y="1783080"/>
            <a:ext cx="36576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REVIEW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472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40 – 59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47472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18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25.7%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47472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수정 필요 — travel_ratio 또는 cluster M3+M4 발생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126480" y="1783080"/>
            <a:ext cx="2697480" cy="201168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26480" y="1783080"/>
            <a:ext cx="36576" cy="201168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93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FAIL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212140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&lt; 40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09360" y="237744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B91C1C"/>
                </a:solidFill>
                <a:latin typeface="Pretendard"/>
                <a:ea typeface="Pretendard"/>
                <a:cs typeface="Pretendard"/>
              </a:rPr>
              <a:t>5</a:t>
            </a:r>
            <a:endParaRPr lang="en-US" sz="5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0936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7.2%   /   70 일정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309360" y="345643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재구성 권고 — 운영시간 충돌 또는 Depot 위반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패널티 발생 횟수 (70 일정 기준 · 다중 발생 허용)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19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665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67665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09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Travel Ratio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21회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98729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987296" y="4325112"/>
            <a:ext cx="754742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94157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Cluster M3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4157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13회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793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3297936" y="4325112"/>
            <a:ext cx="522514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5221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Cluster M4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5221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9회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60857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4608576" y="4325112"/>
            <a:ext cx="406400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56285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Theme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6285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7회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1921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5919216" y="4325112"/>
            <a:ext cx="638628" cy="182880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87349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Congestion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7349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11회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29856" y="4325112"/>
            <a:ext cx="1219200" cy="182880"/>
          </a:xfrm>
          <a:prstGeom prst="roundRect">
            <a:avLst>
              <a:gd name="adj" fmla="val 8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7229856" y="4325112"/>
            <a:ext cx="174171" cy="182880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1841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Depot 위반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184136" y="4526279"/>
            <a:ext cx="1310640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0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3회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06 · 검증 결과 — 4 / 4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Sample Output — 실제 검증 1행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AI004 · 부산 1박2일 — risk_score = 47 (REVIEW)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1" name="Text 16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2" name="Text 17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20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02920" y="1783080"/>
            <a:ext cx="8183879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Gantt — 시간 막대 + 패널티 발생 지점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502920" y="2103120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Day 1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1143000" y="2221992"/>
            <a:ext cx="7498080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/>
          <p:cNvSpPr/>
          <p:nvPr/>
        </p:nvSpPr>
        <p:spPr>
          <a:xfrm>
            <a:off x="1143000" y="2112264"/>
            <a:ext cx="2548922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1143000" y="2121408"/>
            <a:ext cx="2548922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해운대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691922" y="2167128"/>
            <a:ext cx="382338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691922" y="2331720"/>
            <a:ext cx="38233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+18m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074260" y="2112264"/>
            <a:ext cx="955845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074260" y="2121408"/>
            <a:ext cx="95584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누리마루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030106" y="2167128"/>
            <a:ext cx="169928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5030106" y="2331720"/>
            <a:ext cx="169928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+8m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200034" y="2112264"/>
            <a:ext cx="1274461" cy="219456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200034" y="2121408"/>
            <a:ext cx="127446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마린시티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474495" y="2167128"/>
            <a:ext cx="254892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474495" y="2331720"/>
            <a:ext cx="254892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+12m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6729388" y="2112264"/>
            <a:ext cx="1911691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729388" y="2121408"/>
            <a:ext cx="1911691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광안리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02920" y="248716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5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Day 2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1143000" y="2606040"/>
            <a:ext cx="7498080" cy="0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Rounded Rectangle 192"/>
          <p:cNvSpPr/>
          <p:nvPr/>
        </p:nvSpPr>
        <p:spPr>
          <a:xfrm>
            <a:off x="1143000" y="2496312"/>
            <a:ext cx="2276744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1143000" y="2505456"/>
            <a:ext cx="2276744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감천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419744" y="2551176"/>
            <a:ext cx="667845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3419744" y="2715768"/>
            <a:ext cx="667845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+22m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4087590" y="2496312"/>
            <a:ext cx="1821395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4087590" y="2505456"/>
            <a:ext cx="1821395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자갈치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5908986" y="2551176"/>
            <a:ext cx="303565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5908986" y="2715768"/>
            <a:ext cx="303565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+10m</a:t>
            </a:r>
          </a:p>
        </p:txBody>
      </p:sp>
      <p:sp>
        <p:nvSpPr>
          <p:cNvPr id="201" name="Rounded Rectangle 200"/>
          <p:cNvSpPr/>
          <p:nvPr/>
        </p:nvSpPr>
        <p:spPr>
          <a:xfrm>
            <a:off x="6212552" y="2496312"/>
            <a:ext cx="1366046" cy="219456"/>
          </a:xfrm>
          <a:prstGeom prst="roundRect">
            <a:avLst>
              <a:gd name="adj" fmla="val 8000"/>
            </a:avLst>
          </a:prstGeom>
          <a:solidFill>
            <a:srgbClr val="10579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6212552" y="2505456"/>
            <a:ext cx="1366046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국제시장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578599" y="2551176"/>
            <a:ext cx="151782" cy="109728"/>
          </a:xfrm>
          <a:prstGeom prst="rect">
            <a:avLst/>
          </a:prstGeom>
          <a:solidFill>
            <a:srgbClr val="D1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7578599" y="2715768"/>
            <a:ext cx="151782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0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+5m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7730382" y="2496312"/>
            <a:ext cx="910697" cy="219456"/>
          </a:xfrm>
          <a:prstGeom prst="roundRect">
            <a:avLst>
              <a:gd name="adj" fmla="val 8000"/>
            </a:avLst>
          </a:prstGeom>
          <a:solidFill>
            <a:srgbClr val="D9770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7730382" y="2505456"/>
            <a:ext cx="910697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BIFF광장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143000" y="2834639"/>
            <a:ext cx="7498079" cy="146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■ exact 매칭   ■ partial   ■ default     |     +xxm = 이동 시간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457200" y="3017520"/>
            <a:ext cx="365760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부산 1박2일 — 실제 경로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457200" y="3264408"/>
            <a:ext cx="3657600" cy="1261872"/>
          </a:xfrm>
          <a:prstGeom prst="rect">
            <a:avLst/>
          </a:prstGeom>
          <a:solidFill>
            <a:srgbClr val="F4F5F7"/>
          </a:solidFill>
          <a:ln w="63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0" name="Connector 209"/>
          <p:cNvCxnSpPr/>
          <p:nvPr/>
        </p:nvCxnSpPr>
        <p:spPr>
          <a:xfrm>
            <a:off x="3246120" y="3611879"/>
            <a:ext cx="137160" cy="182880"/>
          </a:xfrm>
          <a:prstGeom prst="line">
            <a:avLst/>
          </a:prstGeom>
          <a:ln w="19050">
            <a:solidFill>
              <a:srgbClr val="10579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 flipH="1">
            <a:off x="3154680" y="3794759"/>
            <a:ext cx="228600" cy="182880"/>
          </a:xfrm>
          <a:prstGeom prst="line">
            <a:avLst/>
          </a:prstGeom>
          <a:ln w="19050">
            <a:solidFill>
              <a:srgbClr val="10579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 flipH="1">
            <a:off x="2880360" y="3977639"/>
            <a:ext cx="274320" cy="137161"/>
          </a:xfrm>
          <a:prstGeom prst="line">
            <a:avLst/>
          </a:prstGeom>
          <a:ln w="19050">
            <a:solidFill>
              <a:srgbClr val="10579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 flipV="1">
            <a:off x="1325880" y="4023360"/>
            <a:ext cx="274320" cy="182880"/>
          </a:xfrm>
          <a:prstGeom prst="line">
            <a:avLst/>
          </a:prstGeom>
          <a:ln w="19050">
            <a:solidFill>
              <a:srgbClr val="0E769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 flipV="1">
            <a:off x="1600200" y="3886200"/>
            <a:ext cx="137160" cy="137160"/>
          </a:xfrm>
          <a:prstGeom prst="line">
            <a:avLst/>
          </a:prstGeom>
          <a:ln w="19050">
            <a:solidFill>
              <a:srgbClr val="0E769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 flipV="1">
            <a:off x="1737360" y="3794759"/>
            <a:ext cx="137159" cy="91441"/>
          </a:xfrm>
          <a:prstGeom prst="line">
            <a:avLst/>
          </a:prstGeom>
          <a:ln w="19050">
            <a:solidFill>
              <a:srgbClr val="0E769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3182112" y="3547872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2880360" y="3675887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해운대</a:t>
            </a:r>
          </a:p>
        </p:txBody>
      </p:sp>
      <p:sp>
        <p:nvSpPr>
          <p:cNvPr id="218" name="Oval 217"/>
          <p:cNvSpPr/>
          <p:nvPr/>
        </p:nvSpPr>
        <p:spPr>
          <a:xfrm>
            <a:off x="3319272" y="3730751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3017520" y="385876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누리마루</a:t>
            </a:r>
          </a:p>
        </p:txBody>
      </p:sp>
      <p:sp>
        <p:nvSpPr>
          <p:cNvPr id="220" name="Oval 219"/>
          <p:cNvSpPr/>
          <p:nvPr/>
        </p:nvSpPr>
        <p:spPr>
          <a:xfrm>
            <a:off x="3090672" y="3913631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2788920" y="404164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마린시티</a:t>
            </a:r>
          </a:p>
        </p:txBody>
      </p:sp>
      <p:sp>
        <p:nvSpPr>
          <p:cNvPr id="222" name="Oval 221"/>
          <p:cNvSpPr/>
          <p:nvPr/>
        </p:nvSpPr>
        <p:spPr>
          <a:xfrm>
            <a:off x="2816352" y="4050791"/>
            <a:ext cx="128016" cy="128016"/>
          </a:xfrm>
          <a:prstGeom prst="ellipse">
            <a:avLst/>
          </a:prstGeom>
          <a:solidFill>
            <a:srgbClr val="10579D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2514600" y="417880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광안리</a:t>
            </a:r>
          </a:p>
        </p:txBody>
      </p:sp>
      <p:sp>
        <p:nvSpPr>
          <p:cNvPr id="224" name="Oval 223"/>
          <p:cNvSpPr/>
          <p:nvPr/>
        </p:nvSpPr>
        <p:spPr>
          <a:xfrm>
            <a:off x="1261872" y="4142231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60119" y="427024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감천</a:t>
            </a:r>
          </a:p>
        </p:txBody>
      </p:sp>
      <p:sp>
        <p:nvSpPr>
          <p:cNvPr id="226" name="Oval 225"/>
          <p:cNvSpPr/>
          <p:nvPr/>
        </p:nvSpPr>
        <p:spPr>
          <a:xfrm>
            <a:off x="1536192" y="3959352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234440" y="408736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자갈치</a:t>
            </a:r>
          </a:p>
        </p:txBody>
      </p:sp>
      <p:sp>
        <p:nvSpPr>
          <p:cNvPr id="228" name="Oval 227"/>
          <p:cNvSpPr/>
          <p:nvPr/>
        </p:nvSpPr>
        <p:spPr>
          <a:xfrm>
            <a:off x="1673351" y="3822191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371600" y="395020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국제시장</a:t>
            </a:r>
          </a:p>
        </p:txBody>
      </p:sp>
      <p:sp>
        <p:nvSpPr>
          <p:cNvPr id="230" name="Oval 229"/>
          <p:cNvSpPr/>
          <p:nvPr/>
        </p:nvSpPr>
        <p:spPr>
          <a:xfrm>
            <a:off x="1810511" y="3730751"/>
            <a:ext cx="128016" cy="128016"/>
          </a:xfrm>
          <a:prstGeom prst="ellipse">
            <a:avLst/>
          </a:prstGeom>
          <a:solidFill>
            <a:srgbClr val="0E7690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1508760" y="3858768"/>
            <a:ext cx="73152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5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BIFF광장</a:t>
            </a:r>
          </a:p>
        </p:txBody>
      </p:sp>
      <p:sp>
        <p:nvSpPr>
          <p:cNvPr id="232" name="Oval 231"/>
          <p:cNvSpPr/>
          <p:nvPr/>
        </p:nvSpPr>
        <p:spPr>
          <a:xfrm>
            <a:off x="594359" y="4389120"/>
            <a:ext cx="91440" cy="91440"/>
          </a:xfrm>
          <a:prstGeom prst="ellipse">
            <a:avLst/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713232" y="4389120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Day 1</a:t>
            </a:r>
          </a:p>
        </p:txBody>
      </p:sp>
      <p:sp>
        <p:nvSpPr>
          <p:cNvPr id="234" name="Oval 233"/>
          <p:cNvSpPr/>
          <p:nvPr/>
        </p:nvSpPr>
        <p:spPr>
          <a:xfrm>
            <a:off x="1417320" y="4389120"/>
            <a:ext cx="91440" cy="91440"/>
          </a:xfrm>
          <a:prstGeom prst="ellipse">
            <a:avLst/>
          </a:prstGeom>
          <a:solidFill>
            <a:srgbClr val="0E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1536192" y="4389120"/>
            <a:ext cx="640080" cy="1280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Day 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297680" y="3017520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Risk Score 47  (REVIEW)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4297680" y="3246120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= 100 − 패널티 합계 53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4297680" y="3520439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VRPTW WARN ×5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5852160" y="3520439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−5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400800" y="3520439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이동시간 마진 부족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297680" y="3712463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Travel Ratio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852160" y="3712463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−16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400800" y="3712463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관광시간 &lt; 이동시간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297680" y="3904487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Cluster M3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852160" y="3904487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−12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6400800" y="3904487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시군구 재방문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297680" y="4096511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Theme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852160" y="4096511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0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400800" y="4096511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PASS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4297680" y="4288536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Congestion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5852160" y="4288536"/>
            <a:ext cx="4572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750" b="1" i="0">
                <a:solidFill>
                  <a:srgbClr val="DC2626"/>
                </a:solidFill>
                <a:latin typeface="Pretendard"/>
                <a:ea typeface="Pretendard"/>
                <a:cs typeface="Pretendard"/>
              </a:rPr>
              <a:t>−20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6400800" y="4288536"/>
            <a:ext cx="22860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00" b="0" i="1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광안리 야간 붐빔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07 · 활용 시나리오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활용 시나리오 — 누가, 어떻게 쓰는가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B2C · B2B · 공공 3대 시장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B2C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여행 앱의 "검증 배지"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58368" y="30632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836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추천 일정 옆에 "PASS · 87점" 배지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58368" y="35204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5836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5156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AI 일정 자동 검수로 차별화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977640"/>
            <a:ext cx="310896" cy="31089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5836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FastAPI 임베딩 — 1 호출 200ms 미만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9184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91840" y="1783080"/>
            <a:ext cx="36576" cy="2834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47472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Pretendard"/>
                <a:ea typeface="Pretendard"/>
                <a:cs typeface="Pretendard"/>
              </a:rPr>
              <a:t>B2B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47472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여행사 코스 운영 도구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93008" y="30632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49300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88620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신규 패키지 출시 전 자동 QA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93008" y="35204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49300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88620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Hard Fail 케이스 사전 필터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493008" y="3977640"/>
            <a:ext cx="310896" cy="310896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349300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88620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Excel 27 컬럼 출력 → 운영팀 검토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26480" y="1783080"/>
            <a:ext cx="269748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126480" y="1783080"/>
            <a:ext cx="36576" cy="2834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309360" y="19202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공공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309360" y="22860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지자체 관광 플랫폼</a:t>
            </a:r>
            <a:endParaRPr lang="en-US" sz="16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327648" y="30632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327648" y="30678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720840" y="30175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"권역별 추천" 페이지 자동 검증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327648" y="35204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327648" y="35250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72084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혼잡도 기반 분산 유도 정책 반영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27648" y="3977640"/>
            <a:ext cx="310896" cy="310896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327648" y="3982212"/>
            <a:ext cx="3108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720840" y="3931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Pretendard"/>
                <a:ea typeface="Pretendard"/>
                <a:cs typeface="Pretendard"/>
              </a:rPr>
              <a:t>관광데이터랩 통계와 연동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21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07 · 로드맵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확장 로드맵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현재 PoC → 정식 출시까지 4 단계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57200" y="46177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운영시간 데이터  →  TourAPI detailIntro2 의 usetime 필드 (예: "09:00~18:00(입장마감 17:00)")  ·  일일 10K 호출 한도, 50K POI는 약 5일 분할 수집.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22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51560" y="2103120"/>
            <a:ext cx="7589520" cy="0"/>
          </a:xfrm>
          <a:prstGeom prst="line">
            <a:avLst/>
          </a:prstGeom>
          <a:ln w="1270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810512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44752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Now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480206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114446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Q3 '26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225796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860036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Q4 '26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502652" y="2029967"/>
            <a:ext cx="0" cy="146305"/>
          </a:xfrm>
          <a:prstGeom prst="line">
            <a:avLst/>
          </a:prstGeom>
          <a:ln w="762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36892" y="1828799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 i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2027 H1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53312" y="2194560"/>
            <a:ext cx="9144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 i="0">
                <a:solidFill>
                  <a:srgbClr val="16A34A"/>
                </a:solidFill>
                <a:latin typeface="Pretendard"/>
                <a:ea typeface="Pretendard"/>
                <a:cs typeface="Pretendard"/>
              </a:rPr>
              <a:t>▼ 현재</a:t>
            </a:r>
          </a:p>
        </p:txBody>
      </p:sp>
      <p:sp>
        <p:nvSpPr>
          <p:cNvPr id="44" name="Oval 43"/>
          <p:cNvSpPr/>
          <p:nvPr/>
        </p:nvSpPr>
        <p:spPr>
          <a:xfrm>
            <a:off x="612648" y="2542032"/>
            <a:ext cx="237744" cy="23774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256946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1560" y="2551176"/>
            <a:ext cx="1366113" cy="25603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43000" y="2569464"/>
            <a:ext cx="1183233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PoC 완성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2825496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VRPTW + 4 Scoring + Claude · 70 일정 검증 · 96% 매칭</a:t>
            </a:r>
          </a:p>
        </p:txBody>
      </p:sp>
      <p:sp>
        <p:nvSpPr>
          <p:cNvPr id="49" name="Oval 48"/>
          <p:cNvSpPr/>
          <p:nvPr/>
        </p:nvSpPr>
        <p:spPr>
          <a:xfrm>
            <a:off x="612648" y="3044952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057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307238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10579D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569464" y="3054096"/>
            <a:ext cx="1897379" cy="256032"/>
          </a:xfrm>
          <a:prstGeom prst="roundRect">
            <a:avLst>
              <a:gd name="adj" fmla="val 50000"/>
            </a:avLst>
          </a:prstGeom>
          <a:solidFill>
            <a:srgbClr val="1057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660904" y="3072384"/>
            <a:ext cx="1714499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운영시간 풀 통합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569464" y="3328415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TourAPI detailIntro2 50K POI 일괄 + 정규식 파싱 + 신뢰도 라벨링</a:t>
            </a:r>
          </a:p>
        </p:txBody>
      </p:sp>
      <p:sp>
        <p:nvSpPr>
          <p:cNvPr id="54" name="Oval 53"/>
          <p:cNvSpPr/>
          <p:nvPr/>
        </p:nvSpPr>
        <p:spPr>
          <a:xfrm>
            <a:off x="612648" y="3547872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E76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3575303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E7690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66844" y="3557016"/>
            <a:ext cx="1897380" cy="256032"/>
          </a:xfrm>
          <a:prstGeom prst="roundRect">
            <a:avLst>
              <a:gd name="adj" fmla="val 50000"/>
            </a:avLst>
          </a:prstGeom>
          <a:solidFill>
            <a:srgbClr val="0E76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558283" y="3575304"/>
            <a:ext cx="171450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FastAPI 정식 + Naver 폴백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66844" y="3831336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REST 5종 · Naver 검색 폴백 · 카페·식당 매칭률 99% 목표</a:t>
            </a:r>
          </a:p>
        </p:txBody>
      </p:sp>
      <p:sp>
        <p:nvSpPr>
          <p:cNvPr id="59" name="Oval 58"/>
          <p:cNvSpPr/>
          <p:nvPr/>
        </p:nvSpPr>
        <p:spPr>
          <a:xfrm>
            <a:off x="612648" y="4050792"/>
            <a:ext cx="237744" cy="237744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078224"/>
            <a:ext cx="274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4224" y="4059936"/>
            <a:ext cx="2276856" cy="256032"/>
          </a:xfrm>
          <a:prstGeom prst="roundRect">
            <a:avLst>
              <a:gd name="adj" fmla="val 50000"/>
            </a:avLst>
          </a:prstGeom>
          <a:solidFill>
            <a:srgbClr val="2E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455664" y="4078224"/>
            <a:ext cx="209397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Multi-modal 확장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64224" y="4334256"/>
            <a:ext cx="2596896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50" b="0" i="0">
                <a:solidFill>
                  <a:srgbClr val="2E3338"/>
                </a:solidFill>
                <a:latin typeface="Pretendard"/>
                <a:ea typeface="Pretendard"/>
                <a:cs typeface="Pretendard"/>
              </a:rPr>
              <a:t>지하철·버스 환승 시간 통합 · 사진 메타로 체류시간 자동 추정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36576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4360" y="3840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SECTION 08 · 한계 · 강점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정직한 한계 + 차별화된 강점</a:t>
            </a:r>
            <a:endParaRPr lang="en-US" sz="2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12435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Limitations &amp; Strengths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114800" cy="2834640"/>
          </a:xfrm>
          <a:prstGeom prst="rect">
            <a:avLst/>
          </a:prstGeom>
          <a:solidFill>
            <a:srgbClr val="F8FAFC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36576" cy="2834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Pretendard"/>
                <a:ea typeface="Pretendard"/>
                <a:cs typeface="Pretendard"/>
              </a:rPr>
              <a:t>현재의 한계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카페·로컬 식당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TourAPI 미등록 케이스 4% 매칭 실패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운영시간 일괄 적재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현재는 표본만, 50K 전수 수집은 로드맵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3741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LLM 비용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6027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테마 정합성 호출당 ~$0.0003, 캐싱으로 완화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9410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Pretendard"/>
                <a:ea typeface="Pretendard"/>
                <a:cs typeface="Pretendard"/>
              </a:rPr>
              <a:t>서울 외 실시간 혼잡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API 미제공 → 계절성 폴백 의존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111827"/>
          </a:solidFill>
          <a:ln w="9525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4632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차별화된 강점</a:t>
            </a:r>
            <a:endParaRPr lang="en-US" sz="1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46320" y="22128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2128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 레이어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166360" y="24140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기존 추천 서비스가 비워둔 시장 공백을 정조준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46320" y="2670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66360" y="2670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Hybrid 결합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6360" y="28712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Rule(VRPTW) + Score(4종) + LLM(설명) 단일 파이프라인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46320" y="31272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166360" y="31272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 가능성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66360" y="33284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모든 판정이 fact·rule·suggestion 으로 추적 가능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46320" y="3584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166360" y="3584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공공 데이터 우선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166360" y="37856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TourAPI · Kakao · 서울 도시데이터 + 관광데이터랩 통계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46320" y="40416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✓</a:t>
            </a:r>
            <a:endParaRPr lang="en-US" sz="13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0" y="4041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실측 매칭률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66360" y="424281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70 일정 322 장소 96% 매칭 — 운영 가능 수준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Pretendard"/>
                <a:ea typeface="Pretendard"/>
                <a:cs typeface="Pretendard"/>
              </a:rPr>
              <a:t>관광 일정 QA 엔진  ·  Explainable Travel Plan Validator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76656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23 / 24</a:t>
            </a:r>
            <a:endParaRPr lang="en-US" sz="9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36576" cy="3291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Text 1"/>
          <p:cNvSpPr/>
          <p:nvPr/>
        </p:nvSpPr>
        <p:spPr>
          <a:xfrm>
            <a:off x="777240" y="64008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References &amp; Acknowledgements</a:t>
            </a:r>
            <a:endParaRPr lang="en-US" sz="11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References</a:t>
            </a:r>
            <a:endParaRPr lang="en-US" sz="32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1.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18745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관광데이터랩 — 2025년 국민여행조사 3·4분기 결과(잠정치)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0080" y="21671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2.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1671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빅데이터와 함께하는 똑똑한 컨설팅 종합보고서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24597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3.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관광자원개발 및 관광투자 동향조사 분석 최종보고서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75234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4.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27523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2025 우수웰니스관광지 만족도 및 실태조사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05840" y="304495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관광컨설팅팀 — Data&amp;Tourism 43호: 소셜 데이터 기반 방한 주요국 한국 여행 분석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6.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05840" y="3337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한국관광공사 — 관광 통계월보 (202602)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6301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7.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05840" y="363016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Solomon, M.M. (1987). Algorithms for the Vehicle Routing and Scheduling Problems with Time Window Constraints. Operations Research, 35(2): 254–265.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392277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8.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05840" y="3922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TourAPI v2 (KorService2) · Kakao Mobility API · 서울특별시 실시간 도시데이터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" y="421538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Pretendard"/>
                <a:ea typeface="Pretendard"/>
                <a:cs typeface="Pretendard"/>
              </a:rPr>
              <a:t>9.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05840" y="42153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0F2FE"/>
                </a:solidFill>
                <a:latin typeface="Pretendard"/>
                <a:ea typeface="Pretendard"/>
                <a:cs typeface="Pretendard"/>
              </a:rPr>
              <a:t>Anthropic Claude Sonnet 4.6 · Google OR-Tools (constraint_solver)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Thank you.</a:t>
            </a:r>
            <a:endParaRPr lang="en-US" sz="18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029200" y="4617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이건상  ·  2026.05.02</a:t>
            </a:r>
            <a:endParaRPr lang="en-US" sz="1000" dirty="0"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35240" y="4777740"/>
            <a:ext cx="118872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i="1">
                <a:solidFill>
                  <a:srgbClr val="9CA3AF"/>
                </a:solidFill>
                <a:latin typeface="Pretendard"/>
                <a:ea typeface="Pretendard"/>
                <a:cs typeface="Pretendard"/>
              </a:rPr>
              <a:t>[ Brandlogy logo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 panose="020F0302020204030204"/>
        <a:ea typeface="Pretendard"/>
        <a:cs typeface="Pretendard"/>
      </a:majorFont>
      <a:minorFont>
        <a:latin typeface="Pretendard" panose="020F0502020204030204"/>
        <a:ea typeface="Pretendard"/>
        <a:cs typeface="Pretendard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3620</Words>
  <Application>Microsoft Office PowerPoint</Application>
  <PresentationFormat>화면 슬라이드 쇼(16:9)</PresentationFormat>
  <Paragraphs>789</Paragraphs>
  <Slides>25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관광 일정 QA 엔진 — Explainable Travel Plan Validator</dc:title>
  <dc:subject>PptxGenJS Presentation</dc:subject>
  <dc:creator>이건상</dc:creator>
  <cp:lastModifiedBy>Dongkyu Kim</cp:lastModifiedBy>
  <cp:revision>13</cp:revision>
  <dcterms:created xsi:type="dcterms:W3CDTF">2026-05-02T11:25:05Z</dcterms:created>
  <dcterms:modified xsi:type="dcterms:W3CDTF">2026-05-05T05:08:54Z</dcterms:modified>
</cp:coreProperties>
</file>